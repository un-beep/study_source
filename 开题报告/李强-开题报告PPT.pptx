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handoutMasterIdLst>
    <p:handoutMasterId r:id="rId24"/>
  </p:handoutMasterIdLst>
  <p:sldIdLst>
    <p:sldId id="260" r:id="rId2"/>
    <p:sldId id="323" r:id="rId3"/>
    <p:sldId id="587" r:id="rId4"/>
    <p:sldId id="623" r:id="rId5"/>
    <p:sldId id="618" r:id="rId6"/>
    <p:sldId id="589" r:id="rId7"/>
    <p:sldId id="640" r:id="rId8"/>
    <p:sldId id="590" r:id="rId9"/>
    <p:sldId id="594" r:id="rId10"/>
    <p:sldId id="641" r:id="rId11"/>
    <p:sldId id="632" r:id="rId12"/>
    <p:sldId id="634" r:id="rId13"/>
    <p:sldId id="591" r:id="rId14"/>
    <p:sldId id="601" r:id="rId15"/>
    <p:sldId id="635" r:id="rId16"/>
    <p:sldId id="626" r:id="rId17"/>
    <p:sldId id="627" r:id="rId18"/>
    <p:sldId id="630" r:id="rId19"/>
    <p:sldId id="628" r:id="rId20"/>
    <p:sldId id="629" r:id="rId21"/>
    <p:sldId id="261" r:id="rId22"/>
  </p:sldIdLst>
  <p:sldSz cx="9144000" cy="5143500" type="screen16x9"/>
  <p:notesSz cx="6858000" cy="9144000"/>
  <p:custDataLst>
    <p:tags r:id="rId25"/>
  </p:custDataLst>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16"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龚 加兴"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FF0000"/>
    <a:srgbClr val="990033"/>
    <a:srgbClr val="33CCFF"/>
    <a:srgbClr val="17375E"/>
    <a:srgbClr val="219898"/>
    <a:srgbClr val="383E60"/>
    <a:srgbClr val="488CD7"/>
    <a:srgbClr val="F3F3F3"/>
    <a:srgbClr val="35B4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416" autoAdjust="0"/>
    <p:restoredTop sz="82330" autoAdjust="0"/>
  </p:normalViewPr>
  <p:slideViewPr>
    <p:cSldViewPr snapToGrid="0" showGuides="1">
      <p:cViewPr varScale="1">
        <p:scale>
          <a:sx n="172" d="100"/>
          <a:sy n="172" d="100"/>
        </p:scale>
        <p:origin x="1356" y="144"/>
      </p:cViewPr>
      <p:guideLst>
        <p:guide orient="horz" pos="1616"/>
        <p:guide pos="288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ADB96DBE-A381-4F65-B642-112305EE40DD}" type="datetimeFigureOut">
              <a:rPr lang="zh-CN" altLang="en-US"/>
              <a:t>2025/12/6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fld id="{2FF7ABEA-FC66-4186-9800-A282C7653D5A}"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093A102F-2937-46DE-B51B-1C601736DE3D}" type="datetimeFigureOut">
              <a:rPr lang="zh-CN" altLang="en-US"/>
              <a:t>2025/12/6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fld id="{20447A92-6FB1-4B66-BD0B-3792A4A6B2F5}"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a:p>
        </p:txBody>
      </p:sp>
      <p:sp>
        <p:nvSpPr>
          <p:cNvPr id="1536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44AD6A95-26D3-42ED-A1DF-C4211D0EF618}" type="slidenum">
              <a:rPr lang="zh-CN" altLang="en-US"/>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2800"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4</a:t>
            </a:fld>
            <a:endParaRPr lang="zh-CN" altLang="en-US"/>
          </a:p>
        </p:txBody>
      </p:sp>
    </p:spTree>
    <p:extLst>
      <p:ext uri="{BB962C8B-B14F-4D97-AF65-F5344CB8AC3E}">
        <p14:creationId xmlns:p14="http://schemas.microsoft.com/office/powerpoint/2010/main" val="1779451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2800"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6E6E1-FE70-60E8-CAB4-76E8D79EAF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5CE54B-41BA-D907-3C89-38F76A2415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2545D7-D589-46AB-4507-11ECB65B9BEF}"/>
              </a:ext>
            </a:extLst>
          </p:cNvPr>
          <p:cNvSpPr>
            <a:spLocks noGrp="1"/>
          </p:cNvSpPr>
          <p:nvPr>
            <p:ph type="body" idx="1"/>
          </p:nvPr>
        </p:nvSpPr>
        <p:spPr/>
        <p:txBody>
          <a:bodyPr>
            <a:normAutofit/>
          </a:bodyPr>
          <a:lstStyle/>
          <a:p>
            <a:endParaRPr lang="zh-CN" altLang="en-US" sz="2800" dirty="0"/>
          </a:p>
        </p:txBody>
      </p:sp>
      <p:sp>
        <p:nvSpPr>
          <p:cNvPr id="4" name="灯片编号占位符 3">
            <a:extLst>
              <a:ext uri="{FF2B5EF4-FFF2-40B4-BE49-F238E27FC236}">
                <a16:creationId xmlns:a16="http://schemas.microsoft.com/office/drawing/2014/main" id="{F44D9920-1B89-E069-0141-2CBDA87FF1A0}"/>
              </a:ext>
            </a:extLst>
          </p:cNvPr>
          <p:cNvSpPr>
            <a:spLocks noGrp="1"/>
          </p:cNvSpPr>
          <p:nvPr>
            <p:ph type="sldNum" sz="quarter" idx="5"/>
          </p:nvPr>
        </p:nvSpPr>
        <p:spPr/>
        <p:txBody>
          <a:bodyPr/>
          <a:lstStyle/>
          <a:p>
            <a:fld id="{20447A92-6FB1-4B66-BD0B-3792A4A6B2F5}" type="slidenum">
              <a:rPr lang="zh-CN" altLang="en-US" smtClean="0"/>
              <a:t>7</a:t>
            </a:fld>
            <a:endParaRPr lang="zh-CN" altLang="en-US"/>
          </a:p>
        </p:txBody>
      </p:sp>
    </p:spTree>
    <p:extLst>
      <p:ext uri="{BB962C8B-B14F-4D97-AF65-F5344CB8AC3E}">
        <p14:creationId xmlns:p14="http://schemas.microsoft.com/office/powerpoint/2010/main" val="2406847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1287E-3F8D-486C-7C7A-3914BFA623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7016AA-156C-472A-FF49-F1BDF36EC3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99D3A2-F55F-E3B1-44A7-ADAD22DF0C8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CCB95654-4739-0118-CD4B-FDE72CF91FE4}"/>
              </a:ext>
            </a:extLst>
          </p:cNvPr>
          <p:cNvSpPr>
            <a:spLocks noGrp="1"/>
          </p:cNvSpPr>
          <p:nvPr>
            <p:ph type="sldNum" sz="quarter" idx="5"/>
          </p:nvPr>
        </p:nvSpPr>
        <p:spPr/>
        <p:txBody>
          <a:bodyPr/>
          <a:lstStyle/>
          <a:p>
            <a:fld id="{20447A92-6FB1-4B66-BD0B-3792A4A6B2F5}" type="slidenum">
              <a:rPr lang="zh-CN" altLang="en-US" smtClean="0"/>
              <a:t>10</a:t>
            </a:fld>
            <a:endParaRPr lang="zh-CN" altLang="en-US"/>
          </a:p>
        </p:txBody>
      </p:sp>
    </p:spTree>
    <p:extLst>
      <p:ext uri="{BB962C8B-B14F-4D97-AF65-F5344CB8AC3E}">
        <p14:creationId xmlns:p14="http://schemas.microsoft.com/office/powerpoint/2010/main" val="4235554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7E824-BBEA-F3E1-2919-3A5FD55989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70FDFF-7ACE-1DC0-A654-ACBD7D1BEE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79B398-DEC1-0737-E1AC-10725FBA4DA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6698DE40-8B8B-F25B-8C34-50EB5B0C257A}"/>
              </a:ext>
            </a:extLst>
          </p:cNvPr>
          <p:cNvSpPr>
            <a:spLocks noGrp="1"/>
          </p:cNvSpPr>
          <p:nvPr>
            <p:ph type="sldNum" sz="quarter" idx="5"/>
          </p:nvPr>
        </p:nvSpPr>
        <p:spPr/>
        <p:txBody>
          <a:bodyPr/>
          <a:lstStyle/>
          <a:p>
            <a:fld id="{20447A92-6FB1-4B66-BD0B-3792A4A6B2F5}" type="slidenum">
              <a:rPr lang="zh-CN" altLang="en-US" smtClean="0"/>
              <a:t>11</a:t>
            </a:fld>
            <a:endParaRPr lang="zh-CN" altLang="en-US"/>
          </a:p>
        </p:txBody>
      </p:sp>
    </p:spTree>
    <p:extLst>
      <p:ext uri="{BB962C8B-B14F-4D97-AF65-F5344CB8AC3E}">
        <p14:creationId xmlns:p14="http://schemas.microsoft.com/office/powerpoint/2010/main" val="1904367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47F3C-676E-30CE-3334-F9D135C8DC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1E6F9A-B749-6A93-6331-240230CD24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443884-EDC3-12F9-9CCD-2CEB9C0A2B54}"/>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3D9EED1-226C-A470-8997-0F5B2F81FA01}"/>
              </a:ext>
            </a:extLst>
          </p:cNvPr>
          <p:cNvSpPr>
            <a:spLocks noGrp="1"/>
          </p:cNvSpPr>
          <p:nvPr>
            <p:ph type="sldNum" sz="quarter" idx="5"/>
          </p:nvPr>
        </p:nvSpPr>
        <p:spPr/>
        <p:txBody>
          <a:bodyPr/>
          <a:lstStyle/>
          <a:p>
            <a:fld id="{20447A92-6FB1-4B66-BD0B-3792A4A6B2F5}" type="slidenum">
              <a:rPr lang="zh-CN" altLang="en-US" smtClean="0"/>
              <a:t>12</a:t>
            </a:fld>
            <a:endParaRPr lang="zh-CN" altLang="en-US"/>
          </a:p>
        </p:txBody>
      </p:sp>
    </p:spTree>
    <p:extLst>
      <p:ext uri="{BB962C8B-B14F-4D97-AF65-F5344CB8AC3E}">
        <p14:creationId xmlns:p14="http://schemas.microsoft.com/office/powerpoint/2010/main" val="654885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AF59F-B0AB-9FC0-6A9A-592C0D2818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1F2833-A952-963D-3D7A-949C8B53E8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D462E9-2AE3-EDD4-A547-6A203172EDE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467458A-E8E0-2BF5-783C-B1AD462D9F3B}"/>
              </a:ext>
            </a:extLst>
          </p:cNvPr>
          <p:cNvSpPr>
            <a:spLocks noGrp="1"/>
          </p:cNvSpPr>
          <p:nvPr>
            <p:ph type="sldNum" sz="quarter" idx="5"/>
          </p:nvPr>
        </p:nvSpPr>
        <p:spPr/>
        <p:txBody>
          <a:bodyPr/>
          <a:lstStyle/>
          <a:p>
            <a:fld id="{20447A92-6FB1-4B66-BD0B-3792A4A6B2F5}" type="slidenum">
              <a:rPr lang="zh-CN" altLang="en-US" smtClean="0"/>
              <a:t>15</a:t>
            </a:fld>
            <a:endParaRPr lang="zh-CN" altLang="en-US"/>
          </a:p>
        </p:txBody>
      </p:sp>
    </p:spTree>
    <p:extLst>
      <p:ext uri="{BB962C8B-B14F-4D97-AF65-F5344CB8AC3E}">
        <p14:creationId xmlns:p14="http://schemas.microsoft.com/office/powerpoint/2010/main" val="3319654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16</a:t>
            </a:fld>
            <a:endParaRPr lang="zh-CN" altLang="en-US"/>
          </a:p>
        </p:txBody>
      </p:sp>
    </p:spTree>
    <p:extLst>
      <p:ext uri="{BB962C8B-B14F-4D97-AF65-F5344CB8AC3E}">
        <p14:creationId xmlns:p14="http://schemas.microsoft.com/office/powerpoint/2010/main" val="976447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17</a:t>
            </a:fld>
            <a:endParaRPr lang="zh-CN" altLang="en-US"/>
          </a:p>
        </p:txBody>
      </p:sp>
    </p:spTree>
    <p:extLst>
      <p:ext uri="{BB962C8B-B14F-4D97-AF65-F5344CB8AC3E}">
        <p14:creationId xmlns:p14="http://schemas.microsoft.com/office/powerpoint/2010/main" val="4085123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18</a:t>
            </a:fld>
            <a:endParaRPr lang="zh-CN" altLang="en-US"/>
          </a:p>
        </p:txBody>
      </p:sp>
    </p:spTree>
    <p:extLst>
      <p:ext uri="{BB962C8B-B14F-4D97-AF65-F5344CB8AC3E}">
        <p14:creationId xmlns:p14="http://schemas.microsoft.com/office/powerpoint/2010/main" val="2099291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19</a:t>
            </a:fld>
            <a:endParaRPr lang="zh-CN" altLang="en-US"/>
          </a:p>
        </p:txBody>
      </p:sp>
    </p:spTree>
    <p:extLst>
      <p:ext uri="{BB962C8B-B14F-4D97-AF65-F5344CB8AC3E}">
        <p14:creationId xmlns:p14="http://schemas.microsoft.com/office/powerpoint/2010/main" val="3156528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20</a:t>
            </a:fld>
            <a:endParaRPr lang="zh-CN" altLang="en-US"/>
          </a:p>
        </p:txBody>
      </p:sp>
    </p:spTree>
    <p:extLst>
      <p:ext uri="{BB962C8B-B14F-4D97-AF65-F5344CB8AC3E}">
        <p14:creationId xmlns:p14="http://schemas.microsoft.com/office/powerpoint/2010/main" val="1691596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21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p:cNvSpPr/>
          <p:nvPr/>
        </p:nvSpPr>
        <p:spPr>
          <a:xfrm>
            <a:off x="0" y="1643063"/>
            <a:ext cx="9144000" cy="236884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3" name="Picture 2"/>
          <p:cNvPicPr>
            <a:picLocks noChangeAspect="1" noChangeArrowheads="1"/>
          </p:cNvPicPr>
          <p:nvPr userDrawn="1"/>
        </p:nvPicPr>
        <p:blipFill>
          <a:blip r:embed="rId2" cstate="print">
            <a:clrChange>
              <a:clrFrom>
                <a:srgbClr val="D3D2D2"/>
              </a:clrFrom>
              <a:clrTo>
                <a:srgbClr val="D3D2D2">
                  <a:alpha val="0"/>
                </a:srgbClr>
              </a:clrTo>
            </a:clrChange>
            <a:extLst>
              <a:ext uri="{28A0092B-C50C-407E-A947-70E740481C1C}">
                <a14:useLocalDpi xmlns:a14="http://schemas.microsoft.com/office/drawing/2010/main" val="0"/>
              </a:ext>
            </a:extLst>
          </a:blip>
          <a:srcRect/>
          <a:stretch>
            <a:fillRect/>
          </a:stretch>
        </p:blipFill>
        <p:spPr bwMode="auto">
          <a:xfrm>
            <a:off x="142875" y="100013"/>
            <a:ext cx="64293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noChangeArrowheads="1"/>
          </p:cNvPicPr>
          <p:nvPr userDrawn="1"/>
        </p:nvPicPr>
        <p:blipFill>
          <a:blip r:embed="rId3">
            <a:clrChange>
              <a:clrFrom>
                <a:srgbClr val="D3D2D2"/>
              </a:clrFrom>
              <a:clrTo>
                <a:srgbClr val="D3D2D2">
                  <a:alpha val="0"/>
                </a:srgbClr>
              </a:clrTo>
            </a:clrChange>
            <a:extLst>
              <a:ext uri="{28A0092B-C50C-407E-A947-70E740481C1C}">
                <a14:useLocalDpi xmlns:a14="http://schemas.microsoft.com/office/drawing/2010/main" val="0"/>
              </a:ext>
            </a:extLst>
          </a:blip>
          <a:srcRect/>
          <a:stretch>
            <a:fillRect/>
          </a:stretch>
        </p:blipFill>
        <p:spPr bwMode="auto">
          <a:xfrm>
            <a:off x="7715250" y="4643438"/>
            <a:ext cx="12779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6834188" y="1285875"/>
            <a:ext cx="2170112" cy="36988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zh-CN" altLang="en-US">
                <a:solidFill>
                  <a:srgbClr val="7F7F7F"/>
                </a:solidFill>
                <a:latin typeface="微软雅黑" panose="020B0503020204020204" pitchFamily="34" charset="-122"/>
                <a:ea typeface="微软雅黑" panose="020B0503020204020204" pitchFamily="34" charset="-122"/>
              </a:rPr>
              <a:t>明德行远  交通天下</a:t>
            </a: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 name="图片 2" descr="543183003.jpg"/>
          <p:cNvPicPr>
            <a:picLocks noChangeAspect="1" noChangeArrowheads="1"/>
          </p:cNvPicPr>
          <p:nvPr userDrawn="1"/>
        </p:nvPicPr>
        <p:blipFill>
          <a:blip r:embed="rId2">
            <a:extLst>
              <a:ext uri="{28A0092B-C50C-407E-A947-70E740481C1C}">
                <a14:useLocalDpi xmlns:a14="http://schemas.microsoft.com/office/drawing/2010/main" val="0"/>
              </a:ext>
            </a:extLst>
          </a:blip>
          <a:srcRect l="27876" r="15463" b="8333"/>
          <a:stretch>
            <a:fillRect/>
          </a:stretch>
        </p:blipFill>
        <p:spPr bwMode="auto">
          <a:xfrm>
            <a:off x="0" y="0"/>
            <a:ext cx="269875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0" y="0"/>
            <a:ext cx="2722563" cy="5143500"/>
          </a:xfrm>
          <a:prstGeom prst="rect">
            <a:avLst/>
          </a:prstGeom>
          <a:solidFill>
            <a:schemeClr val="tx2">
              <a:lumMod val="75000"/>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a:spLocks noChangeArrowheads="1"/>
          </p:cNvSpPr>
          <p:nvPr/>
        </p:nvSpPr>
        <p:spPr bwMode="auto">
          <a:xfrm>
            <a:off x="323850" y="411163"/>
            <a:ext cx="2357438" cy="639762"/>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en-US" altLang="zh-CN" sz="3600">
                <a:solidFill>
                  <a:schemeClr val="bg1"/>
                </a:solidFill>
                <a:latin typeface="Agency FB" panose="020B0503020202020204" pitchFamily="34" charset="0"/>
                <a:ea typeface="Adobe 宋体 Std L" panose="02020300000000000000" pitchFamily="18" charset="-122"/>
              </a:rPr>
              <a:t>Contents</a:t>
            </a:r>
            <a:endParaRPr lang="zh-CN" altLang="en-US" sz="5400">
              <a:solidFill>
                <a:schemeClr val="bg1"/>
              </a:solidFill>
              <a:latin typeface="微软雅黑" panose="020B0503020204020204" pitchFamily="34" charset="-122"/>
              <a:ea typeface="微软雅黑" panose="020B0503020204020204" pitchFamily="34" charset="-122"/>
            </a:endParaRPr>
          </a:p>
        </p:txBody>
      </p:sp>
      <p:pic>
        <p:nvPicPr>
          <p:cNvPr id="5" name="Picture 2"/>
          <p:cNvPicPr>
            <a:picLocks noChangeAspect="1" noChangeArrowheads="1"/>
          </p:cNvPicPr>
          <p:nvPr userDrawn="1"/>
        </p:nvPicPr>
        <p:blipFill>
          <a:blip r:embed="rId3">
            <a:clrChange>
              <a:clrFrom>
                <a:srgbClr val="D3D2D2"/>
              </a:clrFrom>
              <a:clrTo>
                <a:srgbClr val="D3D2D2">
                  <a:alpha val="0"/>
                </a:srgbClr>
              </a:clrTo>
            </a:clrChange>
            <a:extLst>
              <a:ext uri="{28A0092B-C50C-407E-A947-70E740481C1C}">
                <a14:useLocalDpi xmlns:a14="http://schemas.microsoft.com/office/drawing/2010/main" val="0"/>
              </a:ext>
            </a:extLst>
          </a:blip>
          <a:srcRect/>
          <a:stretch>
            <a:fillRect/>
          </a:stretch>
        </p:blipFill>
        <p:spPr bwMode="auto">
          <a:xfrm>
            <a:off x="7642225" y="4714875"/>
            <a:ext cx="15017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2" name="图片 2" descr="543183003.jpg"/>
          <p:cNvPicPr>
            <a:picLocks noChangeAspect="1" noChangeArrowheads="1"/>
          </p:cNvPicPr>
          <p:nvPr userDrawn="1"/>
        </p:nvPicPr>
        <p:blipFill>
          <a:blip r:embed="rId2">
            <a:extLst>
              <a:ext uri="{28A0092B-C50C-407E-A947-70E740481C1C}">
                <a14:useLocalDpi xmlns:a14="http://schemas.microsoft.com/office/drawing/2010/main" val="0"/>
              </a:ext>
            </a:extLst>
          </a:blip>
          <a:srcRect l="27876" r="15463" b="8333"/>
          <a:stretch>
            <a:fillRect/>
          </a:stretch>
        </p:blipFill>
        <p:spPr bwMode="auto">
          <a:xfrm>
            <a:off x="0" y="0"/>
            <a:ext cx="435768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0" y="0"/>
            <a:ext cx="4357688" cy="5143500"/>
          </a:xfrm>
          <a:prstGeom prst="rect">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4" name="Picture 2"/>
          <p:cNvPicPr>
            <a:picLocks noChangeAspect="1" noChangeArrowheads="1"/>
          </p:cNvPicPr>
          <p:nvPr userDrawn="1"/>
        </p:nvPicPr>
        <p:blipFill>
          <a:blip r:embed="rId3">
            <a:clrChange>
              <a:clrFrom>
                <a:srgbClr val="D3D2D2"/>
              </a:clrFrom>
              <a:clrTo>
                <a:srgbClr val="D3D2D2">
                  <a:alpha val="0"/>
                </a:srgbClr>
              </a:clrTo>
            </a:clrChange>
            <a:grayscl/>
            <a:extLst>
              <a:ext uri="{28A0092B-C50C-407E-A947-70E740481C1C}">
                <a14:useLocalDpi xmlns:a14="http://schemas.microsoft.com/office/drawing/2010/main" val="0"/>
              </a:ext>
            </a:extLst>
          </a:blip>
          <a:srcRect/>
          <a:stretch>
            <a:fillRect/>
          </a:stretch>
        </p:blipFill>
        <p:spPr bwMode="auto">
          <a:xfrm>
            <a:off x="7642225" y="4714875"/>
            <a:ext cx="15017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矩形 1"/>
          <p:cNvSpPr/>
          <p:nvPr/>
        </p:nvSpPr>
        <p:spPr>
          <a:xfrm>
            <a:off x="214313" y="142875"/>
            <a:ext cx="428625" cy="428625"/>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509588" y="438150"/>
            <a:ext cx="276225" cy="276225"/>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流程图: 过程 3"/>
          <p:cNvSpPr/>
          <p:nvPr/>
        </p:nvSpPr>
        <p:spPr>
          <a:xfrm>
            <a:off x="8286750" y="369888"/>
            <a:ext cx="857250" cy="428625"/>
          </a:xfrm>
          <a:prstGeom prst="flowChartProcess">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6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8072438" y="369888"/>
            <a:ext cx="142875" cy="42862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6" name="Picture 2"/>
          <p:cNvPicPr>
            <a:picLocks noChangeAspect="1" noChangeArrowheads="1"/>
          </p:cNvPicPr>
          <p:nvPr userDrawn="1"/>
        </p:nvPicPr>
        <p:blipFill>
          <a:blip r:embed="rId2">
            <a:clrChange>
              <a:clrFrom>
                <a:srgbClr val="D3D2D2"/>
              </a:clrFrom>
              <a:clrTo>
                <a:srgbClr val="D3D2D2">
                  <a:alpha val="0"/>
                </a:srgbClr>
              </a:clrTo>
            </a:clrChange>
            <a:extLst>
              <a:ext uri="{28A0092B-C50C-407E-A947-70E740481C1C}">
                <a14:useLocalDpi xmlns:a14="http://schemas.microsoft.com/office/drawing/2010/main" val="0"/>
              </a:ext>
            </a:extLst>
          </a:blip>
          <a:srcRect/>
          <a:stretch>
            <a:fillRect/>
          </a:stretch>
        </p:blipFill>
        <p:spPr bwMode="auto">
          <a:xfrm>
            <a:off x="7215188" y="4430713"/>
            <a:ext cx="17526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连接符 8"/>
          <p:cNvCxnSpPr>
            <a:cxnSpLocks noChangeShapeType="1"/>
          </p:cNvCxnSpPr>
          <p:nvPr/>
        </p:nvCxnSpPr>
        <p:spPr bwMode="auto">
          <a:xfrm>
            <a:off x="0" y="4929188"/>
            <a:ext cx="7143750" cy="1587"/>
          </a:xfrm>
          <a:prstGeom prst="line">
            <a:avLst/>
          </a:prstGeom>
          <a:noFill/>
          <a:ln w="15875">
            <a:solidFill>
              <a:srgbClr val="808080"/>
            </a:solidFill>
            <a:round/>
          </a:ln>
          <a:extLst>
            <a:ext uri="{909E8E84-426E-40DD-AFC4-6F175D3DCCD1}">
              <a14:hiddenFill xmlns:a14="http://schemas.microsoft.com/office/drawing/2010/main">
                <a:noFill/>
              </a14:hiddenFill>
            </a:ext>
          </a:extLst>
        </p:spPr>
      </p:cxnSp>
      <p:cxnSp>
        <p:nvCxnSpPr>
          <p:cNvPr id="8" name="直接连接符 9"/>
          <p:cNvCxnSpPr>
            <a:cxnSpLocks noChangeShapeType="1"/>
          </p:cNvCxnSpPr>
          <p:nvPr/>
        </p:nvCxnSpPr>
        <p:spPr bwMode="auto">
          <a:xfrm rot="5400000" flipH="1" flipV="1">
            <a:off x="6930231" y="4714082"/>
            <a:ext cx="428625" cy="1588"/>
          </a:xfrm>
          <a:prstGeom prst="line">
            <a:avLst/>
          </a:prstGeom>
          <a:noFill/>
          <a:ln w="73025">
            <a:solidFill>
              <a:srgbClr val="A6A6A6"/>
            </a:solidFill>
            <a:round/>
          </a:ln>
          <a:extLst>
            <a:ext uri="{909E8E84-426E-40DD-AFC4-6F175D3DCCD1}">
              <a14:hiddenFill xmlns:a14="http://schemas.microsoft.com/office/drawing/2010/main">
                <a:noFill/>
              </a14:hiddenFill>
            </a:ext>
          </a:extLst>
        </p:spPr>
      </p:cxnSp>
      <p:cxnSp>
        <p:nvCxnSpPr>
          <p:cNvPr id="9" name="直接连接符 10"/>
          <p:cNvCxnSpPr>
            <a:cxnSpLocks noChangeShapeType="1"/>
          </p:cNvCxnSpPr>
          <p:nvPr userDrawn="1"/>
        </p:nvCxnSpPr>
        <p:spPr bwMode="auto">
          <a:xfrm rot="5400000" flipH="1" flipV="1">
            <a:off x="6857207" y="4712494"/>
            <a:ext cx="285750" cy="1587"/>
          </a:xfrm>
          <a:prstGeom prst="line">
            <a:avLst/>
          </a:prstGeom>
          <a:noFill/>
          <a:ln w="73025">
            <a:solidFill>
              <a:srgbClr val="10ADDF"/>
            </a:solidFill>
            <a:round/>
          </a:ln>
          <a:extLst>
            <a:ext uri="{909E8E84-426E-40DD-AFC4-6F175D3DCCD1}">
              <a14:hiddenFill xmlns:a14="http://schemas.microsoft.com/office/drawing/2010/main">
                <a:noFill/>
              </a14:hiddenFill>
            </a:ext>
          </a:extLst>
        </p:spPr>
      </p:cxn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图片 2" descr="01300000025823123608807852718.jpg"/>
          <p:cNvPicPr>
            <a:picLocks noChangeAspect="1" noChangeArrowheads="1"/>
          </p:cNvPicPr>
          <p:nvPr userDrawn="1"/>
        </p:nvPicPr>
        <p:blipFill>
          <a:blip r:embed="rId2">
            <a:extLst>
              <a:ext uri="{28A0092B-C50C-407E-A947-70E740481C1C}">
                <a14:useLocalDpi xmlns:a14="http://schemas.microsoft.com/office/drawing/2010/main" val="0"/>
              </a:ext>
            </a:extLst>
          </a:blip>
          <a:srcRect t="12891" b="29688"/>
          <a:stretch>
            <a:fillRect/>
          </a:stretch>
        </p:blipFill>
        <p:spPr bwMode="auto">
          <a:xfrm>
            <a:off x="0" y="785813"/>
            <a:ext cx="914400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表格 2"/>
          <p:cNvGraphicFramePr>
            <a:graphicFrameLocks noGrp="1"/>
          </p:cNvGraphicFramePr>
          <p:nvPr/>
        </p:nvGraphicFramePr>
        <p:xfrm>
          <a:off x="0" y="785813"/>
          <a:ext cx="9144000" cy="35004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tblGrid>
              <a:tr h="437555">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0"/>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1"/>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bg1">
                        <a:lumMod val="50000"/>
                        <a:alpha val="0"/>
                      </a:schemeClr>
                    </a:solidFill>
                  </a:tcPr>
                </a:tc>
                <a:tc>
                  <a:txBody>
                    <a:bodyPr/>
                    <a:lstStyle/>
                    <a:p>
                      <a:endParaRPr lang="zh-CN" altLang="en-US" sz="1800" dirty="0"/>
                    </a:p>
                  </a:txBody>
                  <a:tcPr>
                    <a:solidFill>
                      <a:schemeClr val="bg1">
                        <a:lumMod val="50000"/>
                        <a:alpha val="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2"/>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bg1">
                        <a:lumMod val="50000"/>
                      </a:schemeClr>
                    </a:solidFill>
                  </a:tcPr>
                </a:tc>
                <a:tc>
                  <a:txBody>
                    <a:bodyPr/>
                    <a:lstStyle/>
                    <a:p>
                      <a:endParaRPr lang="zh-CN" altLang="en-US" sz="1800" dirty="0"/>
                    </a:p>
                  </a:txBody>
                  <a:tcPr>
                    <a:solidFill>
                      <a:schemeClr val="bg1">
                        <a:lumMod val="50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3"/>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rowSpan="3" gridSpan="4">
                  <a:txBody>
                    <a:bodyPr/>
                    <a:lstStyle/>
                    <a:p>
                      <a:pPr algn="ctr"/>
                      <a:r>
                        <a:rPr lang="en-US" altLang="zh-CN" sz="8000" dirty="0">
                          <a:solidFill>
                            <a:schemeClr val="bg1"/>
                          </a:solidFill>
                          <a:latin typeface="微软雅黑" panose="020B0503020204020204" pitchFamily="34" charset="-122"/>
                          <a:ea typeface="微软雅黑" panose="020B0503020204020204" pitchFamily="34" charset="-122"/>
                        </a:rPr>
                        <a:t>Thanks</a:t>
                      </a:r>
                    </a:p>
                  </a:txBody>
                  <a:tcPr>
                    <a:solidFill>
                      <a:schemeClr val="tx2">
                        <a:lumMod val="75000"/>
                      </a:schemeClr>
                    </a:solidFill>
                  </a:tcPr>
                </a:tc>
                <a:tc rowSpan="3" hMerge="1">
                  <a:txBody>
                    <a:bodyPr/>
                    <a:lstStyle/>
                    <a:p>
                      <a:endParaRPr lang="zh-CN"/>
                    </a:p>
                  </a:txBody>
                  <a:tcPr>
                    <a:solidFill>
                      <a:srgbClr val="35B4D5"/>
                    </a:solidFill>
                  </a:tcPr>
                </a:tc>
                <a:tc rowSpan="3" hMerge="1">
                  <a:txBody>
                    <a:bodyPr/>
                    <a:lstStyle/>
                    <a:p>
                      <a:endParaRPr lang="zh-CN"/>
                    </a:p>
                  </a:txBody>
                  <a:tcPr>
                    <a:solidFill>
                      <a:srgbClr val="35B4D5"/>
                    </a:solidFill>
                  </a:tcPr>
                </a:tc>
                <a:tc rowSpan="3" hMerge="1">
                  <a:txBody>
                    <a:bodyPr/>
                    <a:lstStyle/>
                    <a:p>
                      <a:endParaRPr lang="zh-CN"/>
                    </a:p>
                  </a:txBody>
                  <a:tcPr>
                    <a:solidFill>
                      <a:srgbClr val="35B4D5"/>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extLst>
                  <a:ext uri="{0D108BD9-81ED-4DB2-BD59-A6C34878D82A}">
                    <a16:rowId xmlns:a16="http://schemas.microsoft.com/office/drawing/2014/main" val="10004"/>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gridSpan="4" vMerge="1">
                  <a:txBody>
                    <a:bodyPr/>
                    <a:lstStyle/>
                    <a:p>
                      <a:endParaRPr lang="zh-CN"/>
                    </a:p>
                  </a:txBody>
                  <a:tcPr>
                    <a:solidFill>
                      <a:srgbClr val="35B4D5"/>
                    </a:solidFill>
                  </a:tcPr>
                </a:tc>
                <a:tc hMerge="1" vMerge="1">
                  <a:txBody>
                    <a:bodyPr/>
                    <a:lstStyle/>
                    <a:p>
                      <a:endParaRPr lang="zh-CN"/>
                    </a:p>
                  </a:txBody>
                  <a:tcPr>
                    <a:solidFill>
                      <a:srgbClr val="35B4D5"/>
                    </a:solidFill>
                  </a:tcPr>
                </a:tc>
                <a:tc hMerge="1" vMerge="1">
                  <a:txBody>
                    <a:bodyPr/>
                    <a:lstStyle/>
                    <a:p>
                      <a:endParaRPr lang="zh-CN"/>
                    </a:p>
                  </a:txBody>
                  <a:tcPr>
                    <a:solidFill>
                      <a:srgbClr val="35B4D5"/>
                    </a:solidFill>
                  </a:tcPr>
                </a:tc>
                <a:tc hMerge="1" vMerge="1">
                  <a:txBody>
                    <a:bodyPr/>
                    <a:lstStyle/>
                    <a:p>
                      <a:endParaRPr lang="zh-CN"/>
                    </a:p>
                  </a:txBody>
                  <a:tcPr>
                    <a:solidFill>
                      <a:srgbClr val="35B4D5"/>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5"/>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gridSpan="4" vMerge="1">
                  <a:txBody>
                    <a:bodyPr/>
                    <a:lstStyle/>
                    <a:p>
                      <a:endParaRPr lang="zh-CN"/>
                    </a:p>
                  </a:txBody>
                  <a:tcPr>
                    <a:solidFill>
                      <a:srgbClr val="35B4D5"/>
                    </a:solidFill>
                  </a:tcPr>
                </a:tc>
                <a:tc hMerge="1" vMerge="1">
                  <a:txBody>
                    <a:bodyPr/>
                    <a:lstStyle/>
                    <a:p>
                      <a:endParaRPr lang="zh-CN"/>
                    </a:p>
                  </a:txBody>
                  <a:tcPr>
                    <a:solidFill>
                      <a:srgbClr val="35B4D5"/>
                    </a:solidFill>
                  </a:tcPr>
                </a:tc>
                <a:tc hMerge="1" vMerge="1">
                  <a:txBody>
                    <a:bodyPr/>
                    <a:lstStyle/>
                    <a:p>
                      <a:endParaRPr lang="zh-CN"/>
                    </a:p>
                  </a:txBody>
                  <a:tcPr>
                    <a:solidFill>
                      <a:srgbClr val="35B4D5"/>
                    </a:solidFill>
                  </a:tcPr>
                </a:tc>
                <a:tc hMerge="1" vMerge="1">
                  <a:txBody>
                    <a:bodyPr/>
                    <a:lstStyle/>
                    <a:p>
                      <a:endParaRPr lang="zh-CN"/>
                    </a:p>
                  </a:txBody>
                  <a:tcPr>
                    <a:solidFill>
                      <a:srgbClr val="35B4D5"/>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6"/>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bg1">
                        <a:lumMod val="50000"/>
                      </a:schemeClr>
                    </a:solidFill>
                  </a:tcPr>
                </a:tc>
                <a:tc>
                  <a:txBody>
                    <a:bodyPr/>
                    <a:lstStyle/>
                    <a:p>
                      <a:endParaRPr lang="zh-CN" altLang="en-US" sz="1800" dirty="0"/>
                    </a:p>
                  </a:txBody>
                  <a:tcPr>
                    <a:solidFill>
                      <a:schemeClr val="bg1">
                        <a:lumMod val="50000"/>
                      </a:schemeClr>
                    </a:solidFill>
                  </a:tcPr>
                </a:tc>
                <a:tc>
                  <a:txBody>
                    <a:bodyPr/>
                    <a:lstStyle/>
                    <a:p>
                      <a:endParaRPr lang="zh-CN" altLang="en-US" sz="1800" dirty="0"/>
                    </a:p>
                  </a:txBody>
                  <a:tcPr>
                    <a:solidFill>
                      <a:schemeClr val="accent1">
                        <a:tint val="40000"/>
                        <a:alpha val="14000"/>
                      </a:schemeClr>
                    </a:solidFill>
                  </a:tcPr>
                </a:tc>
                <a:extLst>
                  <a:ext uri="{0D108BD9-81ED-4DB2-BD59-A6C34878D82A}">
                    <a16:rowId xmlns:a16="http://schemas.microsoft.com/office/drawing/2014/main" val="10007"/>
                  </a:ext>
                </a:extLst>
              </a:tr>
            </a:tbl>
          </a:graphicData>
        </a:graphic>
      </p:graphicFrame>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3" name="页脚占位符 2"/>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4" name="灯片编号占位符 3"/>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6B28A832-8EED-42FF-91F6-539511DE87D5}" type="slidenum">
              <a:rPr lang="zh-CN" altLang="en-US"/>
              <a:t>‹#›</a:t>
            </a:fld>
            <a:endParaRPr lang="zh-CN" alt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D432FDE0-38B8-4473-9D94-DC02358E1217}" type="slidenum">
              <a:rPr lang="zh-CN" altLang="en-US"/>
              <a:t>‹#›</a:t>
            </a:fld>
            <a:endParaRPr lang="zh-CN" altLang="en-US"/>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EED334FA-3F59-4255-8F5C-534CC39D51EA}" type="slidenum">
              <a:rPr lang="zh-CN" altLang="en-US"/>
              <a:t>‹#›</a:t>
            </a:fld>
            <a:endParaRPr lang="zh-CN" altLang="en-US"/>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F203148A-F56B-41E0-B459-577FE05D74D1}" type="slidenum">
              <a:rPr lang="zh-CN" altLang="en-US"/>
              <a:t>‹#›</a:t>
            </a:fld>
            <a:endParaRPr lang="zh-CN" altLang="en-US"/>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89B7B3FE-4757-4D39-9101-D0C9D9635B2D}" type="slidenum">
              <a:rPr lang="zh-CN" altLang="en-US"/>
              <a:t>‹#›</a:t>
            </a:fld>
            <a:endParaRPr lang="zh-CN" altLang="en-US"/>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43500"/>
          </a:xfrm>
          <a:prstGeom prst="rect">
            <a:avLst/>
          </a:prstGeom>
          <a:blipFill dpi="0" rotWithShape="1">
            <a:blip r:embed="rId13" cstate="print"/>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hemeOverride" Target="../theme/themeOverride1.xml"/><Relationship Id="rId5" Type="http://schemas.openxmlformats.org/officeDocument/2006/relationships/image" Target="../media/image9.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0.png"/><Relationship Id="rId7" Type="http://schemas.openxmlformats.org/officeDocument/2006/relationships/image" Target="../media/image23.wmf"/><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oleObject" Target="../embeddings/oleObject2.bin"/><Relationship Id="rId5" Type="http://schemas.openxmlformats.org/officeDocument/2006/relationships/image" Target="../media/image22.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3"/>
          <p:cNvSpPr>
            <a:spLocks noChangeArrowheads="1"/>
          </p:cNvSpPr>
          <p:nvPr/>
        </p:nvSpPr>
        <p:spPr bwMode="auto">
          <a:xfrm>
            <a:off x="827584" y="1851670"/>
            <a:ext cx="749318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面向复杂工况的跨座式单轨列车齿轮箱因果域泛化故障诊断研究</a:t>
            </a:r>
          </a:p>
        </p:txBody>
      </p:sp>
      <p:sp>
        <p:nvSpPr>
          <p:cNvPr id="14339" name="文本框 4"/>
          <p:cNvSpPr txBox="1">
            <a:spLocks noChangeArrowheads="1"/>
          </p:cNvSpPr>
          <p:nvPr/>
        </p:nvSpPr>
        <p:spPr bwMode="auto">
          <a:xfrm>
            <a:off x="467544" y="3435846"/>
            <a:ext cx="799306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dist" eaLnBrk="1" hangingPunct="1"/>
            <a:r>
              <a:rPr lang="zh-CN" altLang="en-US" sz="2000"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Times New Roman" panose="02020603050405020304" pitchFamily="18" charset="0"/>
              </a:rPr>
              <a:t>答辩人：李强</a:t>
            </a:r>
            <a:r>
              <a:rPr lang="en-US" altLang="zh-CN" sz="2000" b="1" dirty="0">
                <a:solidFill>
                  <a:schemeClr val="bg1"/>
                </a:solidFill>
                <a:latin typeface="Times New Roman" panose="02020603050405020304" pitchFamily="18" charset="0"/>
              </a:rPr>
              <a:t>          </a:t>
            </a:r>
            <a:r>
              <a:rPr lang="zh-CN" altLang="en-US" sz="2000" b="1" dirty="0">
                <a:solidFill>
                  <a:schemeClr val="bg1"/>
                </a:solidFill>
                <a:latin typeface="Times New Roman" panose="02020603050405020304" pitchFamily="18" charset="0"/>
              </a:rPr>
              <a:t>导师：赵玲教授</a:t>
            </a:r>
            <a:r>
              <a:rPr lang="en-US" altLang="zh-CN" sz="2000" b="1" dirty="0">
                <a:solidFill>
                  <a:schemeClr val="bg1"/>
                </a:solidFill>
                <a:latin typeface="Times New Roman" panose="02020603050405020304" pitchFamily="18" charset="0"/>
              </a:rPr>
              <a:t>          </a:t>
            </a:r>
            <a:r>
              <a:rPr lang="zh-CN" altLang="en-US" sz="2000" b="1" dirty="0">
                <a:solidFill>
                  <a:schemeClr val="bg1"/>
                </a:solidFill>
                <a:latin typeface="Times New Roman" panose="02020603050405020304" pitchFamily="18" charset="0"/>
              </a:rPr>
              <a:t>汇报时间：</a:t>
            </a:r>
            <a:r>
              <a:rPr lang="en-US" altLang="zh-CN" sz="2200" b="1" dirty="0">
                <a:solidFill>
                  <a:schemeClr val="bg1"/>
                </a:solidFill>
                <a:latin typeface="Times New Roman" panose="02020603050405020304" pitchFamily="18" charset="0"/>
                <a:cs typeface="Times New Roman" panose="02020603050405020304" pitchFamily="18" charset="0"/>
              </a:rPr>
              <a:t>2025.12</a:t>
            </a:r>
            <a:endParaRPr lang="en-US" altLang="zh-CN" sz="20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advTm="2475">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070563" y="2160372"/>
            <a:ext cx="1000274" cy="553998"/>
          </a:xfrm>
          <a:prstGeom prst="rect">
            <a:avLst/>
          </a:prstGeom>
          <a:noFill/>
        </p:spPr>
        <p:txBody>
          <a:bodyPr wrap="none" lIns="0" tIns="0" rIns="0" bIns="0" anchor="ctr">
            <a:spAutoFit/>
          </a:bodyPr>
          <a:lstStyle/>
          <a:p>
            <a:pPr algn="just">
              <a:defRPr/>
            </a:pPr>
            <a:r>
              <a:rPr lang="zh-CN" altLang="en-US" sz="3600" b="1" spc="300" dirty="0">
                <a:solidFill>
                  <a:schemeClr val="bg1"/>
                </a:solidFill>
                <a:latin typeface="+mj-lt"/>
                <a:ea typeface="微软雅黑" panose="020B0503020204020204" pitchFamily="34" charset="-122"/>
              </a:rPr>
              <a:t>目录</a:t>
            </a:r>
            <a:endParaRPr lang="zh-CN" altLang="en-US" sz="4800" b="1" spc="300" dirty="0">
              <a:solidFill>
                <a:schemeClr val="bg1"/>
              </a:solidFill>
              <a:latin typeface="+mj-lt"/>
              <a:ea typeface="微软雅黑" panose="020B0503020204020204" pitchFamily="34" charset="-122"/>
            </a:endParaRPr>
          </a:p>
        </p:txBody>
      </p:sp>
      <p:sp>
        <p:nvSpPr>
          <p:cNvPr id="19" name="文本框 18"/>
          <p:cNvSpPr txBox="1"/>
          <p:nvPr/>
        </p:nvSpPr>
        <p:spPr>
          <a:xfrm>
            <a:off x="513615" y="2881848"/>
            <a:ext cx="2114169" cy="553998"/>
          </a:xfrm>
          <a:prstGeom prst="rect">
            <a:avLst/>
          </a:prstGeom>
          <a:noFill/>
        </p:spPr>
        <p:txBody>
          <a:bodyPr wrap="none" lIns="0" tIns="0" rIns="0" bIns="0" anchor="ctr">
            <a:spAutoFit/>
          </a:bodyPr>
          <a:lstStyle/>
          <a:p>
            <a:pPr algn="ctr">
              <a:defRPr/>
            </a:pPr>
            <a:r>
              <a:rPr lang="en-US" altLang="zh-CN" sz="3600" b="1" spc="300" dirty="0">
                <a:solidFill>
                  <a:schemeClr val="bg1"/>
                </a:solidFill>
                <a:latin typeface="+mj-lt"/>
                <a:ea typeface="微软雅黑" panose="020B0503020204020204" pitchFamily="34" charset="-122"/>
              </a:rPr>
              <a:t>CONTENT</a:t>
            </a:r>
            <a:endParaRPr lang="zh-CN" altLang="en-US" sz="3600" b="1" spc="300" dirty="0">
              <a:solidFill>
                <a:schemeClr val="bg1"/>
              </a:solidFill>
              <a:latin typeface="+mj-lt"/>
              <a:ea typeface="微软雅黑" panose="020B0503020204020204" pitchFamily="34" charset="-122"/>
            </a:endParaRPr>
          </a:p>
        </p:txBody>
      </p:sp>
      <p:sp>
        <p:nvSpPr>
          <p:cNvPr id="20" name="ïṥļídè"/>
          <p:cNvSpPr txBox="1"/>
          <p:nvPr/>
        </p:nvSpPr>
        <p:spPr>
          <a:xfrm>
            <a:off x="3202006" y="1995686"/>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国内外研究现状</a:t>
            </a:r>
          </a:p>
        </p:txBody>
      </p:sp>
      <p:sp>
        <p:nvSpPr>
          <p:cNvPr id="12" name="îSľîḍè"/>
          <p:cNvSpPr/>
          <p:nvPr/>
        </p:nvSpPr>
        <p:spPr>
          <a:xfrm>
            <a:off x="2982634" y="1563638"/>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01</a:t>
            </a:r>
          </a:p>
        </p:txBody>
      </p:sp>
      <p:sp>
        <p:nvSpPr>
          <p:cNvPr id="13" name="ïṣlïḋe"/>
          <p:cNvSpPr txBox="1"/>
          <p:nvPr/>
        </p:nvSpPr>
        <p:spPr>
          <a:xfrm>
            <a:off x="3195662" y="1563638"/>
            <a:ext cx="3962400" cy="441325"/>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研究背景及意义</a:t>
            </a:r>
          </a:p>
        </p:txBody>
      </p:sp>
      <p:sp>
        <p:nvSpPr>
          <p:cNvPr id="4" name="ïṥļídè"/>
          <p:cNvSpPr txBox="1"/>
          <p:nvPr/>
        </p:nvSpPr>
        <p:spPr>
          <a:xfrm>
            <a:off x="3195662" y="2427734"/>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主要研究内容</a:t>
            </a:r>
          </a:p>
        </p:txBody>
      </p:sp>
      <p:sp>
        <p:nvSpPr>
          <p:cNvPr id="8" name="îSľîḍè"/>
          <p:cNvSpPr/>
          <p:nvPr/>
        </p:nvSpPr>
        <p:spPr>
          <a:xfrm>
            <a:off x="2979662" y="1997296"/>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02</a:t>
            </a:r>
          </a:p>
        </p:txBody>
      </p:sp>
      <p:sp>
        <p:nvSpPr>
          <p:cNvPr id="9" name="îSľîḍè"/>
          <p:cNvSpPr/>
          <p:nvPr/>
        </p:nvSpPr>
        <p:spPr>
          <a:xfrm>
            <a:off x="2979662" y="2427734"/>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03</a:t>
            </a:r>
          </a:p>
        </p:txBody>
      </p:sp>
      <p:sp>
        <p:nvSpPr>
          <p:cNvPr id="2" name="îSľîḍè">
            <a:extLst>
              <a:ext uri="{FF2B5EF4-FFF2-40B4-BE49-F238E27FC236}">
                <a16:creationId xmlns:a16="http://schemas.microsoft.com/office/drawing/2014/main" id="{97BD0713-7565-8E85-8D4F-EC9A154BDA3D}"/>
              </a:ext>
            </a:extLst>
          </p:cNvPr>
          <p:cNvSpPr/>
          <p:nvPr/>
        </p:nvSpPr>
        <p:spPr>
          <a:xfrm>
            <a:off x="2979662" y="2859782"/>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04</a:t>
            </a:r>
          </a:p>
        </p:txBody>
      </p:sp>
      <p:sp>
        <p:nvSpPr>
          <p:cNvPr id="3" name="ïṥļídè">
            <a:extLst>
              <a:ext uri="{FF2B5EF4-FFF2-40B4-BE49-F238E27FC236}">
                <a16:creationId xmlns:a16="http://schemas.microsoft.com/office/drawing/2014/main" id="{B433CF98-E535-65CF-B908-5DAD66CAA63E}"/>
              </a:ext>
            </a:extLst>
          </p:cNvPr>
          <p:cNvSpPr txBox="1"/>
          <p:nvPr/>
        </p:nvSpPr>
        <p:spPr>
          <a:xfrm>
            <a:off x="3195662" y="2859782"/>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难点及解决方法</a:t>
            </a:r>
          </a:p>
        </p:txBody>
      </p:sp>
      <p:sp>
        <p:nvSpPr>
          <p:cNvPr id="5" name="îSľîḍè">
            <a:extLst>
              <a:ext uri="{FF2B5EF4-FFF2-40B4-BE49-F238E27FC236}">
                <a16:creationId xmlns:a16="http://schemas.microsoft.com/office/drawing/2014/main" id="{2E074024-F6CB-D883-F6F9-618FE9D01DD1}"/>
              </a:ext>
            </a:extLst>
          </p:cNvPr>
          <p:cNvSpPr/>
          <p:nvPr/>
        </p:nvSpPr>
        <p:spPr>
          <a:xfrm>
            <a:off x="2979662" y="3291830"/>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05</a:t>
            </a:r>
          </a:p>
        </p:txBody>
      </p:sp>
      <p:sp>
        <p:nvSpPr>
          <p:cNvPr id="6" name="ïṥļídè">
            <a:extLst>
              <a:ext uri="{FF2B5EF4-FFF2-40B4-BE49-F238E27FC236}">
                <a16:creationId xmlns:a16="http://schemas.microsoft.com/office/drawing/2014/main" id="{713234B1-6308-A1A8-B554-EE3CEB5D028C}"/>
              </a:ext>
            </a:extLst>
          </p:cNvPr>
          <p:cNvSpPr txBox="1"/>
          <p:nvPr/>
        </p:nvSpPr>
        <p:spPr>
          <a:xfrm>
            <a:off x="3195662" y="3291830"/>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创新点</a:t>
            </a:r>
          </a:p>
        </p:txBody>
      </p:sp>
      <p:sp>
        <p:nvSpPr>
          <p:cNvPr id="14" name="îSľîḍè">
            <a:extLst>
              <a:ext uri="{FF2B5EF4-FFF2-40B4-BE49-F238E27FC236}">
                <a16:creationId xmlns:a16="http://schemas.microsoft.com/office/drawing/2014/main" id="{2E074024-F6CB-D883-F6F9-618FE9D01DD1}"/>
              </a:ext>
            </a:extLst>
          </p:cNvPr>
          <p:cNvSpPr/>
          <p:nvPr/>
        </p:nvSpPr>
        <p:spPr>
          <a:xfrm>
            <a:off x="2979662" y="3719289"/>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06</a:t>
            </a:r>
          </a:p>
        </p:txBody>
      </p:sp>
      <p:sp>
        <p:nvSpPr>
          <p:cNvPr id="15" name="ïṥļídè">
            <a:extLst>
              <a:ext uri="{FF2B5EF4-FFF2-40B4-BE49-F238E27FC236}">
                <a16:creationId xmlns:a16="http://schemas.microsoft.com/office/drawing/2014/main" id="{713234B1-6308-A1A8-B554-EE3CEB5D028C}"/>
              </a:ext>
            </a:extLst>
          </p:cNvPr>
          <p:cNvSpPr txBox="1"/>
          <p:nvPr/>
        </p:nvSpPr>
        <p:spPr>
          <a:xfrm>
            <a:off x="3195662" y="3653039"/>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预期成果与进度安排</a:t>
            </a:r>
          </a:p>
        </p:txBody>
      </p:sp>
    </p:spTree>
  </p:cSld>
  <p:clrMapOvr>
    <a:masterClrMapping/>
  </p:clrMapOvr>
  <p:transition advTm="7062">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555776"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01</a:t>
            </a:r>
          </a:p>
        </p:txBody>
      </p:sp>
      <p:sp>
        <p:nvSpPr>
          <p:cNvPr id="13" name="ïṣlïḋe"/>
          <p:cNvSpPr txBox="1"/>
          <p:nvPr/>
        </p:nvSpPr>
        <p:spPr>
          <a:xfrm>
            <a:off x="2987824"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研究背景及意义</a:t>
            </a:r>
          </a:p>
        </p:txBody>
      </p:sp>
    </p:spTree>
  </p:cSld>
  <p:clrMapOvr>
    <a:masterClrMapping/>
  </p:clrMapOvr>
  <p:transition advTm="7062">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文本框 8"/>
          <p:cNvSpPr txBox="1"/>
          <p:nvPr/>
        </p:nvSpPr>
        <p:spPr>
          <a:xfrm>
            <a:off x="971600" y="311258"/>
            <a:ext cx="2904472" cy="369332"/>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研究背景</a:t>
            </a:r>
          </a:p>
        </p:txBody>
      </p:sp>
      <p:sp>
        <p:nvSpPr>
          <p:cNvPr id="6"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graphicFrame>
        <p:nvGraphicFramePr>
          <p:cNvPr id="4" name="表格 3">
            <a:extLst>
              <a:ext uri="{FF2B5EF4-FFF2-40B4-BE49-F238E27FC236}">
                <a16:creationId xmlns:a16="http://schemas.microsoft.com/office/drawing/2014/main" id="{6D9D3E34-7366-7287-FC07-76F5379E46B8}"/>
              </a:ext>
            </a:extLst>
          </p:cNvPr>
          <p:cNvGraphicFramePr>
            <a:graphicFrameLocks noGrp="1"/>
          </p:cNvGraphicFramePr>
          <p:nvPr>
            <p:extLst>
              <p:ext uri="{D42A27DB-BD31-4B8C-83A1-F6EECF244321}">
                <p14:modId xmlns:p14="http://schemas.microsoft.com/office/powerpoint/2010/main" val="646675574"/>
              </p:ext>
            </p:extLst>
          </p:nvPr>
        </p:nvGraphicFramePr>
        <p:xfrm>
          <a:off x="971600" y="792481"/>
          <a:ext cx="6825738" cy="3666630"/>
        </p:xfrm>
        <a:graphic>
          <a:graphicData uri="http://schemas.openxmlformats.org/drawingml/2006/table">
            <a:tbl>
              <a:tblPr firstRow="1" bandRow="1">
                <a:tableStyleId>{5C22544A-7EE6-4342-B048-85BDC9FD1C3A}</a:tableStyleId>
              </a:tblPr>
              <a:tblGrid>
                <a:gridCol w="6825738">
                  <a:extLst>
                    <a:ext uri="{9D8B030D-6E8A-4147-A177-3AD203B41FA5}">
                      <a16:colId xmlns:a16="http://schemas.microsoft.com/office/drawing/2014/main" val="2178000741"/>
                    </a:ext>
                  </a:extLst>
                </a:gridCol>
              </a:tblGrid>
              <a:tr h="1208598">
                <a:tc>
                  <a:txBody>
                    <a:bodyPr/>
                    <a:lstStyle/>
                    <a:p>
                      <a:endParaRPr lang="zh-CN" altLang="en-US" dirty="0"/>
                    </a:p>
                  </a:txBody>
                  <a:tcPr>
                    <a:solidFill>
                      <a:schemeClr val="accent1">
                        <a:lumMod val="75000"/>
                      </a:schemeClr>
                    </a:solidFill>
                  </a:tcPr>
                </a:tc>
                <a:extLst>
                  <a:ext uri="{0D108BD9-81ED-4DB2-BD59-A6C34878D82A}">
                    <a16:rowId xmlns:a16="http://schemas.microsoft.com/office/drawing/2014/main" val="1227440706"/>
                  </a:ext>
                </a:extLst>
              </a:tr>
              <a:tr h="2458032">
                <a:tc>
                  <a:txBody>
                    <a:bodyPr/>
                    <a:lstStyle/>
                    <a:p>
                      <a:endParaRPr lang="zh-CN" altLang="en-US" dirty="0"/>
                    </a:p>
                  </a:txBody>
                  <a:tcPr/>
                </a:tc>
                <a:extLst>
                  <a:ext uri="{0D108BD9-81ED-4DB2-BD59-A6C34878D82A}">
                    <a16:rowId xmlns:a16="http://schemas.microsoft.com/office/drawing/2014/main" val="31623309"/>
                  </a:ext>
                </a:extLst>
              </a:tr>
            </a:tbl>
          </a:graphicData>
        </a:graphic>
      </p:graphicFrame>
      <p:pic>
        <p:nvPicPr>
          <p:cNvPr id="7" name="图片 6">
            <a:extLst>
              <a:ext uri="{FF2B5EF4-FFF2-40B4-BE49-F238E27FC236}">
                <a16:creationId xmlns:a16="http://schemas.microsoft.com/office/drawing/2014/main" id="{885A7DEA-0E4C-7B06-D616-C783960C0E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9098" y="2291158"/>
            <a:ext cx="2943033" cy="1833085"/>
          </a:xfrm>
          <a:prstGeom prst="rect">
            <a:avLst/>
          </a:prstGeom>
        </p:spPr>
      </p:pic>
      <p:sp>
        <p:nvSpPr>
          <p:cNvPr id="12" name="文本框 11">
            <a:extLst>
              <a:ext uri="{FF2B5EF4-FFF2-40B4-BE49-F238E27FC236}">
                <a16:creationId xmlns:a16="http://schemas.microsoft.com/office/drawing/2014/main" id="{3D364743-D5F7-E871-9498-B1CC5C4CF798}"/>
              </a:ext>
            </a:extLst>
          </p:cNvPr>
          <p:cNvSpPr txBox="1"/>
          <p:nvPr/>
        </p:nvSpPr>
        <p:spPr>
          <a:xfrm>
            <a:off x="1130447" y="897171"/>
            <a:ext cx="6508044" cy="954107"/>
          </a:xfrm>
          <a:prstGeom prst="rect">
            <a:avLst/>
          </a:prstGeom>
          <a:noFill/>
        </p:spPr>
        <p:txBody>
          <a:bodyPr wrap="square" rtlCol="0">
            <a:spAutoFit/>
          </a:bodyPr>
          <a:lstStyle/>
          <a:p>
            <a:pPr>
              <a:defRPr/>
            </a:pPr>
            <a:r>
              <a:rPr lang="zh-CN" altLang="en-US" sz="1400" b="1" dirty="0">
                <a:solidFill>
                  <a:schemeClr val="bg1"/>
                </a:solidFill>
                <a:latin typeface="微软雅黑" panose="020B0503020204020204" pitchFamily="34" charset="-122"/>
                <a:ea typeface="微软雅黑" panose="020B0503020204020204" pitchFamily="34" charset="-122"/>
                <a:cs typeface="+mn-ea"/>
              </a:rPr>
              <a:t>跨座式单轨列车是山城立体交通的主力军</a:t>
            </a:r>
            <a:endParaRPr lang="en-US" altLang="zh-CN" sz="1400" b="1" dirty="0">
              <a:solidFill>
                <a:schemeClr val="bg1"/>
              </a:solidFill>
              <a:latin typeface="微软雅黑" panose="020B0503020204020204" pitchFamily="34" charset="-122"/>
              <a:ea typeface="微软雅黑" panose="020B0503020204020204" pitchFamily="34" charset="-122"/>
              <a:cs typeface="+mn-ea"/>
            </a:endParaRPr>
          </a:p>
          <a:p>
            <a:pPr>
              <a:defRPr/>
            </a:pPr>
            <a:r>
              <a:rPr lang="zh-CN" altLang="en-US" sz="1400" b="1" dirty="0">
                <a:solidFill>
                  <a:schemeClr val="bg1"/>
                </a:solidFill>
                <a:latin typeface="微软雅黑" panose="020B0503020204020204" pitchFamily="34" charset="-122"/>
                <a:ea typeface="微软雅黑" panose="020B0503020204020204" pitchFamily="34" charset="-122"/>
                <a:cs typeface="+mn-ea"/>
              </a:rPr>
              <a:t>齿轮箱作为动力传输的“心脏”，其可靠性直接决定运营安全 </a:t>
            </a:r>
            <a:endParaRPr lang="en-US" altLang="zh-CN" sz="1400" b="1" dirty="0">
              <a:solidFill>
                <a:schemeClr val="bg1"/>
              </a:solidFill>
              <a:latin typeface="微软雅黑" panose="020B0503020204020204" pitchFamily="34" charset="-122"/>
              <a:ea typeface="微软雅黑" panose="020B0503020204020204" pitchFamily="34" charset="-122"/>
              <a:cs typeface="+mn-ea"/>
            </a:endParaRPr>
          </a:p>
          <a:p>
            <a:pPr>
              <a:defRPr/>
            </a:pPr>
            <a:r>
              <a:rPr lang="zh-CN" altLang="en-US" sz="1400" b="1" dirty="0">
                <a:solidFill>
                  <a:schemeClr val="bg1"/>
                </a:solidFill>
                <a:latin typeface="微软雅黑" panose="020B0503020204020204" pitchFamily="34" charset="-122"/>
                <a:ea typeface="微软雅黑" panose="020B0503020204020204" pitchFamily="34" charset="-122"/>
                <a:cs typeface="+mn-ea"/>
              </a:rPr>
              <a:t>列车长期运行于大坡度、小半径曲线等复杂地形</a:t>
            </a:r>
            <a:endParaRPr lang="en-US" altLang="zh-CN" sz="1400" b="1" dirty="0">
              <a:solidFill>
                <a:schemeClr val="bg1"/>
              </a:solidFill>
              <a:latin typeface="微软雅黑" panose="020B0503020204020204" pitchFamily="34" charset="-122"/>
              <a:ea typeface="微软雅黑" panose="020B0503020204020204" pitchFamily="34" charset="-122"/>
              <a:cs typeface="+mn-ea"/>
            </a:endParaRPr>
          </a:p>
          <a:p>
            <a:pPr>
              <a:defRPr/>
            </a:pPr>
            <a:r>
              <a:rPr lang="zh-CN" altLang="en-US" sz="1400" b="1" dirty="0">
                <a:solidFill>
                  <a:schemeClr val="bg1"/>
                </a:solidFill>
                <a:latin typeface="微软雅黑" panose="020B0503020204020204" pitchFamily="34" charset="-122"/>
                <a:ea typeface="微软雅黑" panose="020B0503020204020204" pitchFamily="34" charset="-122"/>
                <a:cs typeface="+mn-ea"/>
              </a:rPr>
              <a:t>齿轮箱承受变载重、变转速、强冲击的恶劣工况 </a:t>
            </a:r>
          </a:p>
        </p:txBody>
      </p:sp>
      <p:pic>
        <p:nvPicPr>
          <p:cNvPr id="195" name="图片 194">
            <a:extLst>
              <a:ext uri="{FF2B5EF4-FFF2-40B4-BE49-F238E27FC236}">
                <a16:creationId xmlns:a16="http://schemas.microsoft.com/office/drawing/2014/main" id="{362B8787-6C3D-E052-3756-033983A4C8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21894" y="2291158"/>
            <a:ext cx="2444112" cy="1833084"/>
          </a:xfrm>
          <a:prstGeom prst="rect">
            <a:avLst/>
          </a:prstGeom>
        </p:spPr>
      </p:pic>
    </p:spTree>
    <p:extLst>
      <p:ext uri="{BB962C8B-B14F-4D97-AF65-F5344CB8AC3E}">
        <p14:creationId xmlns:p14="http://schemas.microsoft.com/office/powerpoint/2010/main" val="1166078887"/>
      </p:ext>
    </p:extLst>
  </p:cSld>
  <p:clrMapOvr>
    <a:overrideClrMapping bg1="lt1" tx1="dk1" bg2="lt2" tx2="dk2" accent1="accent1" accent2="accent2" accent3="accent3" accent4="accent4" accent5="accent5" accent6="accent6" hlink="hlink" folHlink="folHlink"/>
  </p:clrMapOvr>
  <p:transition advTm="29843">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DE5282D9-BF1F-F841-52DD-8CEC9FE78FB0}"/>
              </a:ext>
            </a:extLst>
          </p:cNvPr>
          <p:cNvSpPr/>
          <p:nvPr/>
        </p:nvSpPr>
        <p:spPr>
          <a:xfrm>
            <a:off x="185410" y="110405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9" name="文本框 8"/>
          <p:cNvSpPr txBox="1"/>
          <p:nvPr/>
        </p:nvSpPr>
        <p:spPr>
          <a:xfrm>
            <a:off x="971600" y="29586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研究意义</a:t>
            </a:r>
          </a:p>
        </p:txBody>
      </p:sp>
      <p:sp>
        <p:nvSpPr>
          <p:cNvPr id="2" name="任意多边形: 形状 1">
            <a:extLst>
              <a:ext uri="{FF2B5EF4-FFF2-40B4-BE49-F238E27FC236}">
                <a16:creationId xmlns:a16="http://schemas.microsoft.com/office/drawing/2014/main" id="{39E94B80-3FE6-6E6E-3663-8792A3702891}"/>
              </a:ext>
            </a:extLst>
          </p:cNvPr>
          <p:cNvSpPr/>
          <p:nvPr/>
        </p:nvSpPr>
        <p:spPr>
          <a:xfrm>
            <a:off x="185410" y="753290"/>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a:extLst>
              <a:ext uri="{FF2B5EF4-FFF2-40B4-BE49-F238E27FC236}">
                <a16:creationId xmlns:a16="http://schemas.microsoft.com/office/drawing/2014/main" id="{055D4953-F213-658E-14C9-12B7923DCEF2}"/>
              </a:ext>
            </a:extLst>
          </p:cNvPr>
          <p:cNvSpPr txBox="1"/>
          <p:nvPr/>
        </p:nvSpPr>
        <p:spPr>
          <a:xfrm>
            <a:off x="219996" y="160395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增加机械磨损：轻微的振动可能会导致齿轮箱内部部件的微小磨损。虽然这不会立即导致故障，但长期积累的磨损会降低齿轮箱的效率和使用寿命。例如，微小的齿面接触不良可能逐渐增加摩擦，导致齿轮磨损。</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141877DA-9B98-79DD-2EFB-90EACA25EDE7}"/>
              </a:ext>
            </a:extLst>
          </p:cNvPr>
          <p:cNvSpPr txBox="1"/>
          <p:nvPr/>
        </p:nvSpPr>
        <p:spPr>
          <a:xfrm>
            <a:off x="219996" y="110087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低危害</a:t>
            </a:r>
            <a:endParaRPr lang="en-US" altLang="zh-CN" sz="1600"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5" name="图片 14">
            <a:extLst>
              <a:ext uri="{FF2B5EF4-FFF2-40B4-BE49-F238E27FC236}">
                <a16:creationId xmlns:a16="http://schemas.microsoft.com/office/drawing/2014/main" id="{06B21388-440B-2F9C-E16B-2BAACB75B9D3}"/>
              </a:ext>
            </a:extLst>
          </p:cNvPr>
          <p:cNvPicPr>
            <a:picLocks noChangeAspect="1"/>
          </p:cNvPicPr>
          <p:nvPr/>
        </p:nvPicPr>
        <p:blipFill>
          <a:blip r:embed="rId3"/>
          <a:stretch>
            <a:fillRect/>
          </a:stretch>
        </p:blipFill>
        <p:spPr>
          <a:xfrm>
            <a:off x="657800" y="3436643"/>
            <a:ext cx="1422270" cy="1055096"/>
          </a:xfrm>
          <a:prstGeom prst="rect">
            <a:avLst/>
          </a:prstGeom>
        </p:spPr>
      </p:pic>
      <p:sp>
        <p:nvSpPr>
          <p:cNvPr id="16" name="矩形 15">
            <a:extLst>
              <a:ext uri="{FF2B5EF4-FFF2-40B4-BE49-F238E27FC236}">
                <a16:creationId xmlns:a16="http://schemas.microsoft.com/office/drawing/2014/main" id="{DC31A56F-6432-48F0-BD13-4DAC53C59A95}"/>
              </a:ext>
            </a:extLst>
          </p:cNvPr>
          <p:cNvSpPr/>
          <p:nvPr/>
        </p:nvSpPr>
        <p:spPr>
          <a:xfrm>
            <a:off x="3362563" y="110405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7" name="文本框 16">
            <a:extLst>
              <a:ext uri="{FF2B5EF4-FFF2-40B4-BE49-F238E27FC236}">
                <a16:creationId xmlns:a16="http://schemas.microsoft.com/office/drawing/2014/main" id="{F10E1108-D2F7-6CC0-9BC1-A14C9DCEAC56}"/>
              </a:ext>
            </a:extLst>
          </p:cNvPr>
          <p:cNvSpPr txBox="1"/>
          <p:nvPr/>
        </p:nvSpPr>
        <p:spPr>
          <a:xfrm>
            <a:off x="3420966" y="160395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引发噪音和震动：中等程度的振动会导致齿轮箱产生较大的噪音，影响设备的工作环境。例如，振动引起的机械共振可能导致工作场所噪音增大，甚至影响工作人员的健康。长期暴露在噪音过大的环境中会导致疲劳和听力损伤。</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2B3E59B2-33AC-33F2-FBA1-3F2061F2B7E9}"/>
              </a:ext>
            </a:extLst>
          </p:cNvPr>
          <p:cNvSpPr txBox="1"/>
          <p:nvPr/>
        </p:nvSpPr>
        <p:spPr>
          <a:xfrm>
            <a:off x="3420966" y="110087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中危害</a:t>
            </a:r>
            <a:endParaRPr lang="en-US" altLang="zh-CN" sz="16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F85D66C8-A3AB-618C-8F65-68DADFFCDE5E}"/>
              </a:ext>
            </a:extLst>
          </p:cNvPr>
          <p:cNvSpPr/>
          <p:nvPr/>
        </p:nvSpPr>
        <p:spPr>
          <a:xfrm>
            <a:off x="6621936" y="110087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21" name="文本框 20">
            <a:extLst>
              <a:ext uri="{FF2B5EF4-FFF2-40B4-BE49-F238E27FC236}">
                <a16:creationId xmlns:a16="http://schemas.microsoft.com/office/drawing/2014/main" id="{49E86FBF-BA82-1643-B1CE-EF1ABB656F63}"/>
              </a:ext>
            </a:extLst>
          </p:cNvPr>
          <p:cNvSpPr txBox="1"/>
          <p:nvPr/>
        </p:nvSpPr>
        <p:spPr>
          <a:xfrm>
            <a:off x="6656522" y="160077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发生故障与停机：例如，失效的齿轮或轴承可能引发旋转部件飞出，造成操作人员受伤或设备损坏。此外，在严重情况下，设备的停机可能引发更大范围的生产线瘫痪，延误交货期，影响企业声誉和客户满意度。</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96A59C95-BC17-8A6B-900D-AE78BD0992A4}"/>
              </a:ext>
            </a:extLst>
          </p:cNvPr>
          <p:cNvSpPr txBox="1"/>
          <p:nvPr/>
        </p:nvSpPr>
        <p:spPr>
          <a:xfrm>
            <a:off x="6656522" y="109769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高危害</a:t>
            </a:r>
            <a:endPar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5" name="图片 24">
            <a:extLst>
              <a:ext uri="{FF2B5EF4-FFF2-40B4-BE49-F238E27FC236}">
                <a16:creationId xmlns:a16="http://schemas.microsoft.com/office/drawing/2014/main" id="{2E4A7442-6955-017D-B06B-2D827CFCD94E}"/>
              </a:ext>
            </a:extLst>
          </p:cNvPr>
          <p:cNvPicPr>
            <a:picLocks noChangeAspect="1"/>
          </p:cNvPicPr>
          <p:nvPr/>
        </p:nvPicPr>
        <p:blipFill>
          <a:blip r:embed="rId4"/>
          <a:stretch>
            <a:fillRect/>
          </a:stretch>
        </p:blipFill>
        <p:spPr>
          <a:xfrm>
            <a:off x="6903340" y="2767061"/>
            <a:ext cx="1808431" cy="1285751"/>
          </a:xfrm>
          <a:prstGeom prst="rect">
            <a:avLst/>
          </a:prstGeom>
        </p:spPr>
      </p:pic>
      <p:pic>
        <p:nvPicPr>
          <p:cNvPr id="27" name="图片 26">
            <a:extLst>
              <a:ext uri="{FF2B5EF4-FFF2-40B4-BE49-F238E27FC236}">
                <a16:creationId xmlns:a16="http://schemas.microsoft.com/office/drawing/2014/main" id="{80AC95E7-F2AB-8ACB-B62C-FCBA9D86A1D1}"/>
              </a:ext>
            </a:extLst>
          </p:cNvPr>
          <p:cNvPicPr>
            <a:picLocks noChangeAspect="1"/>
          </p:cNvPicPr>
          <p:nvPr/>
        </p:nvPicPr>
        <p:blipFill>
          <a:blip r:embed="rId5"/>
          <a:stretch>
            <a:fillRect/>
          </a:stretch>
        </p:blipFill>
        <p:spPr>
          <a:xfrm>
            <a:off x="854827" y="2353790"/>
            <a:ext cx="1028217" cy="1060195"/>
          </a:xfrm>
          <a:prstGeom prst="rect">
            <a:avLst/>
          </a:prstGeom>
        </p:spPr>
      </p:pic>
      <p:pic>
        <p:nvPicPr>
          <p:cNvPr id="29" name="图片 28">
            <a:extLst>
              <a:ext uri="{FF2B5EF4-FFF2-40B4-BE49-F238E27FC236}">
                <a16:creationId xmlns:a16="http://schemas.microsoft.com/office/drawing/2014/main" id="{31D77FA7-C86E-DFA1-1D24-B6DFFF3DA949}"/>
              </a:ext>
            </a:extLst>
          </p:cNvPr>
          <p:cNvPicPr>
            <a:picLocks noChangeAspect="1"/>
          </p:cNvPicPr>
          <p:nvPr/>
        </p:nvPicPr>
        <p:blipFill>
          <a:blip r:embed="rId6"/>
          <a:stretch>
            <a:fillRect/>
          </a:stretch>
        </p:blipFill>
        <p:spPr>
          <a:xfrm>
            <a:off x="3928826" y="2571750"/>
            <a:ext cx="1286348" cy="1819114"/>
          </a:xfrm>
          <a:prstGeom prst="rect">
            <a:avLst/>
          </a:prstGeom>
        </p:spPr>
      </p:pic>
      <p:sp>
        <p:nvSpPr>
          <p:cNvPr id="30" name="ïṣlïḋe">
            <a:extLst>
              <a:ext uri="{FF2B5EF4-FFF2-40B4-BE49-F238E27FC236}">
                <a16:creationId xmlns:a16="http://schemas.microsoft.com/office/drawing/2014/main" id="{C9FE05D6-021C-DF32-BA5C-0B5D3B290A1A}"/>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advTm="29843">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699792"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02</a:t>
            </a:r>
          </a:p>
        </p:txBody>
      </p:sp>
      <p:sp>
        <p:nvSpPr>
          <p:cNvPr id="13" name="ïṣlïḋe"/>
          <p:cNvSpPr txBox="1"/>
          <p:nvPr/>
        </p:nvSpPr>
        <p:spPr>
          <a:xfrm>
            <a:off x="3131840"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国内外研究现状</a:t>
            </a:r>
          </a:p>
        </p:txBody>
      </p:sp>
    </p:spTree>
  </p:cSld>
  <p:clrMapOvr>
    <a:masterClrMapping/>
  </p:clrMapOvr>
  <p:transition advTm="7062">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431B5-DEAF-FAB0-C4C9-6A5346BBF245}"/>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179E8C8C-E419-FCEF-5FBB-50AF02DAAFBD}"/>
              </a:ext>
            </a:extLst>
          </p:cNvPr>
          <p:cNvSpPr/>
          <p:nvPr/>
        </p:nvSpPr>
        <p:spPr>
          <a:xfrm>
            <a:off x="185410" y="1104053"/>
            <a:ext cx="2371240" cy="341034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9" name="文本框 8">
            <a:extLst>
              <a:ext uri="{FF2B5EF4-FFF2-40B4-BE49-F238E27FC236}">
                <a16:creationId xmlns:a16="http://schemas.microsoft.com/office/drawing/2014/main" id="{F0BF2EC4-1EFE-D9D4-5D30-7E8C0BEF57B7}"/>
              </a:ext>
            </a:extLst>
          </p:cNvPr>
          <p:cNvSpPr txBox="1"/>
          <p:nvPr/>
        </p:nvSpPr>
        <p:spPr>
          <a:xfrm>
            <a:off x="971600" y="29586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国内外研究现状</a:t>
            </a:r>
          </a:p>
        </p:txBody>
      </p:sp>
      <p:sp>
        <p:nvSpPr>
          <p:cNvPr id="2" name="任意多边形: 形状 1">
            <a:extLst>
              <a:ext uri="{FF2B5EF4-FFF2-40B4-BE49-F238E27FC236}">
                <a16:creationId xmlns:a16="http://schemas.microsoft.com/office/drawing/2014/main" id="{F7F5B465-3A33-A970-27FD-9AE8E8576233}"/>
              </a:ext>
            </a:extLst>
          </p:cNvPr>
          <p:cNvSpPr/>
          <p:nvPr/>
        </p:nvSpPr>
        <p:spPr>
          <a:xfrm>
            <a:off x="185410" y="753290"/>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a:extLst>
              <a:ext uri="{FF2B5EF4-FFF2-40B4-BE49-F238E27FC236}">
                <a16:creationId xmlns:a16="http://schemas.microsoft.com/office/drawing/2014/main" id="{7E1BD2EA-CB66-5429-22A4-6885517C4238}"/>
              </a:ext>
            </a:extLst>
          </p:cNvPr>
          <p:cNvSpPr txBox="1"/>
          <p:nvPr/>
        </p:nvSpPr>
        <p:spPr>
          <a:xfrm>
            <a:off x="219996" y="1793408"/>
            <a:ext cx="2302068" cy="338554"/>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利用深度神经网络强大的非线性拟合能力，端到端提取故障特征。</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66058EEE-0216-DAFF-F02C-E8D73444E439}"/>
              </a:ext>
            </a:extLst>
          </p:cNvPr>
          <p:cNvSpPr txBox="1"/>
          <p:nvPr/>
        </p:nvSpPr>
        <p:spPr>
          <a:xfrm>
            <a:off x="215417" y="1240354"/>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深度学习方法</a:t>
            </a:r>
            <a:endParaRPr lang="en-US" altLang="zh-CN" sz="1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id="{6DDA75E6-8E99-5043-BE0C-22EFD1A5E355}"/>
              </a:ext>
            </a:extLst>
          </p:cNvPr>
          <p:cNvSpPr/>
          <p:nvPr/>
        </p:nvSpPr>
        <p:spPr>
          <a:xfrm>
            <a:off x="3362563" y="1104053"/>
            <a:ext cx="2371240" cy="34103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7" name="文本框 16">
            <a:extLst>
              <a:ext uri="{FF2B5EF4-FFF2-40B4-BE49-F238E27FC236}">
                <a16:creationId xmlns:a16="http://schemas.microsoft.com/office/drawing/2014/main" id="{421DDF12-B7C6-AC8C-2654-739B155D0EA3}"/>
              </a:ext>
            </a:extLst>
          </p:cNvPr>
          <p:cNvSpPr txBox="1"/>
          <p:nvPr/>
        </p:nvSpPr>
        <p:spPr>
          <a:xfrm>
            <a:off x="3397149" y="1793408"/>
            <a:ext cx="2302068" cy="338554"/>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利用 迁移学习 技术（如对抗学习、度量对齐），将源域知识迁移到目标域，减少分布差异。</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8CEEB103-3EA2-FF6F-7758-BB8951BB92E2}"/>
              </a:ext>
            </a:extLst>
          </p:cNvPr>
          <p:cNvSpPr txBox="1"/>
          <p:nvPr/>
        </p:nvSpPr>
        <p:spPr>
          <a:xfrm>
            <a:off x="3420966" y="1240354"/>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域适应方法</a:t>
            </a:r>
            <a:endParaRPr lang="en-US" altLang="zh-CN" sz="16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CCC2C901-9D91-8AC5-2520-1878263F0EBB}"/>
              </a:ext>
            </a:extLst>
          </p:cNvPr>
          <p:cNvSpPr/>
          <p:nvPr/>
        </p:nvSpPr>
        <p:spPr>
          <a:xfrm>
            <a:off x="6449710" y="1104053"/>
            <a:ext cx="2371240" cy="341034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21" name="文本框 20">
            <a:extLst>
              <a:ext uri="{FF2B5EF4-FFF2-40B4-BE49-F238E27FC236}">
                <a16:creationId xmlns:a16="http://schemas.microsoft.com/office/drawing/2014/main" id="{C89044FE-6E9F-F157-4B81-647AA3B24212}"/>
              </a:ext>
            </a:extLst>
          </p:cNvPr>
          <p:cNvSpPr txBox="1"/>
          <p:nvPr/>
        </p:nvSpPr>
        <p:spPr>
          <a:xfrm>
            <a:off x="6484296" y="1793408"/>
            <a:ext cx="2302068" cy="338554"/>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利用多个源域数据学习 域不变特征，直接泛化到 完全不可见 的目标域。</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DE21C59A-D3BB-CE64-8DEC-B5B2B861109C}"/>
              </a:ext>
            </a:extLst>
          </p:cNvPr>
          <p:cNvSpPr txBox="1"/>
          <p:nvPr/>
        </p:nvSpPr>
        <p:spPr>
          <a:xfrm>
            <a:off x="6484296" y="1240354"/>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域泛化方法</a:t>
            </a:r>
            <a:endParaRPr lang="en-US" altLang="zh-CN" sz="1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ïṣlïḋe">
            <a:extLst>
              <a:ext uri="{FF2B5EF4-FFF2-40B4-BE49-F238E27FC236}">
                <a16:creationId xmlns:a16="http://schemas.microsoft.com/office/drawing/2014/main" id="{8D7662A5-6AB7-BC79-DD6A-0E522135B5CA}"/>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3</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pic>
        <p:nvPicPr>
          <p:cNvPr id="3" name="图片 2">
            <a:extLst>
              <a:ext uri="{FF2B5EF4-FFF2-40B4-BE49-F238E27FC236}">
                <a16:creationId xmlns:a16="http://schemas.microsoft.com/office/drawing/2014/main" id="{85642AA8-DF75-3FFA-0B46-8451854C9A02}"/>
              </a:ext>
            </a:extLst>
          </p:cNvPr>
          <p:cNvPicPr>
            <a:picLocks noChangeAspect="1"/>
          </p:cNvPicPr>
          <p:nvPr/>
        </p:nvPicPr>
        <p:blipFill>
          <a:blip r:embed="rId3"/>
          <a:stretch>
            <a:fillRect/>
          </a:stretch>
        </p:blipFill>
        <p:spPr>
          <a:xfrm>
            <a:off x="226829" y="3045594"/>
            <a:ext cx="2279244" cy="1139622"/>
          </a:xfrm>
          <a:prstGeom prst="rect">
            <a:avLst/>
          </a:prstGeom>
        </p:spPr>
      </p:pic>
      <p:pic>
        <p:nvPicPr>
          <p:cNvPr id="4" name="图片 3">
            <a:extLst>
              <a:ext uri="{FF2B5EF4-FFF2-40B4-BE49-F238E27FC236}">
                <a16:creationId xmlns:a16="http://schemas.microsoft.com/office/drawing/2014/main" id="{BDDC9830-4F5E-41A4-AEC5-3474D25C3C07}"/>
              </a:ext>
            </a:extLst>
          </p:cNvPr>
          <p:cNvPicPr>
            <a:picLocks noChangeAspect="1"/>
          </p:cNvPicPr>
          <p:nvPr/>
        </p:nvPicPr>
        <p:blipFill>
          <a:blip r:embed="rId4"/>
          <a:stretch>
            <a:fillRect/>
          </a:stretch>
        </p:blipFill>
        <p:spPr>
          <a:xfrm>
            <a:off x="3505407" y="2996064"/>
            <a:ext cx="2133186" cy="1189152"/>
          </a:xfrm>
          <a:prstGeom prst="rect">
            <a:avLst/>
          </a:prstGeom>
        </p:spPr>
      </p:pic>
      <p:pic>
        <p:nvPicPr>
          <p:cNvPr id="5" name="图片 4">
            <a:extLst>
              <a:ext uri="{FF2B5EF4-FFF2-40B4-BE49-F238E27FC236}">
                <a16:creationId xmlns:a16="http://schemas.microsoft.com/office/drawing/2014/main" id="{2EDAD0E5-BF71-B996-FC12-B82206C57FC1}"/>
              </a:ext>
            </a:extLst>
          </p:cNvPr>
          <p:cNvPicPr>
            <a:picLocks noChangeAspect="1"/>
          </p:cNvPicPr>
          <p:nvPr/>
        </p:nvPicPr>
        <p:blipFill>
          <a:blip r:embed="rId5"/>
          <a:stretch>
            <a:fillRect/>
          </a:stretch>
        </p:blipFill>
        <p:spPr>
          <a:xfrm>
            <a:off x="6497218" y="2996064"/>
            <a:ext cx="2276224" cy="1213986"/>
          </a:xfrm>
          <a:prstGeom prst="rect">
            <a:avLst/>
          </a:prstGeom>
        </p:spPr>
      </p:pic>
      <p:sp>
        <p:nvSpPr>
          <p:cNvPr id="7" name="文本框 6">
            <a:extLst>
              <a:ext uri="{FF2B5EF4-FFF2-40B4-BE49-F238E27FC236}">
                <a16:creationId xmlns:a16="http://schemas.microsoft.com/office/drawing/2014/main" id="{38E744E6-836F-A912-DF90-7C75EC09921E}"/>
              </a:ext>
            </a:extLst>
          </p:cNvPr>
          <p:cNvSpPr txBox="1"/>
          <p:nvPr/>
        </p:nvSpPr>
        <p:spPr>
          <a:xfrm>
            <a:off x="215417" y="2217967"/>
            <a:ext cx="2302068" cy="584775"/>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局限性：严重依赖 “独立同分布”</a:t>
            </a:r>
            <a:r>
              <a:rPr lang="en-US" altLang="zh-CN" sz="8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假设。当测试工况（目标域）与训练工况（源域）不一致时，模型容易过拟合源域特征，导致 泛化性能急剧下降。</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7FCDDADB-FBEC-34F5-9922-F7C5E94C2414}"/>
              </a:ext>
            </a:extLst>
          </p:cNvPr>
          <p:cNvSpPr txBox="1"/>
          <p:nvPr/>
        </p:nvSpPr>
        <p:spPr>
          <a:xfrm>
            <a:off x="3397149" y="2217967"/>
            <a:ext cx="2302068" cy="584775"/>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局限性：通常假设 目标域数据可见（至少要有无标签数据）。但在单轨列车实际运维中，新线路、新工况的数据往往 无法预先获取，限制了其应用。</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6D8262C4-A8A3-084E-F43D-63C363AB9D2C}"/>
              </a:ext>
            </a:extLst>
          </p:cNvPr>
          <p:cNvSpPr txBox="1"/>
          <p:nvPr/>
        </p:nvSpPr>
        <p:spPr>
          <a:xfrm>
            <a:off x="6497218" y="2224450"/>
            <a:ext cx="2302068" cy="584775"/>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现有挑战：主流方法多基于 统计相关性，容易学习到环境噪声与故障的 “虚假相关”</a:t>
            </a:r>
            <a:endParaRPr lang="en-US" altLang="zh-CN" sz="800" b="1" dirty="0">
              <a:latin typeface="Times New Roman" panose="02020603050405020304" pitchFamily="18" charset="0"/>
              <a:ea typeface="微软雅黑" panose="020B0503020204020204" pitchFamily="34" charset="-122"/>
              <a:cs typeface="Times New Roman" panose="02020603050405020304" pitchFamily="18" charset="0"/>
            </a:endParaRPr>
          </a:p>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引入 因果推断，从机理上剥离环境干扰，提取真正的故障因果特征。</a:t>
            </a:r>
            <a:endParaRPr lang="en-US" altLang="zh-CN" sz="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537467450"/>
      </p:ext>
    </p:extLst>
  </p:cSld>
  <p:clrMapOvr>
    <a:masterClrMapping/>
  </p:clrMapOvr>
  <p:transition advTm="29843">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267744"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03</a:t>
            </a:r>
          </a:p>
        </p:txBody>
      </p:sp>
      <p:sp>
        <p:nvSpPr>
          <p:cNvPr id="13" name="ïṣlïḋe"/>
          <p:cNvSpPr txBox="1"/>
          <p:nvPr/>
        </p:nvSpPr>
        <p:spPr>
          <a:xfrm>
            <a:off x="2699792"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主要研究内容及方法</a:t>
            </a:r>
          </a:p>
        </p:txBody>
      </p:sp>
    </p:spTree>
  </p:cSld>
  <p:clrMapOvr>
    <a:masterClrMapping/>
  </p:clrMapOvr>
  <p:transition advTm="7062">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9592" y="19522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主要研究内容及方法</a:t>
            </a:r>
          </a:p>
        </p:txBody>
      </p:sp>
      <p:sp>
        <p:nvSpPr>
          <p:cNvPr id="4" name="矩形 3"/>
          <p:cNvSpPr/>
          <p:nvPr/>
        </p:nvSpPr>
        <p:spPr>
          <a:xfrm>
            <a:off x="592975" y="914399"/>
            <a:ext cx="7449728" cy="1205369"/>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、构建跨座式单轨列车齿轮箱振动信号的结构因果模型（</a:t>
            </a: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SCM</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计划深入剖析齿轮箱在变转速、变负载及轨道冲击下的动力学响应机理，揭示故障冲击与环境噪声的非线性耦合规律。基于因果推断理论，建立描述信号生成过程的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SCM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模型。</a:t>
            </a:r>
            <a:endPar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任意多边形: 形状 4">
            <a:extLst>
              <a:ext uri="{FF2B5EF4-FFF2-40B4-BE49-F238E27FC236}">
                <a16:creationId xmlns:a16="http://schemas.microsoft.com/office/drawing/2014/main" id="{3B68E7BD-9B02-29A4-5F0C-3338E33E9556}"/>
              </a:ext>
            </a:extLst>
          </p:cNvPr>
          <p:cNvSpPr/>
          <p:nvPr/>
        </p:nvSpPr>
        <p:spPr>
          <a:xfrm>
            <a:off x="6982801" y="365505"/>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a:extLst>
              <a:ext uri="{FF2B5EF4-FFF2-40B4-BE49-F238E27FC236}">
                <a16:creationId xmlns:a16="http://schemas.microsoft.com/office/drawing/2014/main" id="{AF4F13DB-28E2-92AE-5E55-E31CF06F9480}"/>
              </a:ext>
            </a:extLst>
          </p:cNvPr>
          <p:cNvPicPr>
            <a:picLocks noChangeAspect="1"/>
          </p:cNvPicPr>
          <p:nvPr/>
        </p:nvPicPr>
        <p:blipFill>
          <a:blip r:embed="rId3"/>
          <a:stretch>
            <a:fillRect/>
          </a:stretch>
        </p:blipFill>
        <p:spPr>
          <a:xfrm>
            <a:off x="592975" y="2335540"/>
            <a:ext cx="7449728" cy="2060475"/>
          </a:xfrm>
          <a:prstGeom prst="rect">
            <a:avLst/>
          </a:prstGeom>
        </p:spPr>
      </p:pic>
    </p:spTree>
  </p:cSld>
  <p:clrMapOvr>
    <a:masterClrMapping/>
  </p:clrMapOvr>
  <p:transition advTm="29843">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08242-6389-B113-7EEB-A8A0C5F3C19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BCC8A27-33C5-5FDB-DB1C-71DAA18B674A}"/>
              </a:ext>
            </a:extLst>
          </p:cNvPr>
          <p:cNvSpPr txBox="1"/>
          <p:nvPr/>
        </p:nvSpPr>
        <p:spPr>
          <a:xfrm>
            <a:off x="899592" y="19522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主要研究内容及方法</a:t>
            </a: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B7A3B415-600B-A7A2-8DB2-B48BD4EFE616}"/>
                  </a:ext>
                </a:extLst>
              </p:cNvPr>
              <p:cNvSpPr/>
              <p:nvPr/>
            </p:nvSpPr>
            <p:spPr>
              <a:xfrm>
                <a:off x="592975" y="914399"/>
                <a:ext cx="7449728" cy="1230285"/>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、构建跨座式单轨列车齿轮箱振动信号的结构因果模型（</a:t>
                </a: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SCM</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ct val="150000"/>
                  </a:lnSpc>
                  <a:buNone/>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定义观测信号为 </a:t>
                </a:r>
                <a14:m>
                  <m:oMath xmlns:m="http://schemas.openxmlformats.org/officeDocument/2006/math">
                    <m:r>
                      <a:rPr lang="en-US"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𝑋</m:t>
                    </m:r>
                  </m:oMath>
                </a14:m>
                <a:r>
                  <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，真实的健康状态为 </a:t>
                </a:r>
                <a14:m>
                  <m:oMath xmlns:m="http://schemas.openxmlformats.org/officeDocument/2006/math">
                    <m:r>
                      <a:rPr lang="en-US"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𝐻</m:t>
                    </m:r>
                  </m:oMath>
                </a14:m>
                <a:r>
                  <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，工况域环境为 </a:t>
                </a:r>
                <a14:m>
                  <m:oMath xmlns:m="http://schemas.openxmlformats.org/officeDocument/2006/math">
                    <m:r>
                      <a:rPr lang="en-US"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𝐷</m:t>
                    </m:r>
                  </m:oMath>
                </a14:m>
                <a:r>
                  <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。为了实现特征解耦，引入两类潜在特征变量：因果因子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ctrlPr>
                      </m:sSubPr>
                      <m:e>
                        <m:r>
                          <a:rPr lang="en-US"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𝑍</m:t>
                        </m:r>
                      </m:e>
                      <m:sub>
                        <m:r>
                          <a:rPr lang="en-US"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𝑐</m:t>
                        </m:r>
                      </m:sub>
                    </m:sSub>
                  </m:oMath>
                </a14:m>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非因果因子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ctrlPr>
                      </m:sSubPr>
                      <m:e>
                        <m:r>
                          <a:rPr lang="en-US"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𝑍</m:t>
                        </m:r>
                      </m:e>
                      <m:sub>
                        <m:r>
                          <a:rPr lang="en-US" altLang="zh-CN" sz="1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𝑑</m:t>
                        </m:r>
                      </m:sub>
                    </m:sSub>
                  </m:oMath>
                </a14:m>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spcAft>
                    <a:spcPts val="800"/>
                  </a:spcAft>
                </a:pPr>
                <a:endPar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4" name="矩形 3">
                <a:extLst>
                  <a:ext uri="{FF2B5EF4-FFF2-40B4-BE49-F238E27FC236}">
                    <a16:creationId xmlns:a16="http://schemas.microsoft.com/office/drawing/2014/main" id="{B7A3B415-600B-A7A2-8DB2-B48BD4EFE616}"/>
                  </a:ext>
                </a:extLst>
              </p:cNvPr>
              <p:cNvSpPr>
                <a:spLocks noRot="1" noChangeAspect="1" noMove="1" noResize="1" noEditPoints="1" noAdjustHandles="1" noChangeArrowheads="1" noChangeShapeType="1" noTextEdit="1"/>
              </p:cNvSpPr>
              <p:nvPr/>
            </p:nvSpPr>
            <p:spPr>
              <a:xfrm>
                <a:off x="592975" y="914399"/>
                <a:ext cx="7449728" cy="1230285"/>
              </a:xfrm>
              <a:prstGeom prst="rect">
                <a:avLst/>
              </a:prstGeom>
              <a:blipFill>
                <a:blip r:embed="rId3"/>
                <a:stretch>
                  <a:fillRect l="-163" t="-1471" r="-163"/>
                </a:stretch>
              </a:blipFill>
              <a:ln w="12700">
                <a:solidFill>
                  <a:schemeClr val="tx1"/>
                </a:solidFill>
                <a:prstDash val="sysDash"/>
              </a:ln>
            </p:spPr>
            <p:txBody>
              <a:bodyPr/>
              <a:lstStyle/>
              <a:p>
                <a:r>
                  <a:rPr lang="zh-CN" altLang="en-US">
                    <a:noFill/>
                  </a:rPr>
                  <a:t> </a:t>
                </a:r>
              </a:p>
            </p:txBody>
          </p:sp>
        </mc:Fallback>
      </mc:AlternateContent>
      <p:sp>
        <p:nvSpPr>
          <p:cNvPr id="8" name="ïṣlïḋe">
            <a:extLst>
              <a:ext uri="{FF2B5EF4-FFF2-40B4-BE49-F238E27FC236}">
                <a16:creationId xmlns:a16="http://schemas.microsoft.com/office/drawing/2014/main" id="{FD72B820-3842-B0D1-9420-F642890308A4}"/>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5</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任意多边形: 形状 4">
            <a:extLst>
              <a:ext uri="{FF2B5EF4-FFF2-40B4-BE49-F238E27FC236}">
                <a16:creationId xmlns:a16="http://schemas.microsoft.com/office/drawing/2014/main" id="{7D761CA0-6C92-0AD1-484E-D1EB23F6E62D}"/>
              </a:ext>
            </a:extLst>
          </p:cNvPr>
          <p:cNvSpPr/>
          <p:nvPr/>
        </p:nvSpPr>
        <p:spPr>
          <a:xfrm>
            <a:off x="6982801" y="365505"/>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图片 2">
            <a:extLst>
              <a:ext uri="{FF2B5EF4-FFF2-40B4-BE49-F238E27FC236}">
                <a16:creationId xmlns:a16="http://schemas.microsoft.com/office/drawing/2014/main" id="{A8621202-4F76-1BD7-916C-ADD1B84018DD}"/>
              </a:ext>
            </a:extLst>
          </p:cNvPr>
          <p:cNvPicPr>
            <a:picLocks noChangeAspect="1"/>
          </p:cNvPicPr>
          <p:nvPr/>
        </p:nvPicPr>
        <p:blipFill>
          <a:blip r:embed="rId4"/>
          <a:stretch>
            <a:fillRect/>
          </a:stretch>
        </p:blipFill>
        <p:spPr>
          <a:xfrm>
            <a:off x="3331051" y="2230549"/>
            <a:ext cx="2481898" cy="2477964"/>
          </a:xfrm>
          <a:prstGeom prst="rect">
            <a:avLst/>
          </a:prstGeom>
        </p:spPr>
      </p:pic>
    </p:spTree>
    <p:extLst>
      <p:ext uri="{BB962C8B-B14F-4D97-AF65-F5344CB8AC3E}">
        <p14:creationId xmlns:p14="http://schemas.microsoft.com/office/powerpoint/2010/main" val="2977456328"/>
      </p:ext>
    </p:extLst>
  </p:cSld>
  <p:clrMapOvr>
    <a:masterClrMapping/>
  </p:clrMapOvr>
  <p:transition advTm="29843">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5527A-80B7-048B-20CC-CBC66E2D19A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5B7118E-2332-8EC9-7E21-408570620BBD}"/>
              </a:ext>
            </a:extLst>
          </p:cNvPr>
          <p:cNvSpPr txBox="1"/>
          <p:nvPr/>
        </p:nvSpPr>
        <p:spPr>
          <a:xfrm>
            <a:off x="899592" y="19522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主要研究内容及方法</a:t>
            </a:r>
          </a:p>
        </p:txBody>
      </p:sp>
      <p:sp>
        <p:nvSpPr>
          <p:cNvPr id="4" name="矩形 3">
            <a:extLst>
              <a:ext uri="{FF2B5EF4-FFF2-40B4-BE49-F238E27FC236}">
                <a16:creationId xmlns:a16="http://schemas.microsoft.com/office/drawing/2014/main" id="{6F11D7CD-A98F-C35A-E7F5-04B434E8178D}"/>
              </a:ext>
            </a:extLst>
          </p:cNvPr>
          <p:cNvSpPr/>
          <p:nvPr/>
        </p:nvSpPr>
        <p:spPr>
          <a:xfrm>
            <a:off x="584064" y="933800"/>
            <a:ext cx="7589479" cy="1210884"/>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、深度因果解耦域泛化网络的设计与构建</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构建包含因果编码器、域编码器及信号解码器的深度因果解耦网络，旨在解决目标域数据缺失下的特征提取难题，实现两类特征的有效解耦。</a:t>
            </a:r>
            <a:endPar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ïṣlïḋe">
            <a:extLst>
              <a:ext uri="{FF2B5EF4-FFF2-40B4-BE49-F238E27FC236}">
                <a16:creationId xmlns:a16="http://schemas.microsoft.com/office/drawing/2014/main" id="{32882857-1347-5AFC-8285-8BCAE1C53441}"/>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6</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任意多边形: 形状 4">
            <a:extLst>
              <a:ext uri="{FF2B5EF4-FFF2-40B4-BE49-F238E27FC236}">
                <a16:creationId xmlns:a16="http://schemas.microsoft.com/office/drawing/2014/main" id="{2F7F677B-E519-008C-FD88-99F1D1C36B5B}"/>
              </a:ext>
            </a:extLst>
          </p:cNvPr>
          <p:cNvSpPr/>
          <p:nvPr/>
        </p:nvSpPr>
        <p:spPr>
          <a:xfrm>
            <a:off x="6982801" y="377990"/>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a:extLst>
              <a:ext uri="{FF2B5EF4-FFF2-40B4-BE49-F238E27FC236}">
                <a16:creationId xmlns:a16="http://schemas.microsoft.com/office/drawing/2014/main" id="{99525399-5A46-B76B-7BF1-79D3AFE599A9}"/>
              </a:ext>
            </a:extLst>
          </p:cNvPr>
          <p:cNvPicPr>
            <a:picLocks noChangeAspect="1"/>
          </p:cNvPicPr>
          <p:nvPr/>
        </p:nvPicPr>
        <p:blipFill>
          <a:blip r:embed="rId3"/>
          <a:stretch>
            <a:fillRect/>
          </a:stretch>
        </p:blipFill>
        <p:spPr>
          <a:xfrm>
            <a:off x="557587" y="2200734"/>
            <a:ext cx="7642431" cy="2258472"/>
          </a:xfrm>
          <a:prstGeom prst="rect">
            <a:avLst/>
          </a:prstGeom>
        </p:spPr>
      </p:pic>
    </p:spTree>
    <p:extLst>
      <p:ext uri="{BB962C8B-B14F-4D97-AF65-F5344CB8AC3E}">
        <p14:creationId xmlns:p14="http://schemas.microsoft.com/office/powerpoint/2010/main" val="1185082934"/>
      </p:ext>
    </p:extLst>
  </p:cSld>
  <p:clrMapOvr>
    <a:masterClrMapping/>
  </p:clrMapOvr>
  <p:transition advTm="29843">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C8029-A963-2A01-4B6E-711CF2495C4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BD743EF-32D7-4B95-A4AC-5370AE2A33D9}"/>
              </a:ext>
            </a:extLst>
          </p:cNvPr>
          <p:cNvSpPr txBox="1"/>
          <p:nvPr/>
        </p:nvSpPr>
        <p:spPr>
          <a:xfrm>
            <a:off x="899592" y="19522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主要研究内容及方法</a:t>
            </a:r>
          </a:p>
        </p:txBody>
      </p:sp>
      <p:sp>
        <p:nvSpPr>
          <p:cNvPr id="4" name="矩形 3">
            <a:extLst>
              <a:ext uri="{FF2B5EF4-FFF2-40B4-BE49-F238E27FC236}">
                <a16:creationId xmlns:a16="http://schemas.microsoft.com/office/drawing/2014/main" id="{8C77547B-3640-E98C-5904-5C44FFA3AC4E}"/>
              </a:ext>
            </a:extLst>
          </p:cNvPr>
          <p:cNvSpPr/>
          <p:nvPr/>
        </p:nvSpPr>
        <p:spPr>
          <a:xfrm>
            <a:off x="777260" y="937338"/>
            <a:ext cx="7589479" cy="1219548"/>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、基于解耦后的因果特征构建鲁棒分类器</a:t>
            </a:r>
          </a:p>
          <a:p>
            <a:pPr indent="304800" algn="just">
              <a:lnSpc>
                <a:spcPts val="2200"/>
              </a:lnSpc>
              <a:spcBef>
                <a:spcPts val="0"/>
              </a:spcBef>
              <a:spcAft>
                <a:spcPts val="600"/>
              </a:spcAft>
            </a:pP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深度因果解耦网络提取的纯净因果特征，构建面向故障模式识别的鲁棒分类器，该分类器仅以具备跨域不变性的因果因子作为输入，从决策层面切断工况域信息及环境噪声对故障判别的干扰路径，建立故障特征与健康状态之间的稳定映射关系。</a:t>
            </a:r>
            <a:endPar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ïṣlïḋe">
            <a:extLst>
              <a:ext uri="{FF2B5EF4-FFF2-40B4-BE49-F238E27FC236}">
                <a16:creationId xmlns:a16="http://schemas.microsoft.com/office/drawing/2014/main" id="{514E445C-F69A-3AAA-A0B3-4F3ADC179C46}"/>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7</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任意多边形: 形状 4">
            <a:extLst>
              <a:ext uri="{FF2B5EF4-FFF2-40B4-BE49-F238E27FC236}">
                <a16:creationId xmlns:a16="http://schemas.microsoft.com/office/drawing/2014/main" id="{73B9B712-8478-8C01-7FD9-DCE7868B2F08}"/>
              </a:ext>
            </a:extLst>
          </p:cNvPr>
          <p:cNvSpPr/>
          <p:nvPr/>
        </p:nvSpPr>
        <p:spPr>
          <a:xfrm>
            <a:off x="6994765" y="419957"/>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a:extLst>
              <a:ext uri="{FF2B5EF4-FFF2-40B4-BE49-F238E27FC236}">
                <a16:creationId xmlns:a16="http://schemas.microsoft.com/office/drawing/2014/main" id="{FA53ABC7-8181-E44C-6E68-34729795C473}"/>
              </a:ext>
            </a:extLst>
          </p:cNvPr>
          <p:cNvPicPr>
            <a:picLocks noChangeAspect="1"/>
          </p:cNvPicPr>
          <p:nvPr/>
        </p:nvPicPr>
        <p:blipFill>
          <a:blip r:embed="rId3"/>
          <a:stretch>
            <a:fillRect/>
          </a:stretch>
        </p:blipFill>
        <p:spPr>
          <a:xfrm>
            <a:off x="743658" y="2332267"/>
            <a:ext cx="7656683" cy="1873895"/>
          </a:xfrm>
          <a:prstGeom prst="rect">
            <a:avLst/>
          </a:prstGeom>
        </p:spPr>
      </p:pic>
    </p:spTree>
    <p:extLst>
      <p:ext uri="{BB962C8B-B14F-4D97-AF65-F5344CB8AC3E}">
        <p14:creationId xmlns:p14="http://schemas.microsoft.com/office/powerpoint/2010/main" val="1799021986"/>
      </p:ext>
    </p:extLst>
  </p:cSld>
  <p:clrMapOvr>
    <a:masterClrMapping/>
  </p:clrMapOvr>
  <p:transition advTm="29843">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843808"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04</a:t>
            </a:r>
          </a:p>
        </p:txBody>
      </p:sp>
      <p:sp>
        <p:nvSpPr>
          <p:cNvPr id="13" name="ïṣlïḋe"/>
          <p:cNvSpPr txBox="1"/>
          <p:nvPr/>
        </p:nvSpPr>
        <p:spPr>
          <a:xfrm>
            <a:off x="3275856"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难点及解决办法</a:t>
            </a:r>
          </a:p>
        </p:txBody>
      </p:sp>
    </p:spTree>
  </p:cSld>
  <p:clrMapOvr>
    <a:masterClrMapping/>
  </p:clrMapOvr>
  <p:transition advTm="7062">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9592" y="195486"/>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研究难点</a:t>
            </a:r>
          </a:p>
        </p:txBody>
      </p:sp>
      <p:sp>
        <p:nvSpPr>
          <p:cNvPr id="4" name="矩形 3"/>
          <p:cNvSpPr/>
          <p:nvPr/>
        </p:nvSpPr>
        <p:spPr>
          <a:xfrm>
            <a:off x="1323172" y="897173"/>
            <a:ext cx="6336704" cy="710803"/>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）如何解析齿轮箱复杂的非线性耦合机理，构建准确描述“故障本质”与“工况环境”映射关系的 结构因果模型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(SCM)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35172E0-71D0-F160-F9BA-901DCF5828E3}"/>
                  </a:ext>
                </a:extLst>
              </p:cNvPr>
              <p:cNvSpPr/>
              <p:nvPr/>
            </p:nvSpPr>
            <p:spPr>
              <a:xfrm>
                <a:off x="1314292" y="2138762"/>
                <a:ext cx="6336704" cy="710803"/>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）在强背景噪声和多源工况干扰下，如何设计深度网络与损失函数，实现 故障因果因子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t>Z</m:t>
                        </m:r>
                      </m:e>
                      <m:sub>
                        <m:r>
                          <m:rPr>
                            <m:sty m:val="p"/>
                          </m:r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t>C</m:t>
                        </m:r>
                      </m:sub>
                    </m:sSub>
                  </m:oMath>
                </a14:m>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与 工况非因果因子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t>Z</m:t>
                        </m:r>
                      </m:e>
                      <m:sub>
                        <m:r>
                          <m:rPr>
                            <m:sty m:val="p"/>
                          </m:r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t>d</m:t>
                        </m:r>
                      </m:sub>
                    </m:sSub>
                  </m:oMath>
                </a14:m>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的 正交解耦与精确分离</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035172E0-71D0-F160-F9BA-901DCF5828E3}"/>
                  </a:ext>
                </a:extLst>
              </p:cNvPr>
              <p:cNvSpPr>
                <a:spLocks noRot="1" noChangeAspect="1" noMove="1" noResize="1" noEditPoints="1" noAdjustHandles="1" noChangeArrowheads="1" noChangeShapeType="1" noTextEdit="1"/>
              </p:cNvSpPr>
              <p:nvPr/>
            </p:nvSpPr>
            <p:spPr>
              <a:xfrm>
                <a:off x="1314292" y="2138762"/>
                <a:ext cx="6336704" cy="710803"/>
              </a:xfrm>
              <a:prstGeom prst="rect">
                <a:avLst/>
              </a:prstGeom>
              <a:blipFill>
                <a:blip r:embed="rId3"/>
                <a:stretch>
                  <a:fillRect l="-192" r="-192"/>
                </a:stretch>
              </a:blipFill>
              <a:ln w="12700">
                <a:solidFill>
                  <a:schemeClr val="tx1"/>
                </a:solidFill>
                <a:prstDash val="sysDash"/>
              </a:ln>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10699E71-EC92-716E-5F82-B67D92E6F78A}"/>
              </a:ext>
            </a:extLst>
          </p:cNvPr>
          <p:cNvSpPr/>
          <p:nvPr/>
        </p:nvSpPr>
        <p:spPr>
          <a:xfrm>
            <a:off x="1314292" y="3502276"/>
            <a:ext cx="6336704" cy="710803"/>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）目标域数据完全不可见的条件下，如何度量特征的跨域不变性，确立面向未知工况的 鲁棒泛化</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任意多边形: 形状 5">
            <a:extLst>
              <a:ext uri="{FF2B5EF4-FFF2-40B4-BE49-F238E27FC236}">
                <a16:creationId xmlns:a16="http://schemas.microsoft.com/office/drawing/2014/main" id="{3BDCE35C-598F-75D8-22FC-6F339097BB8D}"/>
              </a:ext>
            </a:extLst>
          </p:cNvPr>
          <p:cNvSpPr/>
          <p:nvPr/>
        </p:nvSpPr>
        <p:spPr>
          <a:xfrm>
            <a:off x="6873686" y="546410"/>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任意多边形: 形状 7">
            <a:extLst>
              <a:ext uri="{FF2B5EF4-FFF2-40B4-BE49-F238E27FC236}">
                <a16:creationId xmlns:a16="http://schemas.microsoft.com/office/drawing/2014/main" id="{590B4BE9-5312-4ECC-73DF-C788D190CF07}"/>
              </a:ext>
            </a:extLst>
          </p:cNvPr>
          <p:cNvSpPr/>
          <p:nvPr/>
        </p:nvSpPr>
        <p:spPr>
          <a:xfrm>
            <a:off x="6873686" y="1787999"/>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3296689B-6754-DCB9-6A5F-6FB0ABF82579}"/>
              </a:ext>
            </a:extLst>
          </p:cNvPr>
          <p:cNvSpPr/>
          <p:nvPr/>
        </p:nvSpPr>
        <p:spPr>
          <a:xfrm>
            <a:off x="6873686" y="3151512"/>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ïṣlïḋe">
            <a:extLst>
              <a:ext uri="{FF2B5EF4-FFF2-40B4-BE49-F238E27FC236}">
                <a16:creationId xmlns:a16="http://schemas.microsoft.com/office/drawing/2014/main" id="{B6B2FF43-8BE0-1000-5EAB-08936A14DF41}"/>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8</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graphicFrame>
        <p:nvGraphicFramePr>
          <p:cNvPr id="5" name="对象 4">
            <a:extLst>
              <a:ext uri="{FF2B5EF4-FFF2-40B4-BE49-F238E27FC236}">
                <a16:creationId xmlns:a16="http://schemas.microsoft.com/office/drawing/2014/main" id="{2351DB2F-B46F-8650-5776-67AF84EDDB11}"/>
              </a:ext>
            </a:extLst>
          </p:cNvPr>
          <p:cNvGraphicFramePr>
            <a:graphicFrameLocks noChangeAspect="1"/>
          </p:cNvGraphicFramePr>
          <p:nvPr>
            <p:extLst>
              <p:ext uri="{D42A27DB-BD31-4B8C-83A1-F6EECF244321}">
                <p14:modId xmlns:p14="http://schemas.microsoft.com/office/powerpoint/2010/main" val="2492463353"/>
              </p:ext>
            </p:extLst>
          </p:nvPr>
        </p:nvGraphicFramePr>
        <p:xfrm>
          <a:off x="8534400" y="4456113"/>
          <a:ext cx="203200" cy="228600"/>
        </p:xfrm>
        <a:graphic>
          <a:graphicData uri="http://schemas.openxmlformats.org/presentationml/2006/ole">
            <mc:AlternateContent xmlns:mc="http://schemas.openxmlformats.org/markup-compatibility/2006">
              <mc:Choice xmlns:v="urn:schemas-microsoft-com:vml" Requires="v">
                <p:oleObj name="Equation" r:id="rId4" imgW="203040" imgH="228600" progId="Equation.DSMT4">
                  <p:embed/>
                </p:oleObj>
              </mc:Choice>
              <mc:Fallback>
                <p:oleObj name="Equation" r:id="rId4" imgW="203040" imgH="228600" progId="Equation.DSMT4">
                  <p:embed/>
                  <p:pic>
                    <p:nvPicPr>
                      <p:cNvPr id="0" name=""/>
                      <p:cNvPicPr/>
                      <p:nvPr/>
                    </p:nvPicPr>
                    <p:blipFill>
                      <a:blip r:embed="rId5"/>
                      <a:stretch>
                        <a:fillRect/>
                      </a:stretch>
                    </p:blipFill>
                    <p:spPr>
                      <a:xfrm>
                        <a:off x="8534400" y="4456113"/>
                        <a:ext cx="203200" cy="2286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C203D2B4-AB7E-C7AF-7C11-8B723AA93586}"/>
              </a:ext>
            </a:extLst>
          </p:cNvPr>
          <p:cNvGraphicFramePr>
            <a:graphicFrameLocks noChangeAspect="1"/>
          </p:cNvGraphicFramePr>
          <p:nvPr>
            <p:extLst>
              <p:ext uri="{D42A27DB-BD31-4B8C-83A1-F6EECF244321}">
                <p14:modId xmlns:p14="http://schemas.microsoft.com/office/powerpoint/2010/main" val="2007011163"/>
              </p:ext>
            </p:extLst>
          </p:nvPr>
        </p:nvGraphicFramePr>
        <p:xfrm>
          <a:off x="8534400" y="4456113"/>
          <a:ext cx="203200" cy="228600"/>
        </p:xfrm>
        <a:graphic>
          <a:graphicData uri="http://schemas.openxmlformats.org/presentationml/2006/ole">
            <mc:AlternateContent xmlns:mc="http://schemas.openxmlformats.org/markup-compatibility/2006">
              <mc:Choice xmlns:v="urn:schemas-microsoft-com:vml" Requires="v">
                <p:oleObj name="Equation" r:id="rId6" imgW="203040" imgH="228600" progId="Equation.DSMT4">
                  <p:embed/>
                </p:oleObj>
              </mc:Choice>
              <mc:Fallback>
                <p:oleObj name="Equation" r:id="rId6" imgW="203040" imgH="228600" progId="Equation.DSMT4">
                  <p:embed/>
                  <p:pic>
                    <p:nvPicPr>
                      <p:cNvPr id="0" name=""/>
                      <p:cNvPicPr/>
                      <p:nvPr/>
                    </p:nvPicPr>
                    <p:blipFill>
                      <a:blip r:embed="rId7"/>
                      <a:stretch>
                        <a:fillRect/>
                      </a:stretch>
                    </p:blipFill>
                    <p:spPr>
                      <a:xfrm>
                        <a:off x="8534400" y="4456113"/>
                        <a:ext cx="203200" cy="228600"/>
                      </a:xfrm>
                      <a:prstGeom prst="rect">
                        <a:avLst/>
                      </a:prstGeom>
                    </p:spPr>
                  </p:pic>
                </p:oleObj>
              </mc:Fallback>
            </mc:AlternateContent>
          </a:graphicData>
        </a:graphic>
      </p:graphicFrame>
    </p:spTree>
  </p:cSld>
  <p:clrMapOvr>
    <a:masterClrMapping/>
  </p:clrMapOvr>
  <p:transition advTm="29843">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2A18F-5D29-B6C3-D753-648DCEE5A8B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B30D66D-3CA7-29E2-F605-6E09ACD6B438}"/>
              </a:ext>
            </a:extLst>
          </p:cNvPr>
          <p:cNvSpPr txBox="1"/>
          <p:nvPr/>
        </p:nvSpPr>
        <p:spPr>
          <a:xfrm>
            <a:off x="899592" y="195486"/>
            <a:ext cx="2904472" cy="400110"/>
          </a:xfrm>
          <a:prstGeom prst="rect">
            <a:avLst/>
          </a:prstGeom>
          <a:noFill/>
        </p:spPr>
        <p:txBody>
          <a:bodyPr wrap="square" anchor="ctr">
            <a:spAutoFit/>
          </a:bodyPr>
          <a:lstStyle/>
          <a:p>
            <a:pPr eaLnBrk="1" fontAlgn="auto" hangingPunct="1">
              <a:spcBef>
                <a:spcPts val="0"/>
              </a:spcBef>
              <a:spcAft>
                <a:spcPts val="0"/>
              </a:spcAft>
              <a:defRPr/>
            </a:pPr>
            <a:r>
              <a:rPr lang="zh-CN" altLang="en-US" sz="2000" b="1" dirty="0">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拟采用的解决方法</a:t>
            </a:r>
            <a:endParaRPr lang="zh-CN" altLang="en-US" sz="2000" b="1" dirty="0">
              <a:solidFill>
                <a:schemeClr val="tx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E924F3B4-D91F-FA50-B3C5-2C5943C6ACFF}"/>
              </a:ext>
            </a:extLst>
          </p:cNvPr>
          <p:cNvSpPr/>
          <p:nvPr/>
        </p:nvSpPr>
        <p:spPr>
          <a:xfrm>
            <a:off x="1319483" y="690340"/>
            <a:ext cx="6336704" cy="1080120"/>
          </a:xfrm>
          <a:prstGeom prst="rect">
            <a:avLst/>
          </a:prstGeom>
          <a:solidFill>
            <a:schemeClr val="accent2">
              <a:lumMod val="20000"/>
              <a:lumOff val="80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）物理机理与数据驱动融合的因果建模策略</a:t>
            </a:r>
            <a:endParaRPr lang="en-US" altLang="zh-CN" b="1" u="sng" kern="100"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a:p>
            <a:pPr indent="288290" algn="just">
              <a:spcAft>
                <a:spcPts val="800"/>
              </a:spcAft>
            </a:pP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构建描述振动信号生成过程的 结构因果模型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(SCM)</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。通过定义因果图，从理论层面明确 故障因果与 工况非因果因子 的拓扑映射关系，指导后续特征提取。</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BE700B02-7118-F1B9-BAF3-03A6CF145329}"/>
              </a:ext>
            </a:extLst>
          </p:cNvPr>
          <p:cNvSpPr/>
          <p:nvPr/>
        </p:nvSpPr>
        <p:spPr>
          <a:xfrm>
            <a:off x="1301806" y="2045533"/>
            <a:ext cx="6336704" cy="1080120"/>
          </a:xfrm>
          <a:prstGeom prst="rect">
            <a:avLst/>
          </a:prstGeom>
          <a:solidFill>
            <a:schemeClr val="accent3">
              <a:lumMod val="20000"/>
              <a:lumOff val="80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）构建多重损失约束的深度因果解耦网络</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indent="288290" algn="just">
              <a:spcAft>
                <a:spcPts val="800"/>
              </a:spcAft>
            </a:pP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设计包含 因果聚合损失 、重构损失 与 冗余削减损失 的复合目标函数。利用深度神经网络强制拉近同类故障样本，推远异类样本，并强制故障特征与工况特征 正交，从而在强噪声下实现特征的精确剥离。</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B4387BE3-4BFB-E725-3B6A-20C613EF6540}"/>
              </a:ext>
            </a:extLst>
          </p:cNvPr>
          <p:cNvSpPr/>
          <p:nvPr/>
        </p:nvSpPr>
        <p:spPr>
          <a:xfrm>
            <a:off x="1319483" y="3454437"/>
            <a:ext cx="6336704" cy="1196524"/>
          </a:xfrm>
          <a:prstGeom prst="rect">
            <a:avLst/>
          </a:prstGeom>
          <a:solidFill>
            <a:schemeClr val="accent5">
              <a:lumMod val="20000"/>
              <a:lumOff val="80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）基于“留一域”策略的鲁棒分类器设计</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indent="288290" algn="just">
              <a:spcAft>
                <a:spcPts val="800"/>
              </a:spcAft>
            </a:pP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构建仅依赖因果不变特征的分类器，从决策层面 物理切断 工况域信息的干扰。采用 “留一域”交叉验证 策略（即用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A/B/C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工况训练，在完全不可见的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工况测试），模拟真实场景，验证模型的 零样本泛化能力。</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任意多边形: 形状 7">
            <a:extLst>
              <a:ext uri="{FF2B5EF4-FFF2-40B4-BE49-F238E27FC236}">
                <a16:creationId xmlns:a16="http://schemas.microsoft.com/office/drawing/2014/main" id="{3D8BA953-A9A7-4867-A026-948EEC9C9640}"/>
              </a:ext>
            </a:extLst>
          </p:cNvPr>
          <p:cNvSpPr/>
          <p:nvPr/>
        </p:nvSpPr>
        <p:spPr>
          <a:xfrm>
            <a:off x="7060870" y="1770458"/>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任意多边形: 形状 9">
            <a:extLst>
              <a:ext uri="{FF2B5EF4-FFF2-40B4-BE49-F238E27FC236}">
                <a16:creationId xmlns:a16="http://schemas.microsoft.com/office/drawing/2014/main" id="{EB7229AF-3DEF-0384-CA78-205DDF008A32}"/>
              </a:ext>
            </a:extLst>
          </p:cNvPr>
          <p:cNvSpPr/>
          <p:nvPr/>
        </p:nvSpPr>
        <p:spPr>
          <a:xfrm>
            <a:off x="7060870" y="395541"/>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任意多边形: 形状 10">
            <a:extLst>
              <a:ext uri="{FF2B5EF4-FFF2-40B4-BE49-F238E27FC236}">
                <a16:creationId xmlns:a16="http://schemas.microsoft.com/office/drawing/2014/main" id="{D82B8549-D20D-3A6B-00FF-9D6C46A2B909}"/>
              </a:ext>
            </a:extLst>
          </p:cNvPr>
          <p:cNvSpPr/>
          <p:nvPr/>
        </p:nvSpPr>
        <p:spPr>
          <a:xfrm>
            <a:off x="7060870" y="3166350"/>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ïṣlïḋe">
            <a:extLst>
              <a:ext uri="{FF2B5EF4-FFF2-40B4-BE49-F238E27FC236}">
                <a16:creationId xmlns:a16="http://schemas.microsoft.com/office/drawing/2014/main" id="{569A31C2-B322-588C-ED1F-524AB8D87D6E}"/>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9</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167866014"/>
      </p:ext>
    </p:extLst>
  </p:cSld>
  <p:clrMapOvr>
    <a:masterClrMapping/>
  </p:clrMapOvr>
  <p:transition advTm="29843">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843808"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05</a:t>
            </a:r>
          </a:p>
        </p:txBody>
      </p:sp>
      <p:sp>
        <p:nvSpPr>
          <p:cNvPr id="13" name="ïṣlïḋe"/>
          <p:cNvSpPr txBox="1"/>
          <p:nvPr/>
        </p:nvSpPr>
        <p:spPr>
          <a:xfrm>
            <a:off x="3275856"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创新点</a:t>
            </a:r>
          </a:p>
        </p:txBody>
      </p:sp>
    </p:spTree>
    <p:extLst>
      <p:ext uri="{BB962C8B-B14F-4D97-AF65-F5344CB8AC3E}">
        <p14:creationId xmlns:p14="http://schemas.microsoft.com/office/powerpoint/2010/main" val="3350923144"/>
      </p:ext>
    </p:extLst>
  </p:cSld>
  <p:clrMapOvr>
    <a:masterClrMapping/>
  </p:clrMapOvr>
  <p:transition advTm="7062">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961" y="267494"/>
            <a:ext cx="2904472" cy="369332"/>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创新点</a:t>
            </a:r>
          </a:p>
        </p:txBody>
      </p:sp>
      <p:pic>
        <p:nvPicPr>
          <p:cNvPr id="7" name="图形 6" descr="打开的书 纯色填充"/>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52320" y="1875098"/>
            <a:ext cx="1393304" cy="1393304"/>
          </a:xfrm>
          <a:prstGeom prst="rect">
            <a:avLst/>
          </a:prstGeom>
        </p:spPr>
      </p:pic>
      <p:sp>
        <p:nvSpPr>
          <p:cNvPr id="8"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10</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 name="矩形 2">
            <a:extLst>
              <a:ext uri="{FF2B5EF4-FFF2-40B4-BE49-F238E27FC236}">
                <a16:creationId xmlns:a16="http://schemas.microsoft.com/office/drawing/2014/main" id="{144F439A-212B-4462-AACA-793D6382FEEB}"/>
              </a:ext>
            </a:extLst>
          </p:cNvPr>
          <p:cNvSpPr/>
          <p:nvPr/>
        </p:nvSpPr>
        <p:spPr>
          <a:xfrm>
            <a:off x="1115616" y="1519690"/>
            <a:ext cx="6336704" cy="854819"/>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）基于结构因果模型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(SCM) </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的机理建模策略：通过构建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SCM</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，从物理层面精准定义“故障因果因子”与“工况非因果因子”，从根源上消除环境噪声带来的“虚假相关”。</a:t>
            </a:r>
            <a:endPar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DF025B0F-141B-8B6E-F780-ADA450FD4DBA}"/>
              </a:ext>
            </a:extLst>
          </p:cNvPr>
          <p:cNvSpPr/>
          <p:nvPr/>
        </p:nvSpPr>
        <p:spPr>
          <a:xfrm>
            <a:off x="1097939" y="2631175"/>
            <a:ext cx="6336704" cy="1080120"/>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面向未知工况的深度因果解耦域泛化架构</a:t>
            </a:r>
            <a:r>
              <a:rPr lang="zh-CN"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针对目标域数据完全不可见的极端场景，提出双编码器解耦网络与因果聚合损失，强制剥离工况干扰，实现对未知复杂工况的零样本直接泛化。</a:t>
            </a:r>
            <a:endParaRPr lang="zh-CN"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任意多边形: 形状 3">
            <a:extLst>
              <a:ext uri="{FF2B5EF4-FFF2-40B4-BE49-F238E27FC236}">
                <a16:creationId xmlns:a16="http://schemas.microsoft.com/office/drawing/2014/main" id="{D410E3B3-5D5C-0CBE-74F4-DE20316E9E71}"/>
              </a:ext>
            </a:extLst>
          </p:cNvPr>
          <p:cNvSpPr/>
          <p:nvPr/>
        </p:nvSpPr>
        <p:spPr>
          <a:xfrm>
            <a:off x="6874680" y="1272300"/>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任意多边形: 形状 5">
            <a:extLst>
              <a:ext uri="{FF2B5EF4-FFF2-40B4-BE49-F238E27FC236}">
                <a16:creationId xmlns:a16="http://schemas.microsoft.com/office/drawing/2014/main" id="{D9478E98-61C0-8E13-882B-10EBD7D66B7B}"/>
              </a:ext>
            </a:extLst>
          </p:cNvPr>
          <p:cNvSpPr/>
          <p:nvPr/>
        </p:nvSpPr>
        <p:spPr>
          <a:xfrm>
            <a:off x="6874680" y="2385538"/>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任意多边形: 形状 9">
            <a:extLst>
              <a:ext uri="{FF2B5EF4-FFF2-40B4-BE49-F238E27FC236}">
                <a16:creationId xmlns:a16="http://schemas.microsoft.com/office/drawing/2014/main" id="{2B447623-D2DD-E150-A7B3-8FA3C27DDD4A}"/>
              </a:ext>
            </a:extLst>
          </p:cNvPr>
          <p:cNvSpPr/>
          <p:nvPr/>
        </p:nvSpPr>
        <p:spPr>
          <a:xfrm>
            <a:off x="6874680" y="3720571"/>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0298031"/>
      </p:ext>
    </p:extLst>
  </p:cSld>
  <p:clrMapOvr>
    <a:masterClrMapping/>
  </p:clrMapOvr>
  <p:transition advTm="29843">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339752"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06</a:t>
            </a:r>
          </a:p>
        </p:txBody>
      </p:sp>
      <p:sp>
        <p:nvSpPr>
          <p:cNvPr id="13" name="ïṣlïḋe"/>
          <p:cNvSpPr txBox="1"/>
          <p:nvPr/>
        </p:nvSpPr>
        <p:spPr>
          <a:xfrm>
            <a:off x="2771800"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预期成果及进度安排</a:t>
            </a:r>
          </a:p>
        </p:txBody>
      </p:sp>
    </p:spTree>
    <p:extLst>
      <p:ext uri="{BB962C8B-B14F-4D97-AF65-F5344CB8AC3E}">
        <p14:creationId xmlns:p14="http://schemas.microsoft.com/office/powerpoint/2010/main" val="4172903448"/>
      </p:ext>
    </p:extLst>
  </p:cSld>
  <p:clrMapOvr>
    <a:masterClrMapping/>
  </p:clrMapOvr>
  <mc:AlternateContent xmlns:mc="http://schemas.openxmlformats.org/markup-compatibility/2006" xmlns:p14="http://schemas.microsoft.com/office/powerpoint/2010/main">
    <mc:Choice Requires="p14">
      <p:transition p14:dur="10" advTm="181"/>
    </mc:Choice>
    <mc:Fallback xmlns="">
      <p:transition advTm="18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7584" y="195486"/>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已取得成果和预计成果</a:t>
            </a:r>
          </a:p>
        </p:txBody>
      </p:sp>
      <p:sp>
        <p:nvSpPr>
          <p:cNvPr id="3" name="TextBox 12">
            <a:extLst>
              <a:ext uri="{FF2B5EF4-FFF2-40B4-BE49-F238E27FC236}">
                <a16:creationId xmlns:a16="http://schemas.microsoft.com/office/drawing/2014/main" id="{2214CCB4-025E-433C-9D36-05F7692011B6}"/>
              </a:ext>
            </a:extLst>
          </p:cNvPr>
          <p:cNvSpPr txBox="1">
            <a:spLocks noChangeArrowheads="1"/>
          </p:cNvSpPr>
          <p:nvPr/>
        </p:nvSpPr>
        <p:spPr bwMode="auto">
          <a:xfrm>
            <a:off x="5697693" y="2842442"/>
            <a:ext cx="29823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dirty="0">
                <a:latin typeface="Times New Roman" panose="02020603050405020304" pitchFamily="18" charset="0"/>
              </a:rPr>
              <a:t>公开发表一篇中文核心。</a:t>
            </a:r>
          </a:p>
        </p:txBody>
      </p:sp>
      <p:sp>
        <p:nvSpPr>
          <p:cNvPr id="4" name="TextBox 13">
            <a:extLst>
              <a:ext uri="{FF2B5EF4-FFF2-40B4-BE49-F238E27FC236}">
                <a16:creationId xmlns:a16="http://schemas.microsoft.com/office/drawing/2014/main" id="{A5E06084-ECD5-F477-75F1-6E7BC7C784AB}"/>
              </a:ext>
            </a:extLst>
          </p:cNvPr>
          <p:cNvSpPr txBox="1">
            <a:spLocks noChangeArrowheads="1"/>
          </p:cNvSpPr>
          <p:nvPr/>
        </p:nvSpPr>
        <p:spPr bwMode="auto">
          <a:xfrm>
            <a:off x="5594360" y="3631605"/>
            <a:ext cx="174646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dirty="0">
                <a:latin typeface="Times New Roman" panose="02020603050405020304" pitchFamily="18" charset="0"/>
              </a:rPr>
              <a:t>申请专利</a:t>
            </a:r>
            <a:r>
              <a:rPr lang="en-US" altLang="zh-CN" sz="2000" dirty="0">
                <a:latin typeface="Times New Roman" panose="02020603050405020304" pitchFamily="18" charset="0"/>
              </a:rPr>
              <a:t>1</a:t>
            </a:r>
            <a:r>
              <a:rPr lang="zh-CN" altLang="en-US" sz="2000" dirty="0">
                <a:latin typeface="Times New Roman" panose="02020603050405020304" pitchFamily="18" charset="0"/>
              </a:rPr>
              <a:t>项</a:t>
            </a:r>
          </a:p>
        </p:txBody>
      </p:sp>
      <p:pic>
        <p:nvPicPr>
          <p:cNvPr id="5" name="图形 4">
            <a:extLst>
              <a:ext uri="{FF2B5EF4-FFF2-40B4-BE49-F238E27FC236}">
                <a16:creationId xmlns:a16="http://schemas.microsoft.com/office/drawing/2014/main" id="{0515D069-0421-DEDF-CE69-9A461C3006F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12651" y="2790469"/>
            <a:ext cx="504056" cy="504056"/>
          </a:xfrm>
          <a:prstGeom prst="rect">
            <a:avLst/>
          </a:prstGeom>
        </p:spPr>
      </p:pic>
      <p:pic>
        <p:nvPicPr>
          <p:cNvPr id="6" name="图形 5">
            <a:extLst>
              <a:ext uri="{FF2B5EF4-FFF2-40B4-BE49-F238E27FC236}">
                <a16:creationId xmlns:a16="http://schemas.microsoft.com/office/drawing/2014/main" id="{50C80A95-2639-CC61-0CA0-F463CC525A7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565" y="3579602"/>
            <a:ext cx="504056" cy="504056"/>
          </a:xfrm>
          <a:prstGeom prst="rect">
            <a:avLst/>
          </a:prstGeom>
        </p:spPr>
      </p:pic>
      <p:sp>
        <p:nvSpPr>
          <p:cNvPr id="7"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11</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9" name="任意多边形: 形状 8">
            <a:extLst>
              <a:ext uri="{FF2B5EF4-FFF2-40B4-BE49-F238E27FC236}">
                <a16:creationId xmlns:a16="http://schemas.microsoft.com/office/drawing/2014/main" id="{14CF0A0E-8180-678D-F6F5-E54F7E417A3F}"/>
              </a:ext>
            </a:extLst>
          </p:cNvPr>
          <p:cNvSpPr/>
          <p:nvPr/>
        </p:nvSpPr>
        <p:spPr>
          <a:xfrm>
            <a:off x="3732056" y="2253311"/>
            <a:ext cx="1380595" cy="2202205"/>
          </a:xfrm>
          <a:custGeom>
            <a:avLst/>
            <a:gdLst>
              <a:gd name="T0" fmla="*/ 64 w 378"/>
              <a:gd name="T1" fmla="*/ 142 h 396"/>
              <a:gd name="T2" fmla="*/ 57 w 378"/>
              <a:gd name="T3" fmla="*/ 123 h 396"/>
              <a:gd name="T4" fmla="*/ 51 w 378"/>
              <a:gd name="T5" fmla="*/ 118 h 396"/>
              <a:gd name="T6" fmla="*/ 331 w 378"/>
              <a:gd name="T7" fmla="*/ 126 h 396"/>
              <a:gd name="T8" fmla="*/ 334 w 378"/>
              <a:gd name="T9" fmla="*/ 181 h 396"/>
              <a:gd name="T10" fmla="*/ 202 w 378"/>
              <a:gd name="T11" fmla="*/ 206 h 396"/>
              <a:gd name="T12" fmla="*/ 268 w 378"/>
              <a:gd name="T13" fmla="*/ 239 h 396"/>
              <a:gd name="T14" fmla="*/ 297 w 378"/>
              <a:gd name="T15" fmla="*/ 227 h 396"/>
              <a:gd name="T16" fmla="*/ 313 w 378"/>
              <a:gd name="T17" fmla="*/ 283 h 396"/>
              <a:gd name="T18" fmla="*/ 260 w 378"/>
              <a:gd name="T19" fmla="*/ 256 h 396"/>
              <a:gd name="T20" fmla="*/ 290 w 378"/>
              <a:gd name="T21" fmla="*/ 369 h 396"/>
              <a:gd name="T22" fmla="*/ 176 w 378"/>
              <a:gd name="T23" fmla="*/ 369 h 396"/>
              <a:gd name="T24" fmla="*/ 102 w 378"/>
              <a:gd name="T25" fmla="*/ 126 h 396"/>
              <a:gd name="T26" fmla="*/ 24 w 378"/>
              <a:gd name="T27" fmla="*/ 96 h 396"/>
              <a:gd name="T28" fmla="*/ 72 w 378"/>
              <a:gd name="T29" fmla="*/ 86 h 396"/>
              <a:gd name="T30" fmla="*/ 202 w 378"/>
              <a:gd name="T31" fmla="*/ 146 h 396"/>
              <a:gd name="T32" fmla="*/ 197 w 378"/>
              <a:gd name="T33" fmla="*/ 31 h 396"/>
              <a:gd name="T34" fmla="*/ 258 w 378"/>
              <a:gd name="T35" fmla="*/ 48 h 396"/>
              <a:gd name="T36" fmla="*/ 345 w 378"/>
              <a:gd name="T37" fmla="*/ 59 h 396"/>
              <a:gd name="T38" fmla="*/ 347 w 378"/>
              <a:gd name="T39" fmla="*/ 72 h 396"/>
              <a:gd name="T40" fmla="*/ 375 w 378"/>
              <a:gd name="T41" fmla="*/ 140 h 396"/>
              <a:gd name="T42" fmla="*/ 64 w 378"/>
              <a:gd name="T43" fmla="*/ 124 h 396"/>
              <a:gd name="T44" fmla="*/ 71 w 378"/>
              <a:gd name="T45" fmla="*/ 118 h 396"/>
              <a:gd name="T46" fmla="*/ 64 w 378"/>
              <a:gd name="T47" fmla="*/ 106 h 396"/>
              <a:gd name="T48" fmla="*/ 46 w 378"/>
              <a:gd name="T49" fmla="*/ 108 h 396"/>
              <a:gd name="T50" fmla="*/ 59 w 378"/>
              <a:gd name="T51" fmla="*/ 142 h 396"/>
              <a:gd name="T52" fmla="*/ 50 w 378"/>
              <a:gd name="T53" fmla="*/ 135 h 396"/>
              <a:gd name="T54" fmla="*/ 57 w 378"/>
              <a:gd name="T55" fmla="*/ 148 h 396"/>
              <a:gd name="T56" fmla="*/ 64 w 378"/>
              <a:gd name="T57" fmla="*/ 149 h 396"/>
              <a:gd name="T58" fmla="*/ 277 w 378"/>
              <a:gd name="T59" fmla="*/ 266 h 396"/>
              <a:gd name="T60" fmla="*/ 277 w 378"/>
              <a:gd name="T61" fmla="*/ 286 h 396"/>
              <a:gd name="T62" fmla="*/ 271 w 378"/>
              <a:gd name="T63" fmla="*/ 291 h 396"/>
              <a:gd name="T64" fmla="*/ 267 w 378"/>
              <a:gd name="T65" fmla="*/ 299 h 396"/>
              <a:gd name="T66" fmla="*/ 282 w 378"/>
              <a:gd name="T67" fmla="*/ 305 h 396"/>
              <a:gd name="T68" fmla="*/ 295 w 378"/>
              <a:gd name="T69" fmla="*/ 291 h 396"/>
              <a:gd name="T70" fmla="*/ 282 w 378"/>
              <a:gd name="T71" fmla="*/ 272 h 396"/>
              <a:gd name="T72" fmla="*/ 294 w 378"/>
              <a:gd name="T73" fmla="*/ 277 h 396"/>
              <a:gd name="T74" fmla="*/ 282 w 378"/>
              <a:gd name="T75" fmla="*/ 263 h 396"/>
              <a:gd name="T76" fmla="*/ 277 w 378"/>
              <a:gd name="T77" fmla="*/ 266 h 396"/>
              <a:gd name="T78" fmla="*/ 336 w 378"/>
              <a:gd name="T79" fmla="*/ 137 h 396"/>
              <a:gd name="T80" fmla="*/ 344 w 378"/>
              <a:gd name="T81" fmla="*/ 132 h 396"/>
              <a:gd name="T82" fmla="*/ 336 w 378"/>
              <a:gd name="T83" fmla="*/ 119 h 396"/>
              <a:gd name="T84" fmla="*/ 319 w 378"/>
              <a:gd name="T85" fmla="*/ 122 h 396"/>
              <a:gd name="T86" fmla="*/ 331 w 378"/>
              <a:gd name="T87" fmla="*/ 156 h 396"/>
              <a:gd name="T88" fmla="*/ 323 w 378"/>
              <a:gd name="T89" fmla="*/ 148 h 396"/>
              <a:gd name="T90" fmla="*/ 330 w 378"/>
              <a:gd name="T91" fmla="*/ 162 h 396"/>
              <a:gd name="T92" fmla="*/ 336 w 378"/>
              <a:gd name="T93" fmla="*/ 162 h 396"/>
              <a:gd name="T94" fmla="*/ 336 w 378"/>
              <a:gd name="T95" fmla="*/ 144 h 396"/>
              <a:gd name="T96" fmla="*/ 343 w 378"/>
              <a:gd name="T97" fmla="*/ 145 h 396"/>
              <a:gd name="T98" fmla="*/ 277 w 378"/>
              <a:gd name="T99" fmla="*/ 272 h 396"/>
              <a:gd name="T100" fmla="*/ 288 w 378"/>
              <a:gd name="T101" fmla="*/ 291 h 396"/>
              <a:gd name="T102" fmla="*/ 282 w 378"/>
              <a:gd name="T103" fmla="*/ 29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8" h="396">
                <a:moveTo>
                  <a:pt x="70" y="131"/>
                </a:moveTo>
                <a:cubicBezTo>
                  <a:pt x="72" y="132"/>
                  <a:pt x="72" y="134"/>
                  <a:pt x="72" y="136"/>
                </a:cubicBezTo>
                <a:cubicBezTo>
                  <a:pt x="72" y="140"/>
                  <a:pt x="70" y="142"/>
                  <a:pt x="65" y="142"/>
                </a:cubicBezTo>
                <a:lnTo>
                  <a:pt x="64" y="142"/>
                </a:lnTo>
                <a:lnTo>
                  <a:pt x="64" y="130"/>
                </a:lnTo>
                <a:cubicBezTo>
                  <a:pt x="67" y="130"/>
                  <a:pt x="69" y="131"/>
                  <a:pt x="70" y="131"/>
                </a:cubicBezTo>
                <a:close/>
                <a:moveTo>
                  <a:pt x="51" y="118"/>
                </a:moveTo>
                <a:cubicBezTo>
                  <a:pt x="51" y="121"/>
                  <a:pt x="53" y="123"/>
                  <a:pt x="57" y="123"/>
                </a:cubicBezTo>
                <a:cubicBezTo>
                  <a:pt x="57" y="123"/>
                  <a:pt x="58" y="123"/>
                  <a:pt x="59" y="123"/>
                </a:cubicBezTo>
                <a:lnTo>
                  <a:pt x="59" y="112"/>
                </a:lnTo>
                <a:lnTo>
                  <a:pt x="57" y="112"/>
                </a:lnTo>
                <a:cubicBezTo>
                  <a:pt x="53" y="112"/>
                  <a:pt x="51" y="114"/>
                  <a:pt x="51" y="118"/>
                </a:cubicBezTo>
                <a:close/>
                <a:moveTo>
                  <a:pt x="323" y="131"/>
                </a:moveTo>
                <a:cubicBezTo>
                  <a:pt x="323" y="135"/>
                  <a:pt x="326" y="137"/>
                  <a:pt x="330" y="137"/>
                </a:cubicBezTo>
                <a:cubicBezTo>
                  <a:pt x="330" y="137"/>
                  <a:pt x="331" y="137"/>
                  <a:pt x="331" y="137"/>
                </a:cubicBezTo>
                <a:lnTo>
                  <a:pt x="331" y="126"/>
                </a:lnTo>
                <a:lnTo>
                  <a:pt x="330" y="126"/>
                </a:lnTo>
                <a:cubicBezTo>
                  <a:pt x="326" y="126"/>
                  <a:pt x="323" y="128"/>
                  <a:pt x="323" y="131"/>
                </a:cubicBezTo>
                <a:close/>
                <a:moveTo>
                  <a:pt x="375" y="140"/>
                </a:moveTo>
                <a:cubicBezTo>
                  <a:pt x="375" y="162"/>
                  <a:pt x="357" y="181"/>
                  <a:pt x="334" y="181"/>
                </a:cubicBezTo>
                <a:cubicBezTo>
                  <a:pt x="311" y="181"/>
                  <a:pt x="293" y="162"/>
                  <a:pt x="293" y="140"/>
                </a:cubicBezTo>
                <a:cubicBezTo>
                  <a:pt x="293" y="124"/>
                  <a:pt x="301" y="111"/>
                  <a:pt x="313" y="104"/>
                </a:cubicBezTo>
                <a:lnTo>
                  <a:pt x="308" y="97"/>
                </a:lnTo>
                <a:lnTo>
                  <a:pt x="202" y="206"/>
                </a:lnTo>
                <a:lnTo>
                  <a:pt x="202" y="249"/>
                </a:lnTo>
                <a:lnTo>
                  <a:pt x="272" y="205"/>
                </a:lnTo>
                <a:lnTo>
                  <a:pt x="286" y="228"/>
                </a:lnTo>
                <a:lnTo>
                  <a:pt x="268" y="239"/>
                </a:lnTo>
                <a:lnTo>
                  <a:pt x="272" y="250"/>
                </a:lnTo>
                <a:cubicBezTo>
                  <a:pt x="274" y="250"/>
                  <a:pt x="277" y="249"/>
                  <a:pt x="280" y="249"/>
                </a:cubicBezTo>
                <a:cubicBezTo>
                  <a:pt x="281" y="249"/>
                  <a:pt x="282" y="250"/>
                  <a:pt x="283" y="250"/>
                </a:cubicBezTo>
                <a:cubicBezTo>
                  <a:pt x="285" y="244"/>
                  <a:pt x="288" y="232"/>
                  <a:pt x="297" y="227"/>
                </a:cubicBezTo>
                <a:cubicBezTo>
                  <a:pt x="309" y="220"/>
                  <a:pt x="327" y="227"/>
                  <a:pt x="327" y="227"/>
                </a:cubicBezTo>
                <a:cubicBezTo>
                  <a:pt x="327" y="227"/>
                  <a:pt x="325" y="246"/>
                  <a:pt x="313" y="253"/>
                </a:cubicBezTo>
                <a:cubicBezTo>
                  <a:pt x="309" y="256"/>
                  <a:pt x="304" y="256"/>
                  <a:pt x="300" y="257"/>
                </a:cubicBezTo>
                <a:cubicBezTo>
                  <a:pt x="308" y="263"/>
                  <a:pt x="313" y="272"/>
                  <a:pt x="313" y="283"/>
                </a:cubicBezTo>
                <a:cubicBezTo>
                  <a:pt x="313" y="301"/>
                  <a:pt x="298" y="316"/>
                  <a:pt x="280" y="316"/>
                </a:cubicBezTo>
                <a:cubicBezTo>
                  <a:pt x="261" y="316"/>
                  <a:pt x="246" y="301"/>
                  <a:pt x="246" y="283"/>
                </a:cubicBezTo>
                <a:cubicBezTo>
                  <a:pt x="246" y="272"/>
                  <a:pt x="252" y="262"/>
                  <a:pt x="260" y="256"/>
                </a:cubicBezTo>
                <a:lnTo>
                  <a:pt x="260" y="256"/>
                </a:lnTo>
                <a:lnTo>
                  <a:pt x="256" y="247"/>
                </a:lnTo>
                <a:lnTo>
                  <a:pt x="202" y="281"/>
                </a:lnTo>
                <a:lnTo>
                  <a:pt x="202" y="369"/>
                </a:lnTo>
                <a:lnTo>
                  <a:pt x="290" y="369"/>
                </a:lnTo>
                <a:lnTo>
                  <a:pt x="290" y="396"/>
                </a:lnTo>
                <a:lnTo>
                  <a:pt x="84" y="396"/>
                </a:lnTo>
                <a:lnTo>
                  <a:pt x="84" y="369"/>
                </a:lnTo>
                <a:lnTo>
                  <a:pt x="176" y="369"/>
                </a:lnTo>
                <a:lnTo>
                  <a:pt x="176" y="158"/>
                </a:lnTo>
                <a:lnTo>
                  <a:pt x="94" y="80"/>
                </a:lnTo>
                <a:lnTo>
                  <a:pt x="84" y="92"/>
                </a:lnTo>
                <a:cubicBezTo>
                  <a:pt x="95" y="99"/>
                  <a:pt x="102" y="112"/>
                  <a:pt x="102" y="126"/>
                </a:cubicBezTo>
                <a:cubicBezTo>
                  <a:pt x="102" y="149"/>
                  <a:pt x="84" y="167"/>
                  <a:pt x="61" y="167"/>
                </a:cubicBezTo>
                <a:cubicBezTo>
                  <a:pt x="38" y="167"/>
                  <a:pt x="20" y="149"/>
                  <a:pt x="20" y="126"/>
                </a:cubicBezTo>
                <a:cubicBezTo>
                  <a:pt x="20" y="115"/>
                  <a:pt x="24" y="105"/>
                  <a:pt x="32" y="97"/>
                </a:cubicBezTo>
                <a:cubicBezTo>
                  <a:pt x="29" y="97"/>
                  <a:pt x="26" y="97"/>
                  <a:pt x="24" y="96"/>
                </a:cubicBezTo>
                <a:cubicBezTo>
                  <a:pt x="7" y="88"/>
                  <a:pt x="0" y="64"/>
                  <a:pt x="0" y="64"/>
                </a:cubicBezTo>
                <a:cubicBezTo>
                  <a:pt x="0" y="64"/>
                  <a:pt x="22" y="51"/>
                  <a:pt x="40" y="59"/>
                </a:cubicBezTo>
                <a:cubicBezTo>
                  <a:pt x="52" y="64"/>
                  <a:pt x="58" y="77"/>
                  <a:pt x="61" y="85"/>
                </a:cubicBezTo>
                <a:cubicBezTo>
                  <a:pt x="65" y="85"/>
                  <a:pt x="68" y="85"/>
                  <a:pt x="72" y="86"/>
                </a:cubicBezTo>
                <a:lnTo>
                  <a:pt x="84" y="71"/>
                </a:lnTo>
                <a:lnTo>
                  <a:pt x="42" y="32"/>
                </a:lnTo>
                <a:lnTo>
                  <a:pt x="61" y="13"/>
                </a:lnTo>
                <a:lnTo>
                  <a:pt x="202" y="146"/>
                </a:lnTo>
                <a:lnTo>
                  <a:pt x="202" y="168"/>
                </a:lnTo>
                <a:lnTo>
                  <a:pt x="257" y="111"/>
                </a:lnTo>
                <a:lnTo>
                  <a:pt x="181" y="52"/>
                </a:lnTo>
                <a:lnTo>
                  <a:pt x="197" y="31"/>
                </a:lnTo>
                <a:lnTo>
                  <a:pt x="212" y="43"/>
                </a:lnTo>
                <a:cubicBezTo>
                  <a:pt x="217" y="34"/>
                  <a:pt x="224" y="21"/>
                  <a:pt x="237" y="13"/>
                </a:cubicBezTo>
                <a:cubicBezTo>
                  <a:pt x="259" y="0"/>
                  <a:pt x="287" y="7"/>
                  <a:pt x="287" y="7"/>
                </a:cubicBezTo>
                <a:cubicBezTo>
                  <a:pt x="287" y="7"/>
                  <a:pt x="280" y="35"/>
                  <a:pt x="258" y="48"/>
                </a:cubicBezTo>
                <a:cubicBezTo>
                  <a:pt x="248" y="53"/>
                  <a:pt x="238" y="55"/>
                  <a:pt x="229" y="55"/>
                </a:cubicBezTo>
                <a:lnTo>
                  <a:pt x="276" y="92"/>
                </a:lnTo>
                <a:lnTo>
                  <a:pt x="326" y="40"/>
                </a:lnTo>
                <a:lnTo>
                  <a:pt x="345" y="59"/>
                </a:lnTo>
                <a:lnTo>
                  <a:pt x="317" y="88"/>
                </a:lnTo>
                <a:lnTo>
                  <a:pt x="327" y="99"/>
                </a:lnTo>
                <a:cubicBezTo>
                  <a:pt x="328" y="99"/>
                  <a:pt x="330" y="99"/>
                  <a:pt x="332" y="99"/>
                </a:cubicBezTo>
                <a:cubicBezTo>
                  <a:pt x="332" y="94"/>
                  <a:pt x="336" y="79"/>
                  <a:pt x="347" y="72"/>
                </a:cubicBezTo>
                <a:cubicBezTo>
                  <a:pt x="360" y="64"/>
                  <a:pt x="378" y="72"/>
                  <a:pt x="378" y="72"/>
                </a:cubicBezTo>
                <a:cubicBezTo>
                  <a:pt x="378" y="72"/>
                  <a:pt x="376" y="92"/>
                  <a:pt x="363" y="100"/>
                </a:cubicBezTo>
                <a:cubicBezTo>
                  <a:pt x="360" y="102"/>
                  <a:pt x="356" y="103"/>
                  <a:pt x="352" y="103"/>
                </a:cubicBezTo>
                <a:cubicBezTo>
                  <a:pt x="366" y="110"/>
                  <a:pt x="375" y="123"/>
                  <a:pt x="375" y="140"/>
                </a:cubicBezTo>
                <a:close/>
                <a:moveTo>
                  <a:pt x="80" y="136"/>
                </a:moveTo>
                <a:cubicBezTo>
                  <a:pt x="80" y="131"/>
                  <a:pt x="79" y="128"/>
                  <a:pt x="77" y="127"/>
                </a:cubicBezTo>
                <a:cubicBezTo>
                  <a:pt x="75" y="125"/>
                  <a:pt x="71" y="124"/>
                  <a:pt x="65" y="124"/>
                </a:cubicBezTo>
                <a:lnTo>
                  <a:pt x="64" y="124"/>
                </a:lnTo>
                <a:lnTo>
                  <a:pt x="64" y="112"/>
                </a:lnTo>
                <a:lnTo>
                  <a:pt x="65" y="112"/>
                </a:lnTo>
                <a:cubicBezTo>
                  <a:pt x="69" y="112"/>
                  <a:pt x="71" y="114"/>
                  <a:pt x="71" y="117"/>
                </a:cubicBezTo>
                <a:lnTo>
                  <a:pt x="71" y="118"/>
                </a:lnTo>
                <a:lnTo>
                  <a:pt x="78" y="118"/>
                </a:lnTo>
                <a:lnTo>
                  <a:pt x="78" y="117"/>
                </a:lnTo>
                <a:cubicBezTo>
                  <a:pt x="78" y="113"/>
                  <a:pt x="77" y="110"/>
                  <a:pt x="75" y="108"/>
                </a:cubicBezTo>
                <a:cubicBezTo>
                  <a:pt x="73" y="106"/>
                  <a:pt x="69" y="106"/>
                  <a:pt x="64" y="106"/>
                </a:cubicBezTo>
                <a:lnTo>
                  <a:pt x="64" y="101"/>
                </a:lnTo>
                <a:lnTo>
                  <a:pt x="59" y="101"/>
                </a:lnTo>
                <a:lnTo>
                  <a:pt x="59" y="106"/>
                </a:lnTo>
                <a:cubicBezTo>
                  <a:pt x="53" y="106"/>
                  <a:pt x="49" y="106"/>
                  <a:pt x="46" y="108"/>
                </a:cubicBezTo>
                <a:cubicBezTo>
                  <a:pt x="44" y="110"/>
                  <a:pt x="43" y="113"/>
                  <a:pt x="43" y="118"/>
                </a:cubicBezTo>
                <a:cubicBezTo>
                  <a:pt x="43" y="122"/>
                  <a:pt x="44" y="126"/>
                  <a:pt x="46" y="127"/>
                </a:cubicBezTo>
                <a:cubicBezTo>
                  <a:pt x="49" y="129"/>
                  <a:pt x="53" y="130"/>
                  <a:pt x="59" y="130"/>
                </a:cubicBezTo>
                <a:lnTo>
                  <a:pt x="59" y="142"/>
                </a:lnTo>
                <a:lnTo>
                  <a:pt x="57" y="142"/>
                </a:lnTo>
                <a:cubicBezTo>
                  <a:pt x="54" y="142"/>
                  <a:pt x="52" y="142"/>
                  <a:pt x="52" y="141"/>
                </a:cubicBezTo>
                <a:cubicBezTo>
                  <a:pt x="51" y="140"/>
                  <a:pt x="50" y="138"/>
                  <a:pt x="50" y="135"/>
                </a:cubicBezTo>
                <a:lnTo>
                  <a:pt x="50" y="135"/>
                </a:lnTo>
                <a:lnTo>
                  <a:pt x="43" y="135"/>
                </a:lnTo>
                <a:lnTo>
                  <a:pt x="43" y="136"/>
                </a:lnTo>
                <a:cubicBezTo>
                  <a:pt x="43" y="141"/>
                  <a:pt x="44" y="144"/>
                  <a:pt x="46" y="146"/>
                </a:cubicBezTo>
                <a:cubicBezTo>
                  <a:pt x="48" y="148"/>
                  <a:pt x="52" y="148"/>
                  <a:pt x="57" y="148"/>
                </a:cubicBezTo>
                <a:lnTo>
                  <a:pt x="59" y="149"/>
                </a:lnTo>
                <a:lnTo>
                  <a:pt x="59" y="154"/>
                </a:lnTo>
                <a:lnTo>
                  <a:pt x="64" y="154"/>
                </a:lnTo>
                <a:lnTo>
                  <a:pt x="64" y="149"/>
                </a:lnTo>
                <a:lnTo>
                  <a:pt x="65" y="149"/>
                </a:lnTo>
                <a:cubicBezTo>
                  <a:pt x="71" y="149"/>
                  <a:pt x="74" y="148"/>
                  <a:pt x="77" y="146"/>
                </a:cubicBezTo>
                <a:cubicBezTo>
                  <a:pt x="79" y="144"/>
                  <a:pt x="80" y="140"/>
                  <a:pt x="80" y="136"/>
                </a:cubicBezTo>
                <a:close/>
                <a:moveTo>
                  <a:pt x="277" y="266"/>
                </a:moveTo>
                <a:cubicBezTo>
                  <a:pt x="273" y="266"/>
                  <a:pt x="269" y="267"/>
                  <a:pt x="268" y="268"/>
                </a:cubicBezTo>
                <a:cubicBezTo>
                  <a:pt x="266" y="270"/>
                  <a:pt x="265" y="272"/>
                  <a:pt x="265" y="276"/>
                </a:cubicBezTo>
                <a:cubicBezTo>
                  <a:pt x="265" y="280"/>
                  <a:pt x="266" y="283"/>
                  <a:pt x="267" y="284"/>
                </a:cubicBezTo>
                <a:cubicBezTo>
                  <a:pt x="269" y="285"/>
                  <a:pt x="273" y="286"/>
                  <a:pt x="277" y="286"/>
                </a:cubicBezTo>
                <a:lnTo>
                  <a:pt x="277" y="296"/>
                </a:lnTo>
                <a:lnTo>
                  <a:pt x="277" y="296"/>
                </a:lnTo>
                <a:cubicBezTo>
                  <a:pt x="274" y="296"/>
                  <a:pt x="272" y="296"/>
                  <a:pt x="272" y="295"/>
                </a:cubicBezTo>
                <a:cubicBezTo>
                  <a:pt x="271" y="294"/>
                  <a:pt x="271" y="293"/>
                  <a:pt x="271" y="291"/>
                </a:cubicBezTo>
                <a:lnTo>
                  <a:pt x="271" y="290"/>
                </a:lnTo>
                <a:lnTo>
                  <a:pt x="265" y="290"/>
                </a:lnTo>
                <a:lnTo>
                  <a:pt x="264" y="291"/>
                </a:lnTo>
                <a:cubicBezTo>
                  <a:pt x="264" y="295"/>
                  <a:pt x="265" y="298"/>
                  <a:pt x="267" y="299"/>
                </a:cubicBezTo>
                <a:cubicBezTo>
                  <a:pt x="269" y="300"/>
                  <a:pt x="272" y="301"/>
                  <a:pt x="276" y="301"/>
                </a:cubicBezTo>
                <a:lnTo>
                  <a:pt x="277" y="301"/>
                </a:lnTo>
                <a:lnTo>
                  <a:pt x="277" y="305"/>
                </a:lnTo>
                <a:lnTo>
                  <a:pt x="282" y="305"/>
                </a:lnTo>
                <a:lnTo>
                  <a:pt x="282" y="301"/>
                </a:lnTo>
                <a:lnTo>
                  <a:pt x="283" y="301"/>
                </a:lnTo>
                <a:cubicBezTo>
                  <a:pt x="287" y="301"/>
                  <a:pt x="290" y="300"/>
                  <a:pt x="292" y="299"/>
                </a:cubicBezTo>
                <a:cubicBezTo>
                  <a:pt x="294" y="297"/>
                  <a:pt x="295" y="295"/>
                  <a:pt x="295" y="291"/>
                </a:cubicBezTo>
                <a:cubicBezTo>
                  <a:pt x="295" y="287"/>
                  <a:pt x="294" y="285"/>
                  <a:pt x="292" y="283"/>
                </a:cubicBezTo>
                <a:cubicBezTo>
                  <a:pt x="291" y="282"/>
                  <a:pt x="288" y="281"/>
                  <a:pt x="283" y="281"/>
                </a:cubicBezTo>
                <a:lnTo>
                  <a:pt x="282" y="281"/>
                </a:lnTo>
                <a:lnTo>
                  <a:pt x="282" y="272"/>
                </a:lnTo>
                <a:lnTo>
                  <a:pt x="283" y="272"/>
                </a:lnTo>
                <a:cubicBezTo>
                  <a:pt x="286" y="272"/>
                  <a:pt x="288" y="273"/>
                  <a:pt x="288" y="276"/>
                </a:cubicBezTo>
                <a:lnTo>
                  <a:pt x="288" y="277"/>
                </a:lnTo>
                <a:lnTo>
                  <a:pt x="294" y="277"/>
                </a:lnTo>
                <a:lnTo>
                  <a:pt x="294" y="276"/>
                </a:lnTo>
                <a:cubicBezTo>
                  <a:pt x="294" y="272"/>
                  <a:pt x="293" y="270"/>
                  <a:pt x="291" y="268"/>
                </a:cubicBezTo>
                <a:cubicBezTo>
                  <a:pt x="289" y="267"/>
                  <a:pt x="286" y="266"/>
                  <a:pt x="282" y="266"/>
                </a:cubicBezTo>
                <a:lnTo>
                  <a:pt x="282" y="263"/>
                </a:lnTo>
                <a:lnTo>
                  <a:pt x="277" y="263"/>
                </a:lnTo>
                <a:lnTo>
                  <a:pt x="277" y="266"/>
                </a:lnTo>
                <a:lnTo>
                  <a:pt x="277" y="266"/>
                </a:lnTo>
                <a:lnTo>
                  <a:pt x="277" y="266"/>
                </a:lnTo>
                <a:close/>
                <a:moveTo>
                  <a:pt x="352" y="149"/>
                </a:moveTo>
                <a:cubicBezTo>
                  <a:pt x="352" y="145"/>
                  <a:pt x="351" y="142"/>
                  <a:pt x="349" y="140"/>
                </a:cubicBezTo>
                <a:cubicBezTo>
                  <a:pt x="347" y="139"/>
                  <a:pt x="344" y="138"/>
                  <a:pt x="338" y="137"/>
                </a:cubicBezTo>
                <a:lnTo>
                  <a:pt x="336" y="137"/>
                </a:lnTo>
                <a:lnTo>
                  <a:pt x="336" y="126"/>
                </a:lnTo>
                <a:lnTo>
                  <a:pt x="338" y="126"/>
                </a:lnTo>
                <a:cubicBezTo>
                  <a:pt x="342" y="126"/>
                  <a:pt x="344" y="128"/>
                  <a:pt x="344" y="131"/>
                </a:cubicBezTo>
                <a:lnTo>
                  <a:pt x="344" y="132"/>
                </a:lnTo>
                <a:lnTo>
                  <a:pt x="351" y="132"/>
                </a:lnTo>
                <a:lnTo>
                  <a:pt x="351" y="131"/>
                </a:lnTo>
                <a:cubicBezTo>
                  <a:pt x="351" y="126"/>
                  <a:pt x="350" y="123"/>
                  <a:pt x="348" y="122"/>
                </a:cubicBezTo>
                <a:cubicBezTo>
                  <a:pt x="346" y="120"/>
                  <a:pt x="342" y="119"/>
                  <a:pt x="336" y="119"/>
                </a:cubicBezTo>
                <a:lnTo>
                  <a:pt x="336" y="115"/>
                </a:lnTo>
                <a:lnTo>
                  <a:pt x="331" y="115"/>
                </a:lnTo>
                <a:lnTo>
                  <a:pt x="331" y="119"/>
                </a:lnTo>
                <a:cubicBezTo>
                  <a:pt x="325" y="119"/>
                  <a:pt x="321" y="120"/>
                  <a:pt x="319" y="122"/>
                </a:cubicBezTo>
                <a:cubicBezTo>
                  <a:pt x="317" y="123"/>
                  <a:pt x="316" y="127"/>
                  <a:pt x="316" y="131"/>
                </a:cubicBezTo>
                <a:cubicBezTo>
                  <a:pt x="316" y="136"/>
                  <a:pt x="317" y="139"/>
                  <a:pt x="319" y="141"/>
                </a:cubicBezTo>
                <a:cubicBezTo>
                  <a:pt x="321" y="143"/>
                  <a:pt x="325" y="143"/>
                  <a:pt x="331" y="143"/>
                </a:cubicBezTo>
                <a:lnTo>
                  <a:pt x="331" y="156"/>
                </a:lnTo>
                <a:lnTo>
                  <a:pt x="330" y="156"/>
                </a:lnTo>
                <a:cubicBezTo>
                  <a:pt x="327" y="156"/>
                  <a:pt x="325" y="155"/>
                  <a:pt x="324" y="154"/>
                </a:cubicBezTo>
                <a:cubicBezTo>
                  <a:pt x="323" y="154"/>
                  <a:pt x="323" y="152"/>
                  <a:pt x="323" y="149"/>
                </a:cubicBezTo>
                <a:lnTo>
                  <a:pt x="323" y="148"/>
                </a:lnTo>
                <a:lnTo>
                  <a:pt x="315" y="148"/>
                </a:lnTo>
                <a:lnTo>
                  <a:pt x="315" y="150"/>
                </a:lnTo>
                <a:cubicBezTo>
                  <a:pt x="315" y="154"/>
                  <a:pt x="316" y="158"/>
                  <a:pt x="319" y="159"/>
                </a:cubicBezTo>
                <a:cubicBezTo>
                  <a:pt x="321" y="161"/>
                  <a:pt x="325" y="162"/>
                  <a:pt x="330" y="162"/>
                </a:cubicBezTo>
                <a:lnTo>
                  <a:pt x="331" y="162"/>
                </a:lnTo>
                <a:lnTo>
                  <a:pt x="331" y="167"/>
                </a:lnTo>
                <a:lnTo>
                  <a:pt x="336" y="167"/>
                </a:lnTo>
                <a:lnTo>
                  <a:pt x="336" y="162"/>
                </a:lnTo>
                <a:lnTo>
                  <a:pt x="338" y="162"/>
                </a:lnTo>
                <a:cubicBezTo>
                  <a:pt x="343" y="162"/>
                  <a:pt x="347" y="161"/>
                  <a:pt x="349" y="159"/>
                </a:cubicBezTo>
                <a:cubicBezTo>
                  <a:pt x="351" y="157"/>
                  <a:pt x="352" y="154"/>
                  <a:pt x="352" y="149"/>
                </a:cubicBezTo>
                <a:close/>
                <a:moveTo>
                  <a:pt x="336" y="144"/>
                </a:moveTo>
                <a:lnTo>
                  <a:pt x="336" y="156"/>
                </a:lnTo>
                <a:lnTo>
                  <a:pt x="337" y="156"/>
                </a:lnTo>
                <a:cubicBezTo>
                  <a:pt x="342" y="156"/>
                  <a:pt x="345" y="154"/>
                  <a:pt x="345" y="149"/>
                </a:cubicBezTo>
                <a:cubicBezTo>
                  <a:pt x="345" y="147"/>
                  <a:pt x="344" y="146"/>
                  <a:pt x="343" y="145"/>
                </a:cubicBezTo>
                <a:cubicBezTo>
                  <a:pt x="342" y="144"/>
                  <a:pt x="340" y="144"/>
                  <a:pt x="336" y="144"/>
                </a:cubicBezTo>
                <a:close/>
                <a:moveTo>
                  <a:pt x="277" y="281"/>
                </a:moveTo>
                <a:cubicBezTo>
                  <a:pt x="277" y="281"/>
                  <a:pt x="277" y="281"/>
                  <a:pt x="277" y="281"/>
                </a:cubicBezTo>
                <a:lnTo>
                  <a:pt x="277" y="272"/>
                </a:lnTo>
                <a:lnTo>
                  <a:pt x="277" y="272"/>
                </a:lnTo>
                <a:cubicBezTo>
                  <a:pt x="273" y="272"/>
                  <a:pt x="271" y="273"/>
                  <a:pt x="271" y="276"/>
                </a:cubicBezTo>
                <a:cubicBezTo>
                  <a:pt x="271" y="279"/>
                  <a:pt x="273" y="281"/>
                  <a:pt x="277" y="281"/>
                </a:cubicBezTo>
                <a:close/>
                <a:moveTo>
                  <a:pt x="288" y="291"/>
                </a:moveTo>
                <a:cubicBezTo>
                  <a:pt x="288" y="289"/>
                  <a:pt x="288" y="288"/>
                  <a:pt x="287" y="287"/>
                </a:cubicBezTo>
                <a:cubicBezTo>
                  <a:pt x="286" y="287"/>
                  <a:pt x="284" y="286"/>
                  <a:pt x="282" y="286"/>
                </a:cubicBezTo>
                <a:lnTo>
                  <a:pt x="282" y="296"/>
                </a:lnTo>
                <a:lnTo>
                  <a:pt x="282" y="296"/>
                </a:lnTo>
                <a:cubicBezTo>
                  <a:pt x="286" y="296"/>
                  <a:pt x="288" y="294"/>
                  <a:pt x="288" y="29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2">
            <a:extLst>
              <a:ext uri="{FF2B5EF4-FFF2-40B4-BE49-F238E27FC236}">
                <a16:creationId xmlns:a16="http://schemas.microsoft.com/office/drawing/2014/main" id="{1158B941-5E1A-6FBB-8867-EEBEE6288C8F}"/>
              </a:ext>
            </a:extLst>
          </p:cNvPr>
          <p:cNvSpPr txBox="1">
            <a:spLocks noChangeArrowheads="1"/>
          </p:cNvSpPr>
          <p:nvPr/>
        </p:nvSpPr>
        <p:spPr bwMode="auto">
          <a:xfrm>
            <a:off x="442614" y="2790439"/>
            <a:ext cx="29044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dirty="0">
                <a:latin typeface="Times New Roman" panose="02020603050405020304" pitchFamily="18" charset="0"/>
              </a:rPr>
              <a:t>公开发表一篇</a:t>
            </a:r>
            <a:r>
              <a:rPr lang="en-US" altLang="zh-CN" sz="2000" dirty="0">
                <a:latin typeface="Times New Roman" panose="02020603050405020304" pitchFamily="18" charset="0"/>
              </a:rPr>
              <a:t>SCI</a:t>
            </a:r>
            <a:r>
              <a:rPr lang="zh-CN" altLang="en-US" sz="2000" dirty="0">
                <a:latin typeface="Times New Roman" panose="02020603050405020304" pitchFamily="18" charset="0"/>
              </a:rPr>
              <a:t>论文。</a:t>
            </a:r>
          </a:p>
        </p:txBody>
      </p:sp>
      <p:pic>
        <p:nvPicPr>
          <p:cNvPr id="11" name="图形 10">
            <a:extLst>
              <a:ext uri="{FF2B5EF4-FFF2-40B4-BE49-F238E27FC236}">
                <a16:creationId xmlns:a16="http://schemas.microsoft.com/office/drawing/2014/main" id="{252DBDE9-1C67-FDCB-37CF-31EB8B0DCF7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50347" y="2738466"/>
            <a:ext cx="504056" cy="504056"/>
          </a:xfrm>
          <a:prstGeom prst="rect">
            <a:avLst/>
          </a:prstGeom>
        </p:spPr>
      </p:pic>
      <p:sp>
        <p:nvSpPr>
          <p:cNvPr id="8" name="矩形 7">
            <a:extLst>
              <a:ext uri="{FF2B5EF4-FFF2-40B4-BE49-F238E27FC236}">
                <a16:creationId xmlns:a16="http://schemas.microsoft.com/office/drawing/2014/main" id="{2B406485-D453-9B4F-1A77-C0A346F44A3C}"/>
              </a:ext>
            </a:extLst>
          </p:cNvPr>
          <p:cNvSpPr/>
          <p:nvPr/>
        </p:nvSpPr>
        <p:spPr>
          <a:xfrm>
            <a:off x="520475" y="932676"/>
            <a:ext cx="8159598" cy="856567"/>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endParaRPr lang="en-US" altLang="zh-CN" sz="1400" b="0" i="0" dirty="0">
              <a:solidFill>
                <a:srgbClr val="222222"/>
              </a:solidFill>
              <a:effectLst/>
              <a:latin typeface="Times New Roman" panose="02020603050405020304" pitchFamily="18" charset="0"/>
              <a:cs typeface="Times New Roman" panose="02020603050405020304" pitchFamily="18" charset="0"/>
            </a:endParaRPr>
          </a:p>
          <a:p>
            <a:pPr algn="just">
              <a:spcAft>
                <a:spcPts val="800"/>
              </a:spcAft>
            </a:pPr>
            <a:r>
              <a:rPr lang="de-DE" altLang="zh-CN" sz="1400" b="0" i="0" dirty="0">
                <a:solidFill>
                  <a:srgbClr val="222222"/>
                </a:solidFill>
                <a:effectLst/>
                <a:latin typeface="Times New Roman" panose="02020603050405020304" pitchFamily="18" charset="0"/>
                <a:cs typeface="Times New Roman" panose="02020603050405020304" pitchFamily="18" charset="0"/>
              </a:rPr>
              <a:t>Q</a:t>
            </a:r>
            <a:r>
              <a:rPr lang="en-US" altLang="zh-CN" sz="1400" b="0" i="0" dirty="0" err="1">
                <a:solidFill>
                  <a:srgbClr val="222222"/>
                </a:solidFill>
                <a:effectLst/>
                <a:latin typeface="Times New Roman" panose="02020603050405020304" pitchFamily="18" charset="0"/>
                <a:cs typeface="Times New Roman" panose="02020603050405020304" pitchFamily="18" charset="0"/>
              </a:rPr>
              <a:t>iang</a:t>
            </a:r>
            <a:r>
              <a:rPr lang="de-DE" altLang="zh-CN" sz="1400" b="0" i="0" dirty="0">
                <a:solidFill>
                  <a:srgbClr val="222222"/>
                </a:solidFill>
                <a:effectLst/>
                <a:latin typeface="Times New Roman" panose="02020603050405020304" pitchFamily="18" charset="0"/>
                <a:cs typeface="Times New Roman" panose="02020603050405020304" pitchFamily="18" charset="0"/>
              </a:rPr>
              <a:t> </a:t>
            </a:r>
            <a:r>
              <a:rPr lang="de-DE" altLang="zh-CN" sz="1400" dirty="0">
                <a:solidFill>
                  <a:srgbClr val="222222"/>
                </a:solidFill>
                <a:latin typeface="Times New Roman" panose="02020603050405020304" pitchFamily="18" charset="0"/>
                <a:cs typeface="Times New Roman" panose="02020603050405020304" pitchFamily="18" charset="0"/>
              </a:rPr>
              <a:t>L</a:t>
            </a:r>
            <a:r>
              <a:rPr lang="de-DE" altLang="zh-CN" sz="1400" b="0" i="0" dirty="0">
                <a:solidFill>
                  <a:srgbClr val="222222"/>
                </a:solidFill>
                <a:effectLst/>
                <a:latin typeface="Times New Roman" panose="02020603050405020304" pitchFamily="18" charset="0"/>
                <a:cs typeface="Times New Roman" panose="02020603050405020304" pitchFamily="18" charset="0"/>
              </a:rPr>
              <a:t>, Zhao L, Yunce W, et al. A Cross-Attention Multi-Scale Quadratic CNN–BiGRU Framework for Bearing Fault Diagnosis[C] </a:t>
            </a:r>
            <a:r>
              <a:rPr lang="zh-CN" altLang="en-US" sz="1400" b="0" i="0" dirty="0">
                <a:solidFill>
                  <a:srgbClr val="222222"/>
                </a:solidFill>
                <a:effectLst/>
                <a:latin typeface="Times New Roman" panose="02020603050405020304" pitchFamily="18" charset="0"/>
                <a:cs typeface="Times New Roman" panose="02020603050405020304" pitchFamily="18" charset="0"/>
              </a:rPr>
              <a:t>（</a:t>
            </a:r>
            <a:r>
              <a:rPr lang="en-US" altLang="zh-CN" sz="1400" b="0" i="0" dirty="0">
                <a:solidFill>
                  <a:srgbClr val="222222"/>
                </a:solidFill>
                <a:effectLst/>
                <a:latin typeface="Times New Roman" panose="02020603050405020304" pitchFamily="18" charset="0"/>
                <a:cs typeface="Times New Roman" panose="02020603050405020304" pitchFamily="18" charset="0"/>
              </a:rPr>
              <a:t>EI</a:t>
            </a:r>
            <a:r>
              <a:rPr lang="zh-CN" altLang="en-US" sz="1400" b="0" i="0" dirty="0">
                <a:solidFill>
                  <a:srgbClr val="222222"/>
                </a:solidFill>
                <a:effectLst/>
                <a:latin typeface="Times New Roman" panose="02020603050405020304" pitchFamily="18" charset="0"/>
                <a:cs typeface="Times New Roman" panose="02020603050405020304" pitchFamily="18" charset="0"/>
              </a:rPr>
              <a:t>会议已录用，还未检索）</a:t>
            </a:r>
            <a:endParaRPr lang="en-US" altLang="zh-CN" sz="1400" b="0" i="0" dirty="0">
              <a:solidFill>
                <a:srgbClr val="222222"/>
              </a:solidFill>
              <a:effectLst/>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986D2D6C-00B2-D246-CD9C-E776EA13B7C3}"/>
              </a:ext>
            </a:extLst>
          </p:cNvPr>
          <p:cNvSpPr/>
          <p:nvPr/>
        </p:nvSpPr>
        <p:spPr>
          <a:xfrm>
            <a:off x="520475" y="2033847"/>
            <a:ext cx="8159598" cy="2421669"/>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endParaRPr lang="en-US" altLang="zh-CN" sz="1400" b="0" i="0" dirty="0">
              <a:solidFill>
                <a:srgbClr val="222222"/>
              </a:solidFill>
              <a:effectLst/>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2E6FEBD5-C686-FDCB-7DF0-CB85F2CDD7EB}"/>
              </a:ext>
            </a:extLst>
          </p:cNvPr>
          <p:cNvSpPr txBox="1"/>
          <p:nvPr/>
        </p:nvSpPr>
        <p:spPr>
          <a:xfrm>
            <a:off x="520475" y="2114139"/>
            <a:ext cx="1120150" cy="369332"/>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1800" dirty="0"/>
              <a:t>预计成果</a:t>
            </a:r>
          </a:p>
        </p:txBody>
      </p:sp>
      <p:sp>
        <p:nvSpPr>
          <p:cNvPr id="14" name="文本框 13">
            <a:extLst>
              <a:ext uri="{FF2B5EF4-FFF2-40B4-BE49-F238E27FC236}">
                <a16:creationId xmlns:a16="http://schemas.microsoft.com/office/drawing/2014/main" id="{54E4713D-15CB-51D1-1C9B-ADDDDFB96F54}"/>
              </a:ext>
            </a:extLst>
          </p:cNvPr>
          <p:cNvSpPr txBox="1"/>
          <p:nvPr/>
        </p:nvSpPr>
        <p:spPr>
          <a:xfrm>
            <a:off x="520475" y="963862"/>
            <a:ext cx="2904472" cy="338554"/>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1600" dirty="0"/>
              <a:t>已取得成果</a:t>
            </a:r>
          </a:p>
        </p:txBody>
      </p:sp>
    </p:spTree>
    <p:extLst>
      <p:ext uri="{BB962C8B-B14F-4D97-AF65-F5344CB8AC3E}">
        <p14:creationId xmlns:p14="http://schemas.microsoft.com/office/powerpoint/2010/main" val="3954297917"/>
      </p:ext>
    </p:extLst>
  </p:cSld>
  <p:clrMapOvr>
    <a:masterClrMapping/>
  </p:clrMapOvr>
  <mc:AlternateContent xmlns:mc="http://schemas.openxmlformats.org/markup-compatibility/2006" xmlns:p14="http://schemas.microsoft.com/office/powerpoint/2010/main">
    <mc:Choice Requires="p14">
      <p:transition p14:dur="10" advTm="183"/>
    </mc:Choice>
    <mc:Fallback xmlns="">
      <p:transition advTm="18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3">
            <a:extLst>
              <a:ext uri="{FF2B5EF4-FFF2-40B4-BE49-F238E27FC236}">
                <a16:creationId xmlns:a16="http://schemas.microsoft.com/office/drawing/2014/main" id="{4593F7B0-4F3B-FBFC-2F7F-AC9DF84859C7}"/>
              </a:ext>
            </a:extLst>
          </p:cNvPr>
          <p:cNvGraphicFramePr>
            <a:graphicFrameLocks noGrp="1"/>
          </p:cNvGraphicFramePr>
          <p:nvPr>
            <p:extLst>
              <p:ext uri="{D42A27DB-BD31-4B8C-83A1-F6EECF244321}">
                <p14:modId xmlns:p14="http://schemas.microsoft.com/office/powerpoint/2010/main" val="985914984"/>
              </p:ext>
            </p:extLst>
          </p:nvPr>
        </p:nvGraphicFramePr>
        <p:xfrm>
          <a:off x="251520" y="852834"/>
          <a:ext cx="8354924" cy="3633296"/>
        </p:xfrm>
        <a:graphic>
          <a:graphicData uri="http://schemas.openxmlformats.org/drawingml/2006/table">
            <a:tbl>
              <a:tblPr firstRow="1" bandRow="1">
                <a:tableStyleId>{5C22544A-7EE6-4342-B048-85BDC9FD1C3A}</a:tableStyleId>
              </a:tblPr>
              <a:tblGrid>
                <a:gridCol w="2384451">
                  <a:extLst>
                    <a:ext uri="{9D8B030D-6E8A-4147-A177-3AD203B41FA5}">
                      <a16:colId xmlns:a16="http://schemas.microsoft.com/office/drawing/2014/main" val="1634696981"/>
                    </a:ext>
                  </a:extLst>
                </a:gridCol>
                <a:gridCol w="5970473">
                  <a:extLst>
                    <a:ext uri="{9D8B030D-6E8A-4147-A177-3AD203B41FA5}">
                      <a16:colId xmlns:a16="http://schemas.microsoft.com/office/drawing/2014/main" val="1701945183"/>
                    </a:ext>
                  </a:extLst>
                </a:gridCol>
              </a:tblGrid>
              <a:tr h="357739">
                <a:tc>
                  <a:txBody>
                    <a:bodyPr/>
                    <a:lstStyle/>
                    <a:p>
                      <a:pPr algn="ctr"/>
                      <a:r>
                        <a:rPr lang="zh-CN" altLang="en-US" dirty="0"/>
                        <a:t>任务起止时间</a:t>
                      </a:r>
                    </a:p>
                  </a:txBody>
                  <a:tcPr>
                    <a:solidFill>
                      <a:schemeClr val="tx2"/>
                    </a:solidFill>
                  </a:tcPr>
                </a:tc>
                <a:tc>
                  <a:txBody>
                    <a:bodyPr/>
                    <a:lstStyle/>
                    <a:p>
                      <a:pPr algn="ctr"/>
                      <a:r>
                        <a:rPr lang="zh-CN" altLang="en-US" dirty="0"/>
                        <a:t>任务内容</a:t>
                      </a:r>
                    </a:p>
                  </a:txBody>
                  <a:tcPr>
                    <a:solidFill>
                      <a:schemeClr val="tx2"/>
                    </a:solidFill>
                  </a:tcPr>
                </a:tc>
                <a:extLst>
                  <a:ext uri="{0D108BD9-81ED-4DB2-BD59-A6C34878D82A}">
                    <a16:rowId xmlns:a16="http://schemas.microsoft.com/office/drawing/2014/main" val="3565801784"/>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2025.11</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-2025.12</a:t>
                      </a:r>
                      <a:endParaRPr 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defTabSz="914400" rtl="0" eaLnBrk="1" fontAlgn="ctr" latinLnBrk="0" hangingPunct="1">
                        <a:lnSpc>
                          <a:spcPct val="100000"/>
                        </a:lnSpc>
                      </a:pPr>
                      <a:r>
                        <a:rPr lang="zh-CN" altLang="en-US" sz="1200" b="1" i="0" kern="1200" baseline="0" dirty="0">
                          <a:solidFill>
                            <a:schemeClr val="tx2">
                              <a:lumMod val="50000"/>
                            </a:schemeClr>
                          </a:solidFill>
                          <a:latin typeface="Times New Roman" panose="02020603050405020304" pitchFamily="18" charset="0"/>
                          <a:ea typeface="+mn-ea"/>
                          <a:cs typeface="+mn-cs"/>
                        </a:rPr>
                        <a:t>与导师商议确定论文选题和主要研究内容</a:t>
                      </a:r>
                      <a:endParaRPr lang="zh-CN" sz="1200" b="1" i="0" u="none" strike="noStrike" kern="1200" baseline="0" dirty="0">
                        <a:solidFill>
                          <a:schemeClr val="tx2">
                            <a:lumMod val="50000"/>
                          </a:schemeClr>
                        </a:solidFill>
                        <a:effectLst/>
                        <a:latin typeface="Times New Roman" panose="02020603050405020304" pitchFamily="18" charset="0"/>
                        <a:ea typeface="宋体" panose="02010600030101010101" pitchFamily="2" charset="-122"/>
                        <a:cs typeface="+mn-cs"/>
                      </a:endParaRPr>
                    </a:p>
                  </a:txBody>
                  <a:tcPr marL="9525" marR="9525" marT="9529" marB="0" anchor="ctr"/>
                </a:tc>
                <a:extLst>
                  <a:ext uri="{0D108BD9-81ED-4DB2-BD59-A6C34878D82A}">
                    <a16:rowId xmlns:a16="http://schemas.microsoft.com/office/drawing/2014/main" val="1830457139"/>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2026.01</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a:t>
                      </a: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2026.02</a:t>
                      </a:r>
                      <a:endParaRPr 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marR="0" lvl="0" indent="0" algn="just" defTabSz="914400" rtl="0" eaLnBrk="1" fontAlgn="ctr" latinLnBrk="0" hangingPunct="1">
                        <a:lnSpc>
                          <a:spcPct val="100000"/>
                        </a:lnSpc>
                        <a:spcBef>
                          <a:spcPts val="0"/>
                        </a:spcBef>
                        <a:spcAft>
                          <a:spcPts val="0"/>
                        </a:spcAft>
                        <a:buClrTx/>
                        <a:buSzTx/>
                        <a:buFontTx/>
                        <a:buNone/>
                        <a:tabLst/>
                        <a:defRPr/>
                      </a:pPr>
                      <a:r>
                        <a:rPr lang="zh-CN" altLang="en-US" sz="1200" b="1" i="0" u="none" strike="noStrike" kern="1200" baseline="0" dirty="0">
                          <a:solidFill>
                            <a:schemeClr val="tx2">
                              <a:lumMod val="50000"/>
                            </a:schemeClr>
                          </a:solidFill>
                          <a:effectLst/>
                          <a:latin typeface="Times New Roman" panose="02020603050405020304" pitchFamily="18" charset="0"/>
                          <a:ea typeface="+mn-ea"/>
                          <a:cs typeface="+mn-cs"/>
                        </a:rPr>
                        <a:t>针对因果推断方法与域泛化故障诊断相结合的文献资料进行进一步分析和整理</a:t>
                      </a:r>
                    </a:p>
                  </a:txBody>
                  <a:tcPr marL="9525" marR="9525" marT="9529" marB="0" anchor="ctr"/>
                </a:tc>
                <a:extLst>
                  <a:ext uri="{0D108BD9-81ED-4DB2-BD59-A6C34878D82A}">
                    <a16:rowId xmlns:a16="http://schemas.microsoft.com/office/drawing/2014/main" val="1306696710"/>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2026.03</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a:t>
                      </a: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2026.04</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marR="0" lvl="0" indent="0" algn="just" defTabSz="914400" rtl="0" eaLnBrk="1" fontAlgn="ctr" latinLnBrk="0" hangingPunct="1">
                        <a:lnSpc>
                          <a:spcPct val="100000"/>
                        </a:lnSpc>
                        <a:spcBef>
                          <a:spcPts val="0"/>
                        </a:spcBef>
                        <a:spcAft>
                          <a:spcPts val="0"/>
                        </a:spcAft>
                        <a:buClrTx/>
                        <a:buSzTx/>
                        <a:buFontTx/>
                        <a:buNone/>
                        <a:tabLst/>
                        <a:defRPr/>
                      </a:pPr>
                      <a:r>
                        <a:rPr lang="zh-CN" altLang="en-US" sz="1200" b="1" i="0" u="none" strike="noStrike" kern="1200" baseline="0" dirty="0">
                          <a:solidFill>
                            <a:schemeClr val="tx2">
                              <a:lumMod val="50000"/>
                            </a:schemeClr>
                          </a:solidFill>
                          <a:effectLst/>
                          <a:latin typeface="Times New Roman" panose="02020603050405020304" pitchFamily="18" charset="0"/>
                          <a:ea typeface="+mn-ea"/>
                          <a:cs typeface="+mn-cs"/>
                        </a:rPr>
                        <a:t>对一些因果推断方法与域泛化故障诊断方法相关文献进行分析总结</a:t>
                      </a:r>
                    </a:p>
                  </a:txBody>
                  <a:tcPr marL="9525" marR="9525" marT="9529" marB="0" anchor="ctr"/>
                </a:tc>
                <a:extLst>
                  <a:ext uri="{0D108BD9-81ED-4DB2-BD59-A6C34878D82A}">
                    <a16:rowId xmlns:a16="http://schemas.microsoft.com/office/drawing/2014/main" val="3875440781"/>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2026.05-2026.07</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marR="0" lvl="0" indent="0" algn="just" defTabSz="914400" rtl="0" eaLnBrk="1" fontAlgn="ctr" latinLnBrk="0" hangingPunct="1">
                        <a:lnSpc>
                          <a:spcPct val="100000"/>
                        </a:lnSpc>
                        <a:spcBef>
                          <a:spcPts val="0"/>
                        </a:spcBef>
                        <a:spcAft>
                          <a:spcPts val="0"/>
                        </a:spcAft>
                        <a:buClrTx/>
                        <a:buSzTx/>
                        <a:buFontTx/>
                        <a:buNone/>
                        <a:tabLst/>
                        <a:defRPr/>
                      </a:pPr>
                      <a:r>
                        <a:rPr lang="zh-CN" altLang="en-US" sz="1200" b="1" i="0" u="none" strike="noStrike" kern="1200" baseline="0" dirty="0">
                          <a:solidFill>
                            <a:schemeClr val="tx2">
                              <a:lumMod val="50000"/>
                            </a:schemeClr>
                          </a:solidFill>
                          <a:effectLst/>
                          <a:latin typeface="Times New Roman" panose="02020603050405020304" pitchFamily="18" charset="0"/>
                          <a:ea typeface="+mn-ea"/>
                          <a:cs typeface="+mn-cs"/>
                        </a:rPr>
                        <a:t>齿轮箱结构因果建模以及搭建深度因果解耦域泛化网络，并将建模结果结构化、代码化</a:t>
                      </a:r>
                    </a:p>
                  </a:txBody>
                  <a:tcPr marL="9525" marR="9525" marT="9529" marB="0" anchor="ctr"/>
                </a:tc>
                <a:extLst>
                  <a:ext uri="{0D108BD9-81ED-4DB2-BD59-A6C34878D82A}">
                    <a16:rowId xmlns:a16="http://schemas.microsoft.com/office/drawing/2014/main" val="3256934129"/>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2026.08-2026.10</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defTabSz="914400" rtl="0" eaLnBrk="1" fontAlgn="ctr" latinLnBrk="0" hangingPunct="1">
                        <a:lnSpc>
                          <a:spcPct val="100000"/>
                        </a:lnSpc>
                      </a:pPr>
                      <a:r>
                        <a:rPr lang="zh-CN" altLang="en-US" sz="1200" b="1" i="0" u="none" strike="noStrike" kern="1200" baseline="0" dirty="0">
                          <a:solidFill>
                            <a:schemeClr val="tx2">
                              <a:lumMod val="50000"/>
                            </a:schemeClr>
                          </a:solidFill>
                          <a:effectLst/>
                          <a:latin typeface="Times New Roman" panose="02020603050405020304" pitchFamily="18" charset="0"/>
                          <a:ea typeface="+mn-ea"/>
                          <a:cs typeface="+mn-cs"/>
                        </a:rPr>
                        <a:t>在建立模型的基础上，使用实验室采集的振动信号数据集进行实验并分析实验结果，对研究工作进行整理并总结，撰写论文</a:t>
                      </a:r>
                      <a:endParaRPr lang="zh-CN" sz="1200" b="1" i="0" u="none" strike="noStrike" kern="1200" baseline="0" dirty="0">
                        <a:solidFill>
                          <a:schemeClr val="tx2">
                            <a:lumMod val="50000"/>
                          </a:schemeClr>
                        </a:solidFill>
                        <a:effectLst/>
                        <a:latin typeface="Times New Roman" panose="02020603050405020304" pitchFamily="18" charset="0"/>
                        <a:ea typeface="宋体" panose="02010600030101010101" pitchFamily="2" charset="-122"/>
                        <a:cs typeface="+mn-cs"/>
                      </a:endParaRPr>
                    </a:p>
                  </a:txBody>
                  <a:tcPr marL="9525" marR="9525" marT="9529" marB="0" anchor="ctr"/>
                </a:tc>
                <a:extLst>
                  <a:ext uri="{0D108BD9-81ED-4DB2-BD59-A6C34878D82A}">
                    <a16:rowId xmlns:a16="http://schemas.microsoft.com/office/drawing/2014/main" val="2264808592"/>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2026.11</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a:t>
                      </a: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2027.02</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defTabSz="914400" rtl="0" eaLnBrk="1" fontAlgn="ctr" latinLnBrk="0" hangingPunct="1">
                        <a:lnSpc>
                          <a:spcPct val="100000"/>
                        </a:lnSpc>
                      </a:pPr>
                      <a:r>
                        <a:rPr lang="zh-CN" altLang="en-US" sz="1200" b="1" i="0" kern="1200" baseline="0" dirty="0">
                          <a:solidFill>
                            <a:schemeClr val="tx2">
                              <a:lumMod val="50000"/>
                            </a:schemeClr>
                          </a:solidFill>
                          <a:latin typeface="Times New Roman" panose="02020603050405020304" pitchFamily="18" charset="0"/>
                          <a:ea typeface="+mn-ea"/>
                          <a:cs typeface="+mn-cs"/>
                        </a:rPr>
                        <a:t>提交论文导师审核</a:t>
                      </a:r>
                      <a:endParaRPr lang="zh-CN" sz="1200" b="1" i="0" u="none" strike="noStrike" kern="1200" baseline="0" dirty="0">
                        <a:solidFill>
                          <a:schemeClr val="tx2">
                            <a:lumMod val="50000"/>
                          </a:schemeClr>
                        </a:solidFill>
                        <a:effectLst/>
                        <a:latin typeface="Times New Roman" panose="02020603050405020304" pitchFamily="18" charset="0"/>
                        <a:ea typeface="宋体" panose="02010600030101010101" pitchFamily="2" charset="-122"/>
                        <a:cs typeface="+mn-cs"/>
                      </a:endParaRPr>
                    </a:p>
                  </a:txBody>
                  <a:tcPr marL="9525" marR="9525" marT="9529" marB="0" anchor="ctr"/>
                </a:tc>
                <a:extLst>
                  <a:ext uri="{0D108BD9-81ED-4DB2-BD59-A6C34878D82A}">
                    <a16:rowId xmlns:a16="http://schemas.microsoft.com/office/drawing/2014/main" val="1025371204"/>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2027.03</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a:t>
                      </a: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2027.04</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defTabSz="914400" rtl="0" eaLnBrk="1" fontAlgn="ctr" latinLnBrk="0" hangingPunct="1">
                        <a:lnSpc>
                          <a:spcPct val="100000"/>
                        </a:lnSpc>
                      </a:pPr>
                      <a:r>
                        <a:rPr lang="zh-CN" altLang="en-US" sz="1200" b="1" i="0" kern="1200" baseline="0" dirty="0">
                          <a:solidFill>
                            <a:schemeClr val="tx2">
                              <a:lumMod val="50000"/>
                            </a:schemeClr>
                          </a:solidFill>
                          <a:latin typeface="Times New Roman" panose="02020603050405020304" pitchFamily="18" charset="0"/>
                          <a:ea typeface="+mn-ea"/>
                          <a:cs typeface="+mn-cs"/>
                        </a:rPr>
                        <a:t>完成论文写作并提交论文</a:t>
                      </a:r>
                      <a:endParaRPr lang="zh-CN" sz="1200" b="1" i="0" u="none" strike="noStrike" kern="1200" baseline="0" dirty="0">
                        <a:solidFill>
                          <a:schemeClr val="tx2">
                            <a:lumMod val="50000"/>
                          </a:schemeClr>
                        </a:solidFill>
                        <a:effectLst/>
                        <a:latin typeface="Times New Roman" panose="02020603050405020304" pitchFamily="18" charset="0"/>
                        <a:ea typeface="宋体" panose="02010600030101010101" pitchFamily="2" charset="-122"/>
                        <a:cs typeface="+mn-cs"/>
                      </a:endParaRPr>
                    </a:p>
                  </a:txBody>
                  <a:tcPr marL="9525" marR="9525" marT="9529" marB="0" anchor="ctr"/>
                </a:tc>
                <a:extLst>
                  <a:ext uri="{0D108BD9-81ED-4DB2-BD59-A6C34878D82A}">
                    <a16:rowId xmlns:a16="http://schemas.microsoft.com/office/drawing/2014/main" val="1676219541"/>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2027.05-2027.06</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fontAlgn="ctr">
                        <a:lnSpc>
                          <a:spcPct val="100000"/>
                        </a:lnSpc>
                      </a:pPr>
                      <a:r>
                        <a:rPr 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论文答辩</a:t>
                      </a:r>
                    </a:p>
                  </a:txBody>
                  <a:tcPr marL="9525" marR="9525" marT="9529" marB="0" anchor="ctr"/>
                </a:tc>
                <a:extLst>
                  <a:ext uri="{0D108BD9-81ED-4DB2-BD59-A6C34878D82A}">
                    <a16:rowId xmlns:a16="http://schemas.microsoft.com/office/drawing/2014/main" val="1213857751"/>
                  </a:ext>
                </a:extLst>
              </a:tr>
            </a:tbl>
          </a:graphicData>
        </a:graphic>
      </p:graphicFrame>
      <p:sp>
        <p:nvSpPr>
          <p:cNvPr id="2" name="文本框 1"/>
          <p:cNvSpPr txBox="1"/>
          <p:nvPr/>
        </p:nvSpPr>
        <p:spPr>
          <a:xfrm>
            <a:off x="827584" y="195486"/>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进度安排</a:t>
            </a:r>
          </a:p>
        </p:txBody>
      </p:sp>
      <p:sp>
        <p:nvSpPr>
          <p:cNvPr id="4"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12</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940607769"/>
      </p:ext>
    </p:extLst>
  </p:cSld>
  <p:clrMapOvr>
    <a:masterClrMapping/>
  </p:clrMapOvr>
  <mc:AlternateContent xmlns:mc="http://schemas.openxmlformats.org/markup-compatibility/2006" xmlns:p14="http://schemas.microsoft.com/office/powerpoint/2010/main">
    <mc:Choice Requires="p14">
      <p:transition p14:dur="10" advTm="183"/>
    </mc:Choice>
    <mc:Fallback xmlns="">
      <p:transition advTm="18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70edc880-9bb3-41c5-b557-cdad87dde124"/>
  <p:tag name="COMMONDATA" val="eyJoZGlkIjoiMTc4MTAzNjY0OGVjYjQ4MzE0Yzg1YWZmY2Q3NzdmO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5B4D5"/>
        </a:solidFill>
        <a:ln>
          <a:noFill/>
        </a:ln>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3571</TotalTime>
  <Words>1433</Words>
  <Application>Microsoft Office PowerPoint</Application>
  <PresentationFormat>全屏显示(16:9)</PresentationFormat>
  <Paragraphs>149</Paragraphs>
  <Slides>21</Slides>
  <Notes>21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29" baseType="lpstr">
      <vt:lpstr>微软雅黑</vt:lpstr>
      <vt:lpstr>Agency FB</vt:lpstr>
      <vt:lpstr>Arial</vt:lpstr>
      <vt:lpstr>Calibri</vt:lpstr>
      <vt:lpstr>Cambria Math</vt:lpstr>
      <vt:lpstr>Times New Roman</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yzy</dc:creator>
  <cp:lastModifiedBy>admin skx</cp:lastModifiedBy>
  <cp:revision>1540</cp:revision>
  <dcterms:created xsi:type="dcterms:W3CDTF">2014-11-27T12:33:00Z</dcterms:created>
  <dcterms:modified xsi:type="dcterms:W3CDTF">2025-12-06T15:34:50Z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2052-11.1.0.13012</vt:lpwstr>
  </property>
  <property fmtid="{D5CDD505-2E9C-101B-9397-08002B2CF9AE}" pid="3" name="ICV">
    <vt:lpwstr>AD124EBECA0C4373831F0BE3AF56005E</vt:lpwstr>
  </property>
</Properties>
</file>