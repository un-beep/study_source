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handoutMasterIdLst>
    <p:handoutMasterId r:id="rId25"/>
  </p:handoutMasterIdLst>
  <p:sldIdLst>
    <p:sldId id="260" r:id="rId2"/>
    <p:sldId id="323" r:id="rId3"/>
    <p:sldId id="587" r:id="rId4"/>
    <p:sldId id="623" r:id="rId5"/>
    <p:sldId id="618" r:id="rId6"/>
    <p:sldId id="638" r:id="rId7"/>
    <p:sldId id="589" r:id="rId8"/>
    <p:sldId id="637" r:id="rId9"/>
    <p:sldId id="639" r:id="rId10"/>
    <p:sldId id="590" r:id="rId11"/>
    <p:sldId id="594" r:id="rId12"/>
    <p:sldId id="632" r:id="rId13"/>
    <p:sldId id="634" r:id="rId14"/>
    <p:sldId id="591" r:id="rId15"/>
    <p:sldId id="601" r:id="rId16"/>
    <p:sldId id="635" r:id="rId17"/>
    <p:sldId id="626" r:id="rId18"/>
    <p:sldId id="627" r:id="rId19"/>
    <p:sldId id="630" r:id="rId20"/>
    <p:sldId id="628" r:id="rId21"/>
    <p:sldId id="629" r:id="rId22"/>
    <p:sldId id="261" r:id="rId23"/>
  </p:sldIdLst>
  <p:sldSz cx="9144000" cy="5143500" type="screen16x9"/>
  <p:notesSz cx="6858000" cy="9144000"/>
  <p:custDataLst>
    <p:tags r:id="rId26"/>
  </p:custDataLst>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16"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龚 加兴"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FF0000"/>
    <a:srgbClr val="990033"/>
    <a:srgbClr val="33CCFF"/>
    <a:srgbClr val="17375E"/>
    <a:srgbClr val="219898"/>
    <a:srgbClr val="383E60"/>
    <a:srgbClr val="488CD7"/>
    <a:srgbClr val="F3F3F3"/>
    <a:srgbClr val="35B4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416" autoAdjust="0"/>
    <p:restoredTop sz="82330" autoAdjust="0"/>
  </p:normalViewPr>
  <p:slideViewPr>
    <p:cSldViewPr snapToGrid="0" showGuides="1">
      <p:cViewPr varScale="1">
        <p:scale>
          <a:sx n="172" d="100"/>
          <a:sy n="172" d="100"/>
        </p:scale>
        <p:origin x="1356" y="144"/>
      </p:cViewPr>
      <p:guideLst>
        <p:guide orient="horz" pos="1616"/>
        <p:guide pos="288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ADB96DBE-A381-4F65-B642-112305EE40DD}" type="datetimeFigureOut">
              <a:rPr lang="zh-CN" altLang="en-US"/>
              <a:t>2025/12/6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fld id="{2FF7ABEA-FC66-4186-9800-A282C7653D5A}"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093A102F-2937-46DE-B51B-1C601736DE3D}" type="datetimeFigureOut">
              <a:rPr lang="zh-CN" altLang="en-US"/>
              <a:t>2025/12/6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fld id="{20447A92-6FB1-4B66-BD0B-3792A4A6B2F5}"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3"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dirty="0"/>
          </a:p>
        </p:txBody>
      </p:sp>
      <p:sp>
        <p:nvSpPr>
          <p:cNvPr id="15364"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fld id="{44AD6A95-26D3-42ED-A1DF-C4211D0EF618}" type="slidenum">
              <a:rPr lang="zh-CN" altLang="en-US"/>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2800"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4</a:t>
            </a:fld>
            <a:endParaRPr lang="zh-CN" altLang="en-US"/>
          </a:p>
        </p:txBody>
      </p:sp>
    </p:spTree>
    <p:extLst>
      <p:ext uri="{BB962C8B-B14F-4D97-AF65-F5344CB8AC3E}">
        <p14:creationId xmlns:p14="http://schemas.microsoft.com/office/powerpoint/2010/main" val="1779451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sz="2800"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85281-B59D-FBFC-4273-AF91FE11B5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F3D7609-6A56-EF49-556B-98F458E042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2518B4-E648-FEC9-2566-010E60285463}"/>
              </a:ext>
            </a:extLst>
          </p:cNvPr>
          <p:cNvSpPr>
            <a:spLocks noGrp="1"/>
          </p:cNvSpPr>
          <p:nvPr>
            <p:ph type="body" idx="1"/>
          </p:nvPr>
        </p:nvSpPr>
        <p:spPr/>
        <p:txBody>
          <a:bodyPr>
            <a:normAutofit/>
          </a:bodyPr>
          <a:lstStyle/>
          <a:p>
            <a:endParaRPr lang="zh-CN" altLang="en-US" sz="2800" dirty="0"/>
          </a:p>
        </p:txBody>
      </p:sp>
      <p:sp>
        <p:nvSpPr>
          <p:cNvPr id="4" name="灯片编号占位符 3">
            <a:extLst>
              <a:ext uri="{FF2B5EF4-FFF2-40B4-BE49-F238E27FC236}">
                <a16:creationId xmlns:a16="http://schemas.microsoft.com/office/drawing/2014/main" id="{71B66C4B-AC7E-58FE-BE8C-467AEEC19323}"/>
              </a:ext>
            </a:extLst>
          </p:cNvPr>
          <p:cNvSpPr>
            <a:spLocks noGrp="1"/>
          </p:cNvSpPr>
          <p:nvPr>
            <p:ph type="sldNum" sz="quarter" idx="5"/>
          </p:nvPr>
        </p:nvSpPr>
        <p:spPr/>
        <p:txBody>
          <a:bodyPr/>
          <a:lstStyle/>
          <a:p>
            <a:fld id="{20447A92-6FB1-4B66-BD0B-3792A4A6B2F5}" type="slidenum">
              <a:rPr lang="zh-CN" altLang="en-US" smtClean="0"/>
              <a:t>6</a:t>
            </a:fld>
            <a:endParaRPr lang="zh-CN" altLang="en-US"/>
          </a:p>
        </p:txBody>
      </p:sp>
    </p:spTree>
    <p:extLst>
      <p:ext uri="{BB962C8B-B14F-4D97-AF65-F5344CB8AC3E}">
        <p14:creationId xmlns:p14="http://schemas.microsoft.com/office/powerpoint/2010/main" val="2475439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865CF-F9D1-6DF5-1115-883BFA5DD5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B0A522-F606-B5A9-B17D-E3EF3859BB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B800C5-44B7-BA6F-0E63-E0B909A124CC}"/>
              </a:ext>
            </a:extLst>
          </p:cNvPr>
          <p:cNvSpPr>
            <a:spLocks noGrp="1"/>
          </p:cNvSpPr>
          <p:nvPr>
            <p:ph type="body" idx="1"/>
          </p:nvPr>
        </p:nvSpPr>
        <p:spPr/>
        <p:txBody>
          <a:bodyPr>
            <a:normAutofit/>
          </a:bodyPr>
          <a:lstStyle/>
          <a:p>
            <a:endParaRPr lang="zh-CN" altLang="en-US" sz="2800" dirty="0"/>
          </a:p>
        </p:txBody>
      </p:sp>
      <p:sp>
        <p:nvSpPr>
          <p:cNvPr id="4" name="灯片编号占位符 3">
            <a:extLst>
              <a:ext uri="{FF2B5EF4-FFF2-40B4-BE49-F238E27FC236}">
                <a16:creationId xmlns:a16="http://schemas.microsoft.com/office/drawing/2014/main" id="{76916A51-A89B-8AF8-207B-D8A1E896B05C}"/>
              </a:ext>
            </a:extLst>
          </p:cNvPr>
          <p:cNvSpPr>
            <a:spLocks noGrp="1"/>
          </p:cNvSpPr>
          <p:nvPr>
            <p:ph type="sldNum" sz="quarter" idx="5"/>
          </p:nvPr>
        </p:nvSpPr>
        <p:spPr/>
        <p:txBody>
          <a:bodyPr/>
          <a:lstStyle/>
          <a:p>
            <a:fld id="{20447A92-6FB1-4B66-BD0B-3792A4A6B2F5}" type="slidenum">
              <a:rPr lang="zh-CN" altLang="en-US" smtClean="0"/>
              <a:t>9</a:t>
            </a:fld>
            <a:endParaRPr lang="zh-CN" altLang="en-US"/>
          </a:p>
        </p:txBody>
      </p:sp>
    </p:spTree>
    <p:extLst>
      <p:ext uri="{BB962C8B-B14F-4D97-AF65-F5344CB8AC3E}">
        <p14:creationId xmlns:p14="http://schemas.microsoft.com/office/powerpoint/2010/main" val="253287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7E824-BBEA-F3E1-2919-3A5FD55989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70FDFF-7ACE-1DC0-A654-ACBD7D1BEE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79B398-DEC1-0737-E1AC-10725FBA4DAE}"/>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6698DE40-8B8B-F25B-8C34-50EB5B0C257A}"/>
              </a:ext>
            </a:extLst>
          </p:cNvPr>
          <p:cNvSpPr>
            <a:spLocks noGrp="1"/>
          </p:cNvSpPr>
          <p:nvPr>
            <p:ph type="sldNum" sz="quarter" idx="5"/>
          </p:nvPr>
        </p:nvSpPr>
        <p:spPr/>
        <p:txBody>
          <a:bodyPr/>
          <a:lstStyle/>
          <a:p>
            <a:fld id="{20447A92-6FB1-4B66-BD0B-3792A4A6B2F5}" type="slidenum">
              <a:rPr lang="zh-CN" altLang="en-US" smtClean="0"/>
              <a:t>12</a:t>
            </a:fld>
            <a:endParaRPr lang="zh-CN" altLang="en-US"/>
          </a:p>
        </p:txBody>
      </p:sp>
    </p:spTree>
    <p:extLst>
      <p:ext uri="{BB962C8B-B14F-4D97-AF65-F5344CB8AC3E}">
        <p14:creationId xmlns:p14="http://schemas.microsoft.com/office/powerpoint/2010/main" val="1904367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47F3C-676E-30CE-3334-F9D135C8DC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1E6F9A-B749-6A93-6331-240230CD24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443884-EDC3-12F9-9CCD-2CEB9C0A2B54}"/>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B3D9EED1-226C-A470-8997-0F5B2F81FA01}"/>
              </a:ext>
            </a:extLst>
          </p:cNvPr>
          <p:cNvSpPr>
            <a:spLocks noGrp="1"/>
          </p:cNvSpPr>
          <p:nvPr>
            <p:ph type="sldNum" sz="quarter" idx="5"/>
          </p:nvPr>
        </p:nvSpPr>
        <p:spPr/>
        <p:txBody>
          <a:bodyPr/>
          <a:lstStyle/>
          <a:p>
            <a:fld id="{20447A92-6FB1-4B66-BD0B-3792A4A6B2F5}" type="slidenum">
              <a:rPr lang="zh-CN" altLang="en-US" smtClean="0"/>
              <a:t>13</a:t>
            </a:fld>
            <a:endParaRPr lang="zh-CN" altLang="en-US"/>
          </a:p>
        </p:txBody>
      </p:sp>
    </p:spTree>
    <p:extLst>
      <p:ext uri="{BB962C8B-B14F-4D97-AF65-F5344CB8AC3E}">
        <p14:creationId xmlns:p14="http://schemas.microsoft.com/office/powerpoint/2010/main" val="654885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AF59F-B0AB-9FC0-6A9A-592C0D2818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1F2833-A952-963D-3D7A-949C8B53E8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D462E9-2AE3-EDD4-A547-6A203172EDE5}"/>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467458A-E8E0-2BF5-783C-B1AD462D9F3B}"/>
              </a:ext>
            </a:extLst>
          </p:cNvPr>
          <p:cNvSpPr>
            <a:spLocks noGrp="1"/>
          </p:cNvSpPr>
          <p:nvPr>
            <p:ph type="sldNum" sz="quarter" idx="5"/>
          </p:nvPr>
        </p:nvSpPr>
        <p:spPr/>
        <p:txBody>
          <a:bodyPr/>
          <a:lstStyle/>
          <a:p>
            <a:fld id="{20447A92-6FB1-4B66-BD0B-3792A4A6B2F5}" type="slidenum">
              <a:rPr lang="zh-CN" altLang="en-US" smtClean="0"/>
              <a:t>16</a:t>
            </a:fld>
            <a:endParaRPr lang="zh-CN" altLang="en-US"/>
          </a:p>
        </p:txBody>
      </p:sp>
    </p:spTree>
    <p:extLst>
      <p:ext uri="{BB962C8B-B14F-4D97-AF65-F5344CB8AC3E}">
        <p14:creationId xmlns:p14="http://schemas.microsoft.com/office/powerpoint/2010/main" val="33196545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17</a:t>
            </a:fld>
            <a:endParaRPr lang="zh-CN" altLang="en-US"/>
          </a:p>
        </p:txBody>
      </p:sp>
    </p:spTree>
    <p:extLst>
      <p:ext uri="{BB962C8B-B14F-4D97-AF65-F5344CB8AC3E}">
        <p14:creationId xmlns:p14="http://schemas.microsoft.com/office/powerpoint/2010/main" val="976447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18</a:t>
            </a:fld>
            <a:endParaRPr lang="zh-CN" altLang="en-US"/>
          </a:p>
        </p:txBody>
      </p:sp>
    </p:spTree>
    <p:extLst>
      <p:ext uri="{BB962C8B-B14F-4D97-AF65-F5344CB8AC3E}">
        <p14:creationId xmlns:p14="http://schemas.microsoft.com/office/powerpoint/2010/main" val="4085123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总目录页格式展示参照此页</a:t>
            </a:r>
          </a:p>
        </p:txBody>
      </p:sp>
      <p:sp>
        <p:nvSpPr>
          <p:cNvPr id="4" name="灯片编号占位符 3"/>
          <p:cNvSpPr>
            <a:spLocks noGrp="1"/>
          </p:cNvSpPr>
          <p:nvPr>
            <p:ph type="sldNum" sz="quarter" idx="5"/>
          </p:nvPr>
        </p:nvSpPr>
        <p:spPr/>
        <p:txBody>
          <a:bodyPr/>
          <a:lstStyle/>
          <a:p>
            <a:fld id="{20447A92-6FB1-4B66-BD0B-3792A4A6B2F5}" type="slidenum">
              <a:rPr lang="zh-CN" altLang="en-US" smtClean="0"/>
              <a:t>19</a:t>
            </a:fld>
            <a:endParaRPr lang="zh-CN" altLang="en-US"/>
          </a:p>
        </p:txBody>
      </p:sp>
    </p:spTree>
    <p:extLst>
      <p:ext uri="{BB962C8B-B14F-4D97-AF65-F5344CB8AC3E}">
        <p14:creationId xmlns:p14="http://schemas.microsoft.com/office/powerpoint/2010/main" val="2099291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20</a:t>
            </a:fld>
            <a:endParaRPr lang="zh-CN" altLang="en-US"/>
          </a:p>
        </p:txBody>
      </p:sp>
    </p:spTree>
    <p:extLst>
      <p:ext uri="{BB962C8B-B14F-4D97-AF65-F5344CB8AC3E}">
        <p14:creationId xmlns:p14="http://schemas.microsoft.com/office/powerpoint/2010/main" val="3156528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21</a:t>
            </a:fld>
            <a:endParaRPr lang="zh-CN" altLang="en-US"/>
          </a:p>
        </p:txBody>
      </p:sp>
    </p:spTree>
    <p:extLst>
      <p:ext uri="{BB962C8B-B14F-4D97-AF65-F5344CB8AC3E}">
        <p14:creationId xmlns:p14="http://schemas.microsoft.com/office/powerpoint/2010/main" val="1691596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20447A92-6FB1-4B66-BD0B-3792A4A6B2F5}" type="slidenum">
              <a:rPr lang="zh-CN" altLang="en-US" smtClean="0"/>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p:cNvSpPr/>
          <p:nvPr/>
        </p:nvSpPr>
        <p:spPr>
          <a:xfrm>
            <a:off x="0" y="1643063"/>
            <a:ext cx="9144000" cy="236884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3" name="Picture 2"/>
          <p:cNvPicPr>
            <a:picLocks noChangeAspect="1" noChangeArrowheads="1"/>
          </p:cNvPicPr>
          <p:nvPr userDrawn="1"/>
        </p:nvPicPr>
        <p:blipFill>
          <a:blip r:embed="rId2" cstate="print">
            <a:clrChange>
              <a:clrFrom>
                <a:srgbClr val="D3D2D2"/>
              </a:clrFrom>
              <a:clrTo>
                <a:srgbClr val="D3D2D2">
                  <a:alpha val="0"/>
                </a:srgbClr>
              </a:clrTo>
            </a:clrChange>
            <a:extLst>
              <a:ext uri="{28A0092B-C50C-407E-A947-70E740481C1C}">
                <a14:useLocalDpi xmlns:a14="http://schemas.microsoft.com/office/drawing/2010/main" val="0"/>
              </a:ext>
            </a:extLst>
          </a:blip>
          <a:srcRect/>
          <a:stretch>
            <a:fillRect/>
          </a:stretch>
        </p:blipFill>
        <p:spPr bwMode="auto">
          <a:xfrm>
            <a:off x="142875" y="100013"/>
            <a:ext cx="64293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noChangeArrowheads="1"/>
          </p:cNvPicPr>
          <p:nvPr userDrawn="1"/>
        </p:nvPicPr>
        <p:blipFill>
          <a:blip r:embed="rId3">
            <a:clrChange>
              <a:clrFrom>
                <a:srgbClr val="D3D2D2"/>
              </a:clrFrom>
              <a:clrTo>
                <a:srgbClr val="D3D2D2">
                  <a:alpha val="0"/>
                </a:srgbClr>
              </a:clrTo>
            </a:clrChange>
            <a:extLst>
              <a:ext uri="{28A0092B-C50C-407E-A947-70E740481C1C}">
                <a14:useLocalDpi xmlns:a14="http://schemas.microsoft.com/office/drawing/2010/main" val="0"/>
              </a:ext>
            </a:extLst>
          </a:blip>
          <a:srcRect/>
          <a:stretch>
            <a:fillRect/>
          </a:stretch>
        </p:blipFill>
        <p:spPr bwMode="auto">
          <a:xfrm>
            <a:off x="7715250" y="4643438"/>
            <a:ext cx="12779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6834188" y="1285875"/>
            <a:ext cx="2170112" cy="369888"/>
          </a:xfrm>
          <a:prstGeom prst="rect">
            <a:avLst/>
          </a:prstGeom>
          <a:noFill/>
          <a:ln>
            <a:noFill/>
          </a:ln>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zh-CN" altLang="en-US">
                <a:solidFill>
                  <a:srgbClr val="7F7F7F"/>
                </a:solidFill>
                <a:latin typeface="微软雅黑" panose="020B0503020204020204" pitchFamily="34" charset="-122"/>
                <a:ea typeface="微软雅黑" panose="020B0503020204020204" pitchFamily="34" charset="-122"/>
              </a:rPr>
              <a:t>明德行远  交通天下</a:t>
            </a: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 name="图片 2" descr="543183003.jpg"/>
          <p:cNvPicPr>
            <a:picLocks noChangeAspect="1" noChangeArrowheads="1"/>
          </p:cNvPicPr>
          <p:nvPr userDrawn="1"/>
        </p:nvPicPr>
        <p:blipFill>
          <a:blip r:embed="rId2">
            <a:extLst>
              <a:ext uri="{28A0092B-C50C-407E-A947-70E740481C1C}">
                <a14:useLocalDpi xmlns:a14="http://schemas.microsoft.com/office/drawing/2010/main" val="0"/>
              </a:ext>
            </a:extLst>
          </a:blip>
          <a:srcRect l="27876" r="15463" b="8333"/>
          <a:stretch>
            <a:fillRect/>
          </a:stretch>
        </p:blipFill>
        <p:spPr bwMode="auto">
          <a:xfrm>
            <a:off x="0" y="0"/>
            <a:ext cx="269875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0" y="0"/>
            <a:ext cx="2722563" cy="5143500"/>
          </a:xfrm>
          <a:prstGeom prst="rect">
            <a:avLst/>
          </a:prstGeom>
          <a:solidFill>
            <a:schemeClr val="tx2">
              <a:lumMod val="75000"/>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a:spLocks noChangeArrowheads="1"/>
          </p:cNvSpPr>
          <p:nvPr/>
        </p:nvSpPr>
        <p:spPr bwMode="auto">
          <a:xfrm>
            <a:off x="323850" y="411163"/>
            <a:ext cx="2357438" cy="639762"/>
          </a:xfrm>
          <a:prstGeom prst="rect">
            <a:avLst/>
          </a:prstGeom>
          <a:no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en-US" altLang="zh-CN" sz="3600">
                <a:solidFill>
                  <a:schemeClr val="bg1"/>
                </a:solidFill>
                <a:latin typeface="Agency FB" panose="020B0503020202020204" pitchFamily="34" charset="0"/>
                <a:ea typeface="Adobe 宋体 Std L" panose="02020300000000000000" pitchFamily="18" charset="-122"/>
              </a:rPr>
              <a:t>Contents</a:t>
            </a:r>
            <a:endParaRPr lang="zh-CN" altLang="en-US" sz="5400">
              <a:solidFill>
                <a:schemeClr val="bg1"/>
              </a:solidFill>
              <a:latin typeface="微软雅黑" panose="020B0503020204020204" pitchFamily="34" charset="-122"/>
              <a:ea typeface="微软雅黑" panose="020B0503020204020204" pitchFamily="34" charset="-122"/>
            </a:endParaRPr>
          </a:p>
        </p:txBody>
      </p:sp>
      <p:pic>
        <p:nvPicPr>
          <p:cNvPr id="5" name="Picture 2"/>
          <p:cNvPicPr>
            <a:picLocks noChangeAspect="1" noChangeArrowheads="1"/>
          </p:cNvPicPr>
          <p:nvPr userDrawn="1"/>
        </p:nvPicPr>
        <p:blipFill>
          <a:blip r:embed="rId3">
            <a:clrChange>
              <a:clrFrom>
                <a:srgbClr val="D3D2D2"/>
              </a:clrFrom>
              <a:clrTo>
                <a:srgbClr val="D3D2D2">
                  <a:alpha val="0"/>
                </a:srgbClr>
              </a:clrTo>
            </a:clrChange>
            <a:extLst>
              <a:ext uri="{28A0092B-C50C-407E-A947-70E740481C1C}">
                <a14:useLocalDpi xmlns:a14="http://schemas.microsoft.com/office/drawing/2010/main" val="0"/>
              </a:ext>
            </a:extLst>
          </a:blip>
          <a:srcRect/>
          <a:stretch>
            <a:fillRect/>
          </a:stretch>
        </p:blipFill>
        <p:spPr bwMode="auto">
          <a:xfrm>
            <a:off x="7642225" y="4714875"/>
            <a:ext cx="15017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2" name="图片 2" descr="543183003.jpg"/>
          <p:cNvPicPr>
            <a:picLocks noChangeAspect="1" noChangeArrowheads="1"/>
          </p:cNvPicPr>
          <p:nvPr userDrawn="1"/>
        </p:nvPicPr>
        <p:blipFill>
          <a:blip r:embed="rId2">
            <a:extLst>
              <a:ext uri="{28A0092B-C50C-407E-A947-70E740481C1C}">
                <a14:useLocalDpi xmlns:a14="http://schemas.microsoft.com/office/drawing/2010/main" val="0"/>
              </a:ext>
            </a:extLst>
          </a:blip>
          <a:srcRect l="27876" r="15463" b="8333"/>
          <a:stretch>
            <a:fillRect/>
          </a:stretch>
        </p:blipFill>
        <p:spPr bwMode="auto">
          <a:xfrm>
            <a:off x="0" y="0"/>
            <a:ext cx="435768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0" y="0"/>
            <a:ext cx="4357688" cy="5143500"/>
          </a:xfrm>
          <a:prstGeom prst="rect">
            <a:avLst/>
          </a:prstGeom>
          <a:solidFill>
            <a:schemeClr val="bg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4" name="Picture 2"/>
          <p:cNvPicPr>
            <a:picLocks noChangeAspect="1" noChangeArrowheads="1"/>
          </p:cNvPicPr>
          <p:nvPr userDrawn="1"/>
        </p:nvPicPr>
        <p:blipFill>
          <a:blip r:embed="rId3">
            <a:clrChange>
              <a:clrFrom>
                <a:srgbClr val="D3D2D2"/>
              </a:clrFrom>
              <a:clrTo>
                <a:srgbClr val="D3D2D2">
                  <a:alpha val="0"/>
                </a:srgbClr>
              </a:clrTo>
            </a:clrChange>
            <a:grayscl/>
            <a:extLst>
              <a:ext uri="{28A0092B-C50C-407E-A947-70E740481C1C}">
                <a14:useLocalDpi xmlns:a14="http://schemas.microsoft.com/office/drawing/2010/main" val="0"/>
              </a:ext>
            </a:extLst>
          </a:blip>
          <a:srcRect/>
          <a:stretch>
            <a:fillRect/>
          </a:stretch>
        </p:blipFill>
        <p:spPr bwMode="auto">
          <a:xfrm>
            <a:off x="7642225" y="4714875"/>
            <a:ext cx="15017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矩形 1"/>
          <p:cNvSpPr/>
          <p:nvPr/>
        </p:nvSpPr>
        <p:spPr>
          <a:xfrm>
            <a:off x="214313" y="142875"/>
            <a:ext cx="428625" cy="428625"/>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p:nvSpPr>
        <p:spPr>
          <a:xfrm>
            <a:off x="509588" y="438150"/>
            <a:ext cx="276225" cy="276225"/>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流程图: 过程 3"/>
          <p:cNvSpPr/>
          <p:nvPr/>
        </p:nvSpPr>
        <p:spPr>
          <a:xfrm>
            <a:off x="8286750" y="369888"/>
            <a:ext cx="857250" cy="428625"/>
          </a:xfrm>
          <a:prstGeom prst="flowChartProcess">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6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5" name="矩形 4"/>
          <p:cNvSpPr/>
          <p:nvPr/>
        </p:nvSpPr>
        <p:spPr>
          <a:xfrm>
            <a:off x="8072438" y="369888"/>
            <a:ext cx="142875" cy="42862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6" name="Picture 2"/>
          <p:cNvPicPr>
            <a:picLocks noChangeAspect="1" noChangeArrowheads="1"/>
          </p:cNvPicPr>
          <p:nvPr userDrawn="1"/>
        </p:nvPicPr>
        <p:blipFill>
          <a:blip r:embed="rId2">
            <a:clrChange>
              <a:clrFrom>
                <a:srgbClr val="D3D2D2"/>
              </a:clrFrom>
              <a:clrTo>
                <a:srgbClr val="D3D2D2">
                  <a:alpha val="0"/>
                </a:srgbClr>
              </a:clrTo>
            </a:clrChange>
            <a:extLst>
              <a:ext uri="{28A0092B-C50C-407E-A947-70E740481C1C}">
                <a14:useLocalDpi xmlns:a14="http://schemas.microsoft.com/office/drawing/2010/main" val="0"/>
              </a:ext>
            </a:extLst>
          </a:blip>
          <a:srcRect/>
          <a:stretch>
            <a:fillRect/>
          </a:stretch>
        </p:blipFill>
        <p:spPr bwMode="auto">
          <a:xfrm>
            <a:off x="7215188" y="4430713"/>
            <a:ext cx="175260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连接符 8"/>
          <p:cNvCxnSpPr>
            <a:cxnSpLocks noChangeShapeType="1"/>
          </p:cNvCxnSpPr>
          <p:nvPr/>
        </p:nvCxnSpPr>
        <p:spPr bwMode="auto">
          <a:xfrm>
            <a:off x="0" y="4929188"/>
            <a:ext cx="7143750" cy="1587"/>
          </a:xfrm>
          <a:prstGeom prst="line">
            <a:avLst/>
          </a:prstGeom>
          <a:noFill/>
          <a:ln w="15875">
            <a:solidFill>
              <a:srgbClr val="808080"/>
            </a:solidFill>
            <a:round/>
          </a:ln>
          <a:extLst>
            <a:ext uri="{909E8E84-426E-40DD-AFC4-6F175D3DCCD1}">
              <a14:hiddenFill xmlns:a14="http://schemas.microsoft.com/office/drawing/2010/main">
                <a:noFill/>
              </a14:hiddenFill>
            </a:ext>
          </a:extLst>
        </p:spPr>
      </p:cxnSp>
      <p:cxnSp>
        <p:nvCxnSpPr>
          <p:cNvPr id="8" name="直接连接符 9"/>
          <p:cNvCxnSpPr>
            <a:cxnSpLocks noChangeShapeType="1"/>
          </p:cNvCxnSpPr>
          <p:nvPr/>
        </p:nvCxnSpPr>
        <p:spPr bwMode="auto">
          <a:xfrm rot="5400000" flipH="1" flipV="1">
            <a:off x="6930231" y="4714082"/>
            <a:ext cx="428625" cy="1588"/>
          </a:xfrm>
          <a:prstGeom prst="line">
            <a:avLst/>
          </a:prstGeom>
          <a:noFill/>
          <a:ln w="73025">
            <a:solidFill>
              <a:srgbClr val="A6A6A6"/>
            </a:solidFill>
            <a:round/>
          </a:ln>
          <a:extLst>
            <a:ext uri="{909E8E84-426E-40DD-AFC4-6F175D3DCCD1}">
              <a14:hiddenFill xmlns:a14="http://schemas.microsoft.com/office/drawing/2010/main">
                <a:noFill/>
              </a14:hiddenFill>
            </a:ext>
          </a:extLst>
        </p:spPr>
      </p:cxnSp>
      <p:cxnSp>
        <p:nvCxnSpPr>
          <p:cNvPr id="9" name="直接连接符 10"/>
          <p:cNvCxnSpPr>
            <a:cxnSpLocks noChangeShapeType="1"/>
          </p:cNvCxnSpPr>
          <p:nvPr userDrawn="1"/>
        </p:nvCxnSpPr>
        <p:spPr bwMode="auto">
          <a:xfrm rot="5400000" flipH="1" flipV="1">
            <a:off x="6857207" y="4712494"/>
            <a:ext cx="285750" cy="1587"/>
          </a:xfrm>
          <a:prstGeom prst="line">
            <a:avLst/>
          </a:prstGeom>
          <a:noFill/>
          <a:ln w="73025">
            <a:solidFill>
              <a:srgbClr val="10ADDF"/>
            </a:solidFill>
            <a:round/>
          </a:ln>
          <a:extLst>
            <a:ext uri="{909E8E84-426E-40DD-AFC4-6F175D3DCCD1}">
              <a14:hiddenFill xmlns:a14="http://schemas.microsoft.com/office/drawing/2010/main">
                <a:noFill/>
              </a14:hiddenFill>
            </a:ext>
          </a:extLst>
        </p:spPr>
      </p:cxn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2" name="图片 2" descr="01300000025823123608807852718.jpg"/>
          <p:cNvPicPr>
            <a:picLocks noChangeAspect="1" noChangeArrowheads="1"/>
          </p:cNvPicPr>
          <p:nvPr userDrawn="1"/>
        </p:nvPicPr>
        <p:blipFill>
          <a:blip r:embed="rId2">
            <a:extLst>
              <a:ext uri="{28A0092B-C50C-407E-A947-70E740481C1C}">
                <a14:useLocalDpi xmlns:a14="http://schemas.microsoft.com/office/drawing/2010/main" val="0"/>
              </a:ext>
            </a:extLst>
          </a:blip>
          <a:srcRect t="12891" b="29688"/>
          <a:stretch>
            <a:fillRect/>
          </a:stretch>
        </p:blipFill>
        <p:spPr bwMode="auto">
          <a:xfrm>
            <a:off x="0" y="785813"/>
            <a:ext cx="914400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表格 2"/>
          <p:cNvGraphicFramePr>
            <a:graphicFrameLocks noGrp="1"/>
          </p:cNvGraphicFramePr>
          <p:nvPr/>
        </p:nvGraphicFramePr>
        <p:xfrm>
          <a:off x="0" y="785813"/>
          <a:ext cx="9144000" cy="35004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914400">
                  <a:extLst>
                    <a:ext uri="{9D8B030D-6E8A-4147-A177-3AD203B41FA5}">
                      <a16:colId xmlns:a16="http://schemas.microsoft.com/office/drawing/2014/main" val="20009"/>
                    </a:ext>
                  </a:extLst>
                </a:gridCol>
              </a:tblGrid>
              <a:tr h="437555">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0"/>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1"/>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bg1">
                        <a:lumMod val="50000"/>
                        <a:alpha val="0"/>
                      </a:schemeClr>
                    </a:solidFill>
                  </a:tcPr>
                </a:tc>
                <a:tc>
                  <a:txBody>
                    <a:bodyPr/>
                    <a:lstStyle/>
                    <a:p>
                      <a:endParaRPr lang="zh-CN" altLang="en-US" sz="1800" dirty="0"/>
                    </a:p>
                  </a:txBody>
                  <a:tcPr>
                    <a:solidFill>
                      <a:schemeClr val="bg1">
                        <a:lumMod val="50000"/>
                        <a:alpha val="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2"/>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bg1">
                        <a:lumMod val="50000"/>
                      </a:schemeClr>
                    </a:solidFill>
                  </a:tcPr>
                </a:tc>
                <a:tc>
                  <a:txBody>
                    <a:bodyPr/>
                    <a:lstStyle/>
                    <a:p>
                      <a:endParaRPr lang="zh-CN" altLang="en-US" sz="1800" dirty="0"/>
                    </a:p>
                  </a:txBody>
                  <a:tcPr>
                    <a:solidFill>
                      <a:schemeClr val="bg1">
                        <a:lumMod val="50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3"/>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rowSpan="3" gridSpan="4">
                  <a:txBody>
                    <a:bodyPr/>
                    <a:lstStyle/>
                    <a:p>
                      <a:pPr algn="ctr"/>
                      <a:r>
                        <a:rPr lang="en-US" altLang="zh-CN" sz="8000" dirty="0">
                          <a:solidFill>
                            <a:schemeClr val="bg1"/>
                          </a:solidFill>
                          <a:latin typeface="微软雅黑" panose="020B0503020204020204" pitchFamily="34" charset="-122"/>
                          <a:ea typeface="微软雅黑" panose="020B0503020204020204" pitchFamily="34" charset="-122"/>
                        </a:rPr>
                        <a:t>Thanks</a:t>
                      </a:r>
                    </a:p>
                  </a:txBody>
                  <a:tcPr>
                    <a:solidFill>
                      <a:schemeClr val="tx2">
                        <a:lumMod val="75000"/>
                      </a:schemeClr>
                    </a:solidFill>
                  </a:tcPr>
                </a:tc>
                <a:tc rowSpan="3" hMerge="1">
                  <a:txBody>
                    <a:bodyPr/>
                    <a:lstStyle/>
                    <a:p>
                      <a:endParaRPr lang="zh-CN"/>
                    </a:p>
                  </a:txBody>
                  <a:tcPr>
                    <a:solidFill>
                      <a:srgbClr val="35B4D5"/>
                    </a:solidFill>
                  </a:tcPr>
                </a:tc>
                <a:tc rowSpan="3" hMerge="1">
                  <a:txBody>
                    <a:bodyPr/>
                    <a:lstStyle/>
                    <a:p>
                      <a:endParaRPr lang="zh-CN"/>
                    </a:p>
                  </a:txBody>
                  <a:tcPr>
                    <a:solidFill>
                      <a:srgbClr val="35B4D5"/>
                    </a:solidFill>
                  </a:tcPr>
                </a:tc>
                <a:tc rowSpan="3" hMerge="1">
                  <a:txBody>
                    <a:bodyPr/>
                    <a:lstStyle/>
                    <a:p>
                      <a:endParaRPr lang="zh-CN"/>
                    </a:p>
                  </a:txBody>
                  <a:tcPr>
                    <a:solidFill>
                      <a:srgbClr val="35B4D5"/>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extLst>
                  <a:ext uri="{0D108BD9-81ED-4DB2-BD59-A6C34878D82A}">
                    <a16:rowId xmlns:a16="http://schemas.microsoft.com/office/drawing/2014/main" val="10004"/>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gridSpan="4" vMerge="1">
                  <a:txBody>
                    <a:bodyPr/>
                    <a:lstStyle/>
                    <a:p>
                      <a:endParaRPr lang="zh-CN"/>
                    </a:p>
                  </a:txBody>
                  <a:tcPr>
                    <a:solidFill>
                      <a:srgbClr val="35B4D5"/>
                    </a:solidFill>
                  </a:tcPr>
                </a:tc>
                <a:tc hMerge="1" vMerge="1">
                  <a:txBody>
                    <a:bodyPr/>
                    <a:lstStyle/>
                    <a:p>
                      <a:endParaRPr lang="zh-CN"/>
                    </a:p>
                  </a:txBody>
                  <a:tcPr>
                    <a:solidFill>
                      <a:srgbClr val="35B4D5"/>
                    </a:solidFill>
                  </a:tcPr>
                </a:tc>
                <a:tc hMerge="1" vMerge="1">
                  <a:txBody>
                    <a:bodyPr/>
                    <a:lstStyle/>
                    <a:p>
                      <a:endParaRPr lang="zh-CN"/>
                    </a:p>
                  </a:txBody>
                  <a:tcPr>
                    <a:solidFill>
                      <a:srgbClr val="35B4D5"/>
                    </a:solidFill>
                  </a:tcPr>
                </a:tc>
                <a:tc hMerge="1" vMerge="1">
                  <a:txBody>
                    <a:bodyPr/>
                    <a:lstStyle/>
                    <a:p>
                      <a:endParaRPr lang="zh-CN"/>
                    </a:p>
                  </a:txBody>
                  <a:tcPr>
                    <a:solidFill>
                      <a:srgbClr val="35B4D5"/>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5"/>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gridSpan="4" vMerge="1">
                  <a:txBody>
                    <a:bodyPr/>
                    <a:lstStyle/>
                    <a:p>
                      <a:endParaRPr lang="zh-CN"/>
                    </a:p>
                  </a:txBody>
                  <a:tcPr>
                    <a:solidFill>
                      <a:srgbClr val="35B4D5"/>
                    </a:solidFill>
                  </a:tcPr>
                </a:tc>
                <a:tc hMerge="1" vMerge="1">
                  <a:txBody>
                    <a:bodyPr/>
                    <a:lstStyle/>
                    <a:p>
                      <a:endParaRPr lang="zh-CN"/>
                    </a:p>
                  </a:txBody>
                  <a:tcPr>
                    <a:solidFill>
                      <a:srgbClr val="35B4D5"/>
                    </a:solidFill>
                  </a:tcPr>
                </a:tc>
                <a:tc hMerge="1" vMerge="1">
                  <a:txBody>
                    <a:bodyPr/>
                    <a:lstStyle/>
                    <a:p>
                      <a:endParaRPr lang="zh-CN"/>
                    </a:p>
                  </a:txBody>
                  <a:tcPr>
                    <a:solidFill>
                      <a:srgbClr val="35B4D5"/>
                    </a:solidFill>
                  </a:tcPr>
                </a:tc>
                <a:tc hMerge="1" vMerge="1">
                  <a:txBody>
                    <a:bodyPr/>
                    <a:lstStyle/>
                    <a:p>
                      <a:endParaRPr lang="zh-CN"/>
                    </a:p>
                  </a:txBody>
                  <a:tcPr>
                    <a:solidFill>
                      <a:srgbClr val="35B4D5"/>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extLst>
                  <a:ext uri="{0D108BD9-81ED-4DB2-BD59-A6C34878D82A}">
                    <a16:rowId xmlns:a16="http://schemas.microsoft.com/office/drawing/2014/main" val="10006"/>
                  </a:ext>
                </a:extLst>
              </a:tr>
              <a:tr h="437555">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a:p>
                  </a:txBody>
                  <a:tcPr>
                    <a:solidFill>
                      <a:schemeClr val="accent1">
                        <a:tint val="40000"/>
                        <a:alpha val="14000"/>
                      </a:schemeClr>
                    </a:solidFill>
                  </a:tcPr>
                </a:tc>
                <a:tc>
                  <a:txBody>
                    <a:bodyPr/>
                    <a:lstStyle/>
                    <a:p>
                      <a:endParaRPr lang="zh-CN" altLang="en-US" sz="1800" dirty="0"/>
                    </a:p>
                  </a:txBody>
                  <a:tcPr>
                    <a:solidFill>
                      <a:schemeClr val="bg1">
                        <a:lumMod val="50000"/>
                      </a:schemeClr>
                    </a:solidFill>
                  </a:tcPr>
                </a:tc>
                <a:tc>
                  <a:txBody>
                    <a:bodyPr/>
                    <a:lstStyle/>
                    <a:p>
                      <a:endParaRPr lang="zh-CN" altLang="en-US" sz="1800" dirty="0"/>
                    </a:p>
                  </a:txBody>
                  <a:tcPr>
                    <a:solidFill>
                      <a:schemeClr val="bg1">
                        <a:lumMod val="50000"/>
                      </a:schemeClr>
                    </a:solidFill>
                  </a:tcPr>
                </a:tc>
                <a:tc>
                  <a:txBody>
                    <a:bodyPr/>
                    <a:lstStyle/>
                    <a:p>
                      <a:endParaRPr lang="zh-CN" altLang="en-US" sz="1800" dirty="0"/>
                    </a:p>
                  </a:txBody>
                  <a:tcPr>
                    <a:solidFill>
                      <a:schemeClr val="accent1">
                        <a:tint val="40000"/>
                        <a:alpha val="14000"/>
                      </a:schemeClr>
                    </a:solidFill>
                  </a:tcPr>
                </a:tc>
                <a:extLst>
                  <a:ext uri="{0D108BD9-81ED-4DB2-BD59-A6C34878D82A}">
                    <a16:rowId xmlns:a16="http://schemas.microsoft.com/office/drawing/2014/main" val="10007"/>
                  </a:ext>
                </a:extLst>
              </a:tr>
            </a:tbl>
          </a:graphicData>
        </a:graphic>
      </p:graphicFrame>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3" name="页脚占位符 2"/>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4" name="灯片编号占位符 3"/>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6B28A832-8EED-42FF-91F6-539511DE87D5}" type="slidenum">
              <a:rPr lang="zh-CN" altLang="en-US"/>
              <a:t>‹#›</a:t>
            </a:fld>
            <a:endParaRPr lang="zh-CN" altLang="en-US"/>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D432FDE0-38B8-4473-9D94-DC02358E1217}" type="slidenum">
              <a:rPr lang="zh-CN" altLang="en-US"/>
              <a:t>‹#›</a:t>
            </a:fld>
            <a:endParaRPr lang="zh-CN" altLang="en-US"/>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页脚占位符 5"/>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7" name="灯片编号占位符 6"/>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EED334FA-3F59-4255-8F5C-534CC39D51EA}" type="slidenum">
              <a:rPr lang="zh-CN" altLang="en-US"/>
              <a:t>‹#›</a:t>
            </a:fld>
            <a:endParaRPr lang="zh-CN" altLang="en-US"/>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F203148A-F56B-41E0-B459-577FE05D74D1}" type="slidenum">
              <a:rPr lang="zh-CN" altLang="en-US"/>
              <a:t>‹#›</a:t>
            </a:fld>
            <a:endParaRPr lang="zh-CN" altLang="en-US"/>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457200" y="4767263"/>
            <a:ext cx="2133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5" name="页脚占位符 4"/>
          <p:cNvSpPr>
            <a:spLocks noGrp="1"/>
          </p:cNvSpPr>
          <p:nvPr>
            <p:ph type="ftr" sz="quarter" idx="11"/>
          </p:nvPr>
        </p:nvSpPr>
        <p:spPr>
          <a:xfrm>
            <a:off x="3124200" y="4767263"/>
            <a:ext cx="2895600" cy="274637"/>
          </a:xfrm>
          <a:prstGeom prst="rect">
            <a:avLst/>
          </a:prstGeom>
        </p:spPr>
        <p:txBody>
          <a:bodyPr/>
          <a:lstStyle>
            <a:lvl1pPr eaLnBrk="1" fontAlgn="auto" hangingPunct="1">
              <a:spcBef>
                <a:spcPts val="0"/>
              </a:spcBef>
              <a:spcAft>
                <a:spcPts val="0"/>
              </a:spcAft>
              <a:defRPr>
                <a:latin typeface="+mn-lt"/>
                <a:ea typeface="+mn-ea"/>
              </a:defRPr>
            </a:lvl1pPr>
          </a:lstStyle>
          <a:p>
            <a:pPr>
              <a:defRPr/>
            </a:pPr>
            <a:endParaRPr lang="zh-CN" altLang="en-US"/>
          </a:p>
        </p:txBody>
      </p:sp>
      <p:sp>
        <p:nvSpPr>
          <p:cNvPr id="6" name="灯片编号占位符 5"/>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lstStyle>
            <a:lvl1pPr eaLnBrk="1" hangingPunct="1">
              <a:defRPr/>
            </a:lvl1pPr>
          </a:lstStyle>
          <a:p>
            <a:fld id="{89B7B3FE-4757-4D39-9101-D0C9D9635B2D}" type="slidenum">
              <a:rPr lang="zh-CN" altLang="en-US"/>
              <a:t>‹#›</a:t>
            </a:fld>
            <a:endParaRPr lang="zh-CN" altLang="en-US"/>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7" name="矩形 6"/>
          <p:cNvSpPr/>
          <p:nvPr/>
        </p:nvSpPr>
        <p:spPr>
          <a:xfrm>
            <a:off x="0" y="0"/>
            <a:ext cx="9144000" cy="5143500"/>
          </a:xfrm>
          <a:prstGeom prst="rect">
            <a:avLst/>
          </a:prstGeom>
          <a:blipFill dpi="0" rotWithShape="1">
            <a:blip r:embed="rId13" cstate="print"/>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hemeOverride" Target="../theme/themeOverride1.xml"/><Relationship Id="rId5" Type="http://schemas.openxmlformats.org/officeDocument/2006/relationships/image" Target="../media/image9.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6.jpg"/><Relationship Id="rId5" Type="http://schemas.openxmlformats.org/officeDocument/2006/relationships/image" Target="../media/image15.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wmf"/><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oleObject" Target="../embeddings/oleObject2.bin"/><Relationship Id="rId5" Type="http://schemas.openxmlformats.org/officeDocument/2006/relationships/image" Target="../media/image22.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5.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3"/>
          <p:cNvSpPr>
            <a:spLocks noChangeArrowheads="1"/>
          </p:cNvSpPr>
          <p:nvPr/>
        </p:nvSpPr>
        <p:spPr bwMode="auto">
          <a:xfrm>
            <a:off x="827584" y="1851670"/>
            <a:ext cx="749318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面向复杂工况的跨座式单轨列车齿轮箱因果域泛化故障诊断研究</a:t>
            </a:r>
          </a:p>
        </p:txBody>
      </p:sp>
      <p:sp>
        <p:nvSpPr>
          <p:cNvPr id="14339" name="文本框 4"/>
          <p:cNvSpPr txBox="1">
            <a:spLocks noChangeArrowheads="1"/>
          </p:cNvSpPr>
          <p:nvPr/>
        </p:nvSpPr>
        <p:spPr bwMode="auto">
          <a:xfrm>
            <a:off x="467544" y="3435846"/>
            <a:ext cx="799306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dist" eaLnBrk="1" hangingPunct="1"/>
            <a:r>
              <a:rPr lang="zh-CN" altLang="en-US" sz="2000"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Times New Roman" panose="02020603050405020304" pitchFamily="18" charset="0"/>
              </a:rPr>
              <a:t>答辩人：李强</a:t>
            </a:r>
            <a:r>
              <a:rPr lang="en-US" altLang="zh-CN" sz="2000" b="1" dirty="0">
                <a:solidFill>
                  <a:schemeClr val="bg1"/>
                </a:solidFill>
                <a:latin typeface="Times New Roman" panose="02020603050405020304" pitchFamily="18" charset="0"/>
              </a:rPr>
              <a:t>          </a:t>
            </a:r>
            <a:r>
              <a:rPr lang="zh-CN" altLang="en-US" sz="2000" b="1" dirty="0">
                <a:solidFill>
                  <a:schemeClr val="bg1"/>
                </a:solidFill>
                <a:latin typeface="Times New Roman" panose="02020603050405020304" pitchFamily="18" charset="0"/>
              </a:rPr>
              <a:t>导师：赵玲教授</a:t>
            </a:r>
            <a:r>
              <a:rPr lang="en-US" altLang="zh-CN" sz="2000" b="1" dirty="0">
                <a:solidFill>
                  <a:schemeClr val="bg1"/>
                </a:solidFill>
                <a:latin typeface="Times New Roman" panose="02020603050405020304" pitchFamily="18" charset="0"/>
              </a:rPr>
              <a:t>          </a:t>
            </a:r>
            <a:r>
              <a:rPr lang="zh-CN" altLang="en-US" sz="2000" b="1" dirty="0">
                <a:solidFill>
                  <a:schemeClr val="bg1"/>
                </a:solidFill>
                <a:latin typeface="Times New Roman" panose="02020603050405020304" pitchFamily="18" charset="0"/>
              </a:rPr>
              <a:t>汇报时间：</a:t>
            </a:r>
            <a:r>
              <a:rPr lang="en-US" altLang="zh-CN" sz="2200" b="1" dirty="0">
                <a:solidFill>
                  <a:schemeClr val="bg1"/>
                </a:solidFill>
                <a:latin typeface="Times New Roman" panose="02020603050405020304" pitchFamily="18" charset="0"/>
                <a:cs typeface="Times New Roman" panose="02020603050405020304" pitchFamily="18" charset="0"/>
              </a:rPr>
              <a:t>2025.12</a:t>
            </a:r>
            <a:endParaRPr lang="en-US" altLang="zh-CN" sz="20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advTm="2475">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070563" y="2160372"/>
            <a:ext cx="1000274" cy="553998"/>
          </a:xfrm>
          <a:prstGeom prst="rect">
            <a:avLst/>
          </a:prstGeom>
          <a:noFill/>
        </p:spPr>
        <p:txBody>
          <a:bodyPr wrap="none" lIns="0" tIns="0" rIns="0" bIns="0" anchor="ctr">
            <a:spAutoFit/>
          </a:bodyPr>
          <a:lstStyle/>
          <a:p>
            <a:pPr algn="just">
              <a:defRPr/>
            </a:pPr>
            <a:r>
              <a:rPr lang="zh-CN" altLang="en-US" sz="3600" b="1" spc="300" dirty="0">
                <a:solidFill>
                  <a:schemeClr val="bg1"/>
                </a:solidFill>
                <a:latin typeface="+mj-lt"/>
                <a:ea typeface="微软雅黑" panose="020B0503020204020204" pitchFamily="34" charset="-122"/>
              </a:rPr>
              <a:t>目录</a:t>
            </a:r>
            <a:endParaRPr lang="zh-CN" altLang="en-US" sz="4800" b="1" spc="300" dirty="0">
              <a:solidFill>
                <a:schemeClr val="bg1"/>
              </a:solidFill>
              <a:latin typeface="+mj-lt"/>
              <a:ea typeface="微软雅黑" panose="020B0503020204020204" pitchFamily="34" charset="-122"/>
            </a:endParaRPr>
          </a:p>
        </p:txBody>
      </p:sp>
      <p:sp>
        <p:nvSpPr>
          <p:cNvPr id="19" name="文本框 18"/>
          <p:cNvSpPr txBox="1"/>
          <p:nvPr/>
        </p:nvSpPr>
        <p:spPr>
          <a:xfrm>
            <a:off x="513615" y="2881848"/>
            <a:ext cx="2114169" cy="553998"/>
          </a:xfrm>
          <a:prstGeom prst="rect">
            <a:avLst/>
          </a:prstGeom>
          <a:noFill/>
        </p:spPr>
        <p:txBody>
          <a:bodyPr wrap="none" lIns="0" tIns="0" rIns="0" bIns="0" anchor="ctr">
            <a:spAutoFit/>
          </a:bodyPr>
          <a:lstStyle/>
          <a:p>
            <a:pPr algn="ctr">
              <a:defRPr/>
            </a:pPr>
            <a:r>
              <a:rPr lang="en-US" altLang="zh-CN" sz="3600" b="1" spc="300" dirty="0">
                <a:solidFill>
                  <a:schemeClr val="bg1"/>
                </a:solidFill>
                <a:latin typeface="+mj-lt"/>
                <a:ea typeface="微软雅黑" panose="020B0503020204020204" pitchFamily="34" charset="-122"/>
              </a:rPr>
              <a:t>CONTENT</a:t>
            </a:r>
            <a:endParaRPr lang="zh-CN" altLang="en-US" sz="3600" b="1" spc="300" dirty="0">
              <a:solidFill>
                <a:schemeClr val="bg1"/>
              </a:solidFill>
              <a:latin typeface="+mj-lt"/>
              <a:ea typeface="微软雅黑" panose="020B0503020204020204" pitchFamily="34" charset="-122"/>
            </a:endParaRPr>
          </a:p>
        </p:txBody>
      </p:sp>
      <p:sp>
        <p:nvSpPr>
          <p:cNvPr id="20" name="ïṥļídè"/>
          <p:cNvSpPr txBox="1"/>
          <p:nvPr/>
        </p:nvSpPr>
        <p:spPr>
          <a:xfrm>
            <a:off x="3202006" y="1995686"/>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国内外研究现状</a:t>
            </a:r>
          </a:p>
        </p:txBody>
      </p:sp>
      <p:sp>
        <p:nvSpPr>
          <p:cNvPr id="12" name="îSľîḍè"/>
          <p:cNvSpPr/>
          <p:nvPr/>
        </p:nvSpPr>
        <p:spPr>
          <a:xfrm>
            <a:off x="2982634" y="1563638"/>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01</a:t>
            </a:r>
          </a:p>
        </p:txBody>
      </p:sp>
      <p:sp>
        <p:nvSpPr>
          <p:cNvPr id="13" name="ïṣlïḋe"/>
          <p:cNvSpPr txBox="1"/>
          <p:nvPr/>
        </p:nvSpPr>
        <p:spPr>
          <a:xfrm>
            <a:off x="3195662" y="1563638"/>
            <a:ext cx="3962400" cy="441325"/>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研究背景及意义</a:t>
            </a:r>
          </a:p>
        </p:txBody>
      </p:sp>
      <p:sp>
        <p:nvSpPr>
          <p:cNvPr id="4" name="ïṥļídè"/>
          <p:cNvSpPr txBox="1"/>
          <p:nvPr/>
        </p:nvSpPr>
        <p:spPr>
          <a:xfrm>
            <a:off x="3195662" y="2427734"/>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主要研究内容</a:t>
            </a:r>
          </a:p>
        </p:txBody>
      </p:sp>
      <p:sp>
        <p:nvSpPr>
          <p:cNvPr id="8" name="îSľîḍè"/>
          <p:cNvSpPr/>
          <p:nvPr/>
        </p:nvSpPr>
        <p:spPr>
          <a:xfrm>
            <a:off x="2979662" y="1997296"/>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02</a:t>
            </a:r>
          </a:p>
        </p:txBody>
      </p:sp>
      <p:sp>
        <p:nvSpPr>
          <p:cNvPr id="9" name="îSľîḍè"/>
          <p:cNvSpPr/>
          <p:nvPr/>
        </p:nvSpPr>
        <p:spPr>
          <a:xfrm>
            <a:off x="2979662" y="2427734"/>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03</a:t>
            </a:r>
          </a:p>
        </p:txBody>
      </p:sp>
      <p:sp>
        <p:nvSpPr>
          <p:cNvPr id="2" name="îSľîḍè">
            <a:extLst>
              <a:ext uri="{FF2B5EF4-FFF2-40B4-BE49-F238E27FC236}">
                <a16:creationId xmlns:a16="http://schemas.microsoft.com/office/drawing/2014/main" id="{97BD0713-7565-8E85-8D4F-EC9A154BDA3D}"/>
              </a:ext>
            </a:extLst>
          </p:cNvPr>
          <p:cNvSpPr/>
          <p:nvPr/>
        </p:nvSpPr>
        <p:spPr>
          <a:xfrm>
            <a:off x="2979662" y="2859782"/>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04</a:t>
            </a:r>
          </a:p>
        </p:txBody>
      </p:sp>
      <p:sp>
        <p:nvSpPr>
          <p:cNvPr id="3" name="ïṥļídè">
            <a:extLst>
              <a:ext uri="{FF2B5EF4-FFF2-40B4-BE49-F238E27FC236}">
                <a16:creationId xmlns:a16="http://schemas.microsoft.com/office/drawing/2014/main" id="{B433CF98-E535-65CF-B908-5DAD66CAA63E}"/>
              </a:ext>
            </a:extLst>
          </p:cNvPr>
          <p:cNvSpPr txBox="1"/>
          <p:nvPr/>
        </p:nvSpPr>
        <p:spPr>
          <a:xfrm>
            <a:off x="3195662" y="2859782"/>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难点及解决方法</a:t>
            </a:r>
          </a:p>
        </p:txBody>
      </p:sp>
      <p:sp>
        <p:nvSpPr>
          <p:cNvPr id="5" name="îSľîḍè">
            <a:extLst>
              <a:ext uri="{FF2B5EF4-FFF2-40B4-BE49-F238E27FC236}">
                <a16:creationId xmlns:a16="http://schemas.microsoft.com/office/drawing/2014/main" id="{2E074024-F6CB-D883-F6F9-618FE9D01DD1}"/>
              </a:ext>
            </a:extLst>
          </p:cNvPr>
          <p:cNvSpPr/>
          <p:nvPr/>
        </p:nvSpPr>
        <p:spPr>
          <a:xfrm>
            <a:off x="2979662" y="3291830"/>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05</a:t>
            </a:r>
          </a:p>
        </p:txBody>
      </p:sp>
      <p:sp>
        <p:nvSpPr>
          <p:cNvPr id="6" name="ïṥļídè">
            <a:extLst>
              <a:ext uri="{FF2B5EF4-FFF2-40B4-BE49-F238E27FC236}">
                <a16:creationId xmlns:a16="http://schemas.microsoft.com/office/drawing/2014/main" id="{713234B1-6308-A1A8-B554-EE3CEB5D028C}"/>
              </a:ext>
            </a:extLst>
          </p:cNvPr>
          <p:cNvSpPr txBox="1"/>
          <p:nvPr/>
        </p:nvSpPr>
        <p:spPr>
          <a:xfrm>
            <a:off x="3195662" y="3291830"/>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创新点</a:t>
            </a:r>
          </a:p>
        </p:txBody>
      </p:sp>
      <p:sp>
        <p:nvSpPr>
          <p:cNvPr id="14" name="îSľîḍè">
            <a:extLst>
              <a:ext uri="{FF2B5EF4-FFF2-40B4-BE49-F238E27FC236}">
                <a16:creationId xmlns:a16="http://schemas.microsoft.com/office/drawing/2014/main" id="{2E074024-F6CB-D883-F6F9-618FE9D01DD1}"/>
              </a:ext>
            </a:extLst>
          </p:cNvPr>
          <p:cNvSpPr/>
          <p:nvPr/>
        </p:nvSpPr>
        <p:spPr>
          <a:xfrm>
            <a:off x="2979662" y="3719289"/>
            <a:ext cx="368202" cy="358430"/>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fontScale="77500" lnSpcReduction="20000"/>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06</a:t>
            </a:r>
          </a:p>
        </p:txBody>
      </p:sp>
      <p:sp>
        <p:nvSpPr>
          <p:cNvPr id="15" name="ïṥļídè">
            <a:extLst>
              <a:ext uri="{FF2B5EF4-FFF2-40B4-BE49-F238E27FC236}">
                <a16:creationId xmlns:a16="http://schemas.microsoft.com/office/drawing/2014/main" id="{713234B1-6308-A1A8-B554-EE3CEB5D028C}"/>
              </a:ext>
            </a:extLst>
          </p:cNvPr>
          <p:cNvSpPr txBox="1"/>
          <p:nvPr/>
        </p:nvSpPr>
        <p:spPr>
          <a:xfrm>
            <a:off x="3195662" y="3653039"/>
            <a:ext cx="3962400" cy="468312"/>
          </a:xfrm>
          <a:prstGeom prst="rect">
            <a:avLst/>
          </a:prstGeom>
          <a:noFill/>
        </p:spPr>
        <p:txBody>
          <a:bodyPr wrap="none" lIns="360000" tIns="0" rIns="0" bIns="0" anchor="ctr"/>
          <a:lstStyle/>
          <a:p>
            <a:pPr>
              <a:defRPr/>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预期成果与进度安排</a:t>
            </a:r>
          </a:p>
        </p:txBody>
      </p:sp>
    </p:spTree>
  </p:cSld>
  <p:clrMapOvr>
    <a:masterClrMapping/>
  </p:clrMapOvr>
  <p:transition advTm="7062">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555776"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01</a:t>
            </a:r>
          </a:p>
        </p:txBody>
      </p:sp>
      <p:sp>
        <p:nvSpPr>
          <p:cNvPr id="13" name="ïṣlïḋe"/>
          <p:cNvSpPr txBox="1"/>
          <p:nvPr/>
        </p:nvSpPr>
        <p:spPr>
          <a:xfrm>
            <a:off x="2987824"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研究背景及意义</a:t>
            </a:r>
          </a:p>
        </p:txBody>
      </p:sp>
    </p:spTree>
  </p:cSld>
  <p:clrMapOvr>
    <a:masterClrMapping/>
  </p:clrMapOvr>
  <p:transition advTm="7062">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文本框 8"/>
          <p:cNvSpPr txBox="1"/>
          <p:nvPr/>
        </p:nvSpPr>
        <p:spPr>
          <a:xfrm>
            <a:off x="971600" y="311258"/>
            <a:ext cx="2904472" cy="369332"/>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研究背景</a:t>
            </a:r>
          </a:p>
        </p:txBody>
      </p:sp>
      <p:sp>
        <p:nvSpPr>
          <p:cNvPr id="6"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graphicFrame>
        <p:nvGraphicFramePr>
          <p:cNvPr id="4" name="表格 3">
            <a:extLst>
              <a:ext uri="{FF2B5EF4-FFF2-40B4-BE49-F238E27FC236}">
                <a16:creationId xmlns:a16="http://schemas.microsoft.com/office/drawing/2014/main" id="{6D9D3E34-7366-7287-FC07-76F5379E46B8}"/>
              </a:ext>
            </a:extLst>
          </p:cNvPr>
          <p:cNvGraphicFramePr>
            <a:graphicFrameLocks noGrp="1"/>
          </p:cNvGraphicFramePr>
          <p:nvPr>
            <p:extLst>
              <p:ext uri="{D42A27DB-BD31-4B8C-83A1-F6EECF244321}">
                <p14:modId xmlns:p14="http://schemas.microsoft.com/office/powerpoint/2010/main" val="646675574"/>
              </p:ext>
            </p:extLst>
          </p:nvPr>
        </p:nvGraphicFramePr>
        <p:xfrm>
          <a:off x="971600" y="792481"/>
          <a:ext cx="6825738" cy="3666630"/>
        </p:xfrm>
        <a:graphic>
          <a:graphicData uri="http://schemas.openxmlformats.org/drawingml/2006/table">
            <a:tbl>
              <a:tblPr firstRow="1" bandRow="1">
                <a:tableStyleId>{5C22544A-7EE6-4342-B048-85BDC9FD1C3A}</a:tableStyleId>
              </a:tblPr>
              <a:tblGrid>
                <a:gridCol w="6825738">
                  <a:extLst>
                    <a:ext uri="{9D8B030D-6E8A-4147-A177-3AD203B41FA5}">
                      <a16:colId xmlns:a16="http://schemas.microsoft.com/office/drawing/2014/main" val="2178000741"/>
                    </a:ext>
                  </a:extLst>
                </a:gridCol>
              </a:tblGrid>
              <a:tr h="1208598">
                <a:tc>
                  <a:txBody>
                    <a:bodyPr/>
                    <a:lstStyle/>
                    <a:p>
                      <a:endParaRPr lang="zh-CN" altLang="en-US" dirty="0"/>
                    </a:p>
                  </a:txBody>
                  <a:tcPr>
                    <a:solidFill>
                      <a:schemeClr val="accent1">
                        <a:lumMod val="75000"/>
                      </a:schemeClr>
                    </a:solidFill>
                  </a:tcPr>
                </a:tc>
                <a:extLst>
                  <a:ext uri="{0D108BD9-81ED-4DB2-BD59-A6C34878D82A}">
                    <a16:rowId xmlns:a16="http://schemas.microsoft.com/office/drawing/2014/main" val="1227440706"/>
                  </a:ext>
                </a:extLst>
              </a:tr>
              <a:tr h="2458032">
                <a:tc>
                  <a:txBody>
                    <a:bodyPr/>
                    <a:lstStyle/>
                    <a:p>
                      <a:endParaRPr lang="zh-CN" altLang="en-US" dirty="0"/>
                    </a:p>
                  </a:txBody>
                  <a:tcPr/>
                </a:tc>
                <a:extLst>
                  <a:ext uri="{0D108BD9-81ED-4DB2-BD59-A6C34878D82A}">
                    <a16:rowId xmlns:a16="http://schemas.microsoft.com/office/drawing/2014/main" val="31623309"/>
                  </a:ext>
                </a:extLst>
              </a:tr>
            </a:tbl>
          </a:graphicData>
        </a:graphic>
      </p:graphicFrame>
      <p:pic>
        <p:nvPicPr>
          <p:cNvPr id="7" name="图片 6">
            <a:extLst>
              <a:ext uri="{FF2B5EF4-FFF2-40B4-BE49-F238E27FC236}">
                <a16:creationId xmlns:a16="http://schemas.microsoft.com/office/drawing/2014/main" id="{885A7DEA-0E4C-7B06-D616-C783960C0E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9098" y="2291158"/>
            <a:ext cx="2943033" cy="1833085"/>
          </a:xfrm>
          <a:prstGeom prst="rect">
            <a:avLst/>
          </a:prstGeom>
        </p:spPr>
      </p:pic>
      <p:sp>
        <p:nvSpPr>
          <p:cNvPr id="12" name="文本框 11">
            <a:extLst>
              <a:ext uri="{FF2B5EF4-FFF2-40B4-BE49-F238E27FC236}">
                <a16:creationId xmlns:a16="http://schemas.microsoft.com/office/drawing/2014/main" id="{3D364743-D5F7-E871-9498-B1CC5C4CF798}"/>
              </a:ext>
            </a:extLst>
          </p:cNvPr>
          <p:cNvSpPr txBox="1"/>
          <p:nvPr/>
        </p:nvSpPr>
        <p:spPr>
          <a:xfrm>
            <a:off x="1130447" y="897171"/>
            <a:ext cx="6508044" cy="954107"/>
          </a:xfrm>
          <a:prstGeom prst="rect">
            <a:avLst/>
          </a:prstGeom>
          <a:noFill/>
        </p:spPr>
        <p:txBody>
          <a:bodyPr wrap="square" rtlCol="0">
            <a:spAutoFit/>
          </a:bodyPr>
          <a:lstStyle/>
          <a:p>
            <a:pPr>
              <a:defRPr/>
            </a:pPr>
            <a:r>
              <a:rPr lang="zh-CN" altLang="en-US" sz="1400" b="1" dirty="0">
                <a:solidFill>
                  <a:schemeClr val="bg1"/>
                </a:solidFill>
                <a:latin typeface="微软雅黑" panose="020B0503020204020204" pitchFamily="34" charset="-122"/>
                <a:ea typeface="微软雅黑" panose="020B0503020204020204" pitchFamily="34" charset="-122"/>
                <a:cs typeface="+mn-ea"/>
              </a:rPr>
              <a:t>跨座式单轨列车是山城立体交通的主力军</a:t>
            </a:r>
            <a:endParaRPr lang="en-US" altLang="zh-CN" sz="1400" b="1" dirty="0">
              <a:solidFill>
                <a:schemeClr val="bg1"/>
              </a:solidFill>
              <a:latin typeface="微软雅黑" panose="020B0503020204020204" pitchFamily="34" charset="-122"/>
              <a:ea typeface="微软雅黑" panose="020B0503020204020204" pitchFamily="34" charset="-122"/>
              <a:cs typeface="+mn-ea"/>
            </a:endParaRPr>
          </a:p>
          <a:p>
            <a:pPr>
              <a:defRPr/>
            </a:pPr>
            <a:r>
              <a:rPr lang="zh-CN" altLang="en-US" sz="1400" b="1" dirty="0">
                <a:solidFill>
                  <a:schemeClr val="bg1"/>
                </a:solidFill>
                <a:latin typeface="微软雅黑" panose="020B0503020204020204" pitchFamily="34" charset="-122"/>
                <a:ea typeface="微软雅黑" panose="020B0503020204020204" pitchFamily="34" charset="-122"/>
                <a:cs typeface="+mn-ea"/>
              </a:rPr>
              <a:t>齿轮箱作为动力传输的“心脏”，其可靠性直接决定运营安全 </a:t>
            </a:r>
            <a:endParaRPr lang="en-US" altLang="zh-CN" sz="1400" b="1" dirty="0">
              <a:solidFill>
                <a:schemeClr val="bg1"/>
              </a:solidFill>
              <a:latin typeface="微软雅黑" panose="020B0503020204020204" pitchFamily="34" charset="-122"/>
              <a:ea typeface="微软雅黑" panose="020B0503020204020204" pitchFamily="34" charset="-122"/>
              <a:cs typeface="+mn-ea"/>
            </a:endParaRPr>
          </a:p>
          <a:p>
            <a:pPr>
              <a:defRPr/>
            </a:pPr>
            <a:r>
              <a:rPr lang="zh-CN" altLang="en-US" sz="1400" b="1" dirty="0">
                <a:solidFill>
                  <a:schemeClr val="bg1"/>
                </a:solidFill>
                <a:latin typeface="微软雅黑" panose="020B0503020204020204" pitchFamily="34" charset="-122"/>
                <a:ea typeface="微软雅黑" panose="020B0503020204020204" pitchFamily="34" charset="-122"/>
                <a:cs typeface="+mn-ea"/>
              </a:rPr>
              <a:t>列车长期运行于大坡度、小半径曲线等复杂地形</a:t>
            </a:r>
            <a:endParaRPr lang="en-US" altLang="zh-CN" sz="1400" b="1" dirty="0">
              <a:solidFill>
                <a:schemeClr val="bg1"/>
              </a:solidFill>
              <a:latin typeface="微软雅黑" panose="020B0503020204020204" pitchFamily="34" charset="-122"/>
              <a:ea typeface="微软雅黑" panose="020B0503020204020204" pitchFamily="34" charset="-122"/>
              <a:cs typeface="+mn-ea"/>
            </a:endParaRPr>
          </a:p>
          <a:p>
            <a:pPr>
              <a:defRPr/>
            </a:pPr>
            <a:r>
              <a:rPr lang="zh-CN" altLang="en-US" sz="1400" b="1" dirty="0">
                <a:solidFill>
                  <a:schemeClr val="bg1"/>
                </a:solidFill>
                <a:latin typeface="微软雅黑" panose="020B0503020204020204" pitchFamily="34" charset="-122"/>
                <a:ea typeface="微软雅黑" panose="020B0503020204020204" pitchFamily="34" charset="-122"/>
                <a:cs typeface="+mn-ea"/>
              </a:rPr>
              <a:t>齿轮箱承受变载重、变转速、强冲击的恶劣工况 </a:t>
            </a:r>
          </a:p>
        </p:txBody>
      </p:sp>
      <p:pic>
        <p:nvPicPr>
          <p:cNvPr id="195" name="图片 194">
            <a:extLst>
              <a:ext uri="{FF2B5EF4-FFF2-40B4-BE49-F238E27FC236}">
                <a16:creationId xmlns:a16="http://schemas.microsoft.com/office/drawing/2014/main" id="{362B8787-6C3D-E052-3756-033983A4C8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21894" y="2291158"/>
            <a:ext cx="2444112" cy="1833084"/>
          </a:xfrm>
          <a:prstGeom prst="rect">
            <a:avLst/>
          </a:prstGeom>
        </p:spPr>
      </p:pic>
    </p:spTree>
    <p:extLst>
      <p:ext uri="{BB962C8B-B14F-4D97-AF65-F5344CB8AC3E}">
        <p14:creationId xmlns:p14="http://schemas.microsoft.com/office/powerpoint/2010/main" val="1166078887"/>
      </p:ext>
    </p:extLst>
  </p:cSld>
  <p:clrMapOvr>
    <a:overrideClrMapping bg1="lt1" tx1="dk1" bg2="lt2" tx2="dk2" accent1="accent1" accent2="accent2" accent3="accent3" accent4="accent4" accent5="accent5" accent6="accent6" hlink="hlink" folHlink="folHlink"/>
  </p:clrMapOvr>
  <p:transition advTm="29843">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DE5282D9-BF1F-F841-52DD-8CEC9FE78FB0}"/>
              </a:ext>
            </a:extLst>
          </p:cNvPr>
          <p:cNvSpPr/>
          <p:nvPr/>
        </p:nvSpPr>
        <p:spPr>
          <a:xfrm>
            <a:off x="185410" y="110405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9" name="文本框 8"/>
          <p:cNvSpPr txBox="1"/>
          <p:nvPr/>
        </p:nvSpPr>
        <p:spPr>
          <a:xfrm>
            <a:off x="971600" y="29586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选题意义</a:t>
            </a:r>
          </a:p>
        </p:txBody>
      </p:sp>
      <p:sp>
        <p:nvSpPr>
          <p:cNvPr id="2" name="任意多边形: 形状 1">
            <a:extLst>
              <a:ext uri="{FF2B5EF4-FFF2-40B4-BE49-F238E27FC236}">
                <a16:creationId xmlns:a16="http://schemas.microsoft.com/office/drawing/2014/main" id="{39E94B80-3FE6-6E6E-3663-8792A3702891}"/>
              </a:ext>
            </a:extLst>
          </p:cNvPr>
          <p:cNvSpPr/>
          <p:nvPr/>
        </p:nvSpPr>
        <p:spPr>
          <a:xfrm>
            <a:off x="185410" y="753290"/>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a:extLst>
              <a:ext uri="{FF2B5EF4-FFF2-40B4-BE49-F238E27FC236}">
                <a16:creationId xmlns:a16="http://schemas.microsoft.com/office/drawing/2014/main" id="{055D4953-F213-658E-14C9-12B7923DCEF2}"/>
              </a:ext>
            </a:extLst>
          </p:cNvPr>
          <p:cNvSpPr txBox="1"/>
          <p:nvPr/>
        </p:nvSpPr>
        <p:spPr>
          <a:xfrm>
            <a:off x="219996" y="160395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增加机械磨损：轻微的振动可能会导致齿轮箱内部部件的微小磨损。虽然这不会立即导致故障，但长期积累的磨损会降低齿轮箱的效率和使用寿命。例如，微小的齿面接触不良可能逐渐增加摩擦，导致齿轮磨损。</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141877DA-9B98-79DD-2EFB-90EACA25EDE7}"/>
              </a:ext>
            </a:extLst>
          </p:cNvPr>
          <p:cNvSpPr txBox="1"/>
          <p:nvPr/>
        </p:nvSpPr>
        <p:spPr>
          <a:xfrm>
            <a:off x="219996" y="110087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低危害</a:t>
            </a:r>
            <a:endParaRPr lang="en-US" altLang="zh-CN" sz="1600"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5" name="图片 14">
            <a:extLst>
              <a:ext uri="{FF2B5EF4-FFF2-40B4-BE49-F238E27FC236}">
                <a16:creationId xmlns:a16="http://schemas.microsoft.com/office/drawing/2014/main" id="{06B21388-440B-2F9C-E16B-2BAACB75B9D3}"/>
              </a:ext>
            </a:extLst>
          </p:cNvPr>
          <p:cNvPicPr>
            <a:picLocks noChangeAspect="1"/>
          </p:cNvPicPr>
          <p:nvPr/>
        </p:nvPicPr>
        <p:blipFill>
          <a:blip r:embed="rId3"/>
          <a:stretch>
            <a:fillRect/>
          </a:stretch>
        </p:blipFill>
        <p:spPr>
          <a:xfrm>
            <a:off x="657800" y="3436643"/>
            <a:ext cx="1422270" cy="1055096"/>
          </a:xfrm>
          <a:prstGeom prst="rect">
            <a:avLst/>
          </a:prstGeom>
        </p:spPr>
      </p:pic>
      <p:sp>
        <p:nvSpPr>
          <p:cNvPr id="16" name="矩形 15">
            <a:extLst>
              <a:ext uri="{FF2B5EF4-FFF2-40B4-BE49-F238E27FC236}">
                <a16:creationId xmlns:a16="http://schemas.microsoft.com/office/drawing/2014/main" id="{DC31A56F-6432-48F0-BD13-4DAC53C59A95}"/>
              </a:ext>
            </a:extLst>
          </p:cNvPr>
          <p:cNvSpPr/>
          <p:nvPr/>
        </p:nvSpPr>
        <p:spPr>
          <a:xfrm>
            <a:off x="3362563" y="110405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7" name="文本框 16">
            <a:extLst>
              <a:ext uri="{FF2B5EF4-FFF2-40B4-BE49-F238E27FC236}">
                <a16:creationId xmlns:a16="http://schemas.microsoft.com/office/drawing/2014/main" id="{F10E1108-D2F7-6CC0-9BC1-A14C9DCEAC56}"/>
              </a:ext>
            </a:extLst>
          </p:cNvPr>
          <p:cNvSpPr txBox="1"/>
          <p:nvPr/>
        </p:nvSpPr>
        <p:spPr>
          <a:xfrm>
            <a:off x="3420966" y="160395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引发噪音和震动：中等程度的振动会导致齿轮箱产生较大的噪音，影响设备的工作环境。例如，振动引起的机械共振可能导致工作场所噪音增大，甚至影响工作人员的健康。长期暴露在噪音过大的环境中会导致疲劳和听力损伤。</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2B3E59B2-33AC-33F2-FBA1-3F2061F2B7E9}"/>
              </a:ext>
            </a:extLst>
          </p:cNvPr>
          <p:cNvSpPr txBox="1"/>
          <p:nvPr/>
        </p:nvSpPr>
        <p:spPr>
          <a:xfrm>
            <a:off x="3420966" y="110087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中危害</a:t>
            </a:r>
            <a:endParaRPr lang="en-US" altLang="zh-CN" sz="16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F85D66C8-A3AB-618C-8F65-68DADFFCDE5E}"/>
              </a:ext>
            </a:extLst>
          </p:cNvPr>
          <p:cNvSpPr/>
          <p:nvPr/>
        </p:nvSpPr>
        <p:spPr>
          <a:xfrm>
            <a:off x="6621936" y="110087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21" name="文本框 20">
            <a:extLst>
              <a:ext uri="{FF2B5EF4-FFF2-40B4-BE49-F238E27FC236}">
                <a16:creationId xmlns:a16="http://schemas.microsoft.com/office/drawing/2014/main" id="{49E86FBF-BA82-1643-B1CE-EF1ABB656F63}"/>
              </a:ext>
            </a:extLst>
          </p:cNvPr>
          <p:cNvSpPr txBox="1"/>
          <p:nvPr/>
        </p:nvSpPr>
        <p:spPr>
          <a:xfrm>
            <a:off x="6656522" y="160077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发生故障与停机：例如，失效的齿轮或轴承可能引发旋转部件飞出，造成操作人员受伤或设备损坏。此外，在严重情况下，设备的停机可能引发更大范围的生产线瘫痪，延误交货期，影响企业声誉和客户满意度。</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96A59C95-BC17-8A6B-900D-AE78BD0992A4}"/>
              </a:ext>
            </a:extLst>
          </p:cNvPr>
          <p:cNvSpPr txBox="1"/>
          <p:nvPr/>
        </p:nvSpPr>
        <p:spPr>
          <a:xfrm>
            <a:off x="6656522" y="109769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高危害</a:t>
            </a:r>
            <a:endPar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5" name="图片 24">
            <a:extLst>
              <a:ext uri="{FF2B5EF4-FFF2-40B4-BE49-F238E27FC236}">
                <a16:creationId xmlns:a16="http://schemas.microsoft.com/office/drawing/2014/main" id="{2E4A7442-6955-017D-B06B-2D827CFCD94E}"/>
              </a:ext>
            </a:extLst>
          </p:cNvPr>
          <p:cNvPicPr>
            <a:picLocks noChangeAspect="1"/>
          </p:cNvPicPr>
          <p:nvPr/>
        </p:nvPicPr>
        <p:blipFill>
          <a:blip r:embed="rId4"/>
          <a:stretch>
            <a:fillRect/>
          </a:stretch>
        </p:blipFill>
        <p:spPr>
          <a:xfrm>
            <a:off x="6903340" y="2767061"/>
            <a:ext cx="1808431" cy="1285751"/>
          </a:xfrm>
          <a:prstGeom prst="rect">
            <a:avLst/>
          </a:prstGeom>
        </p:spPr>
      </p:pic>
      <p:pic>
        <p:nvPicPr>
          <p:cNvPr id="27" name="图片 26">
            <a:extLst>
              <a:ext uri="{FF2B5EF4-FFF2-40B4-BE49-F238E27FC236}">
                <a16:creationId xmlns:a16="http://schemas.microsoft.com/office/drawing/2014/main" id="{80AC95E7-F2AB-8ACB-B62C-FCBA9D86A1D1}"/>
              </a:ext>
            </a:extLst>
          </p:cNvPr>
          <p:cNvPicPr>
            <a:picLocks noChangeAspect="1"/>
          </p:cNvPicPr>
          <p:nvPr/>
        </p:nvPicPr>
        <p:blipFill>
          <a:blip r:embed="rId5"/>
          <a:stretch>
            <a:fillRect/>
          </a:stretch>
        </p:blipFill>
        <p:spPr>
          <a:xfrm>
            <a:off x="854827" y="2353790"/>
            <a:ext cx="1028217" cy="1060195"/>
          </a:xfrm>
          <a:prstGeom prst="rect">
            <a:avLst/>
          </a:prstGeom>
        </p:spPr>
      </p:pic>
      <p:pic>
        <p:nvPicPr>
          <p:cNvPr id="29" name="图片 28">
            <a:extLst>
              <a:ext uri="{FF2B5EF4-FFF2-40B4-BE49-F238E27FC236}">
                <a16:creationId xmlns:a16="http://schemas.microsoft.com/office/drawing/2014/main" id="{31D77FA7-C86E-DFA1-1D24-B6DFFF3DA949}"/>
              </a:ext>
            </a:extLst>
          </p:cNvPr>
          <p:cNvPicPr>
            <a:picLocks noChangeAspect="1"/>
          </p:cNvPicPr>
          <p:nvPr/>
        </p:nvPicPr>
        <p:blipFill>
          <a:blip r:embed="rId6"/>
          <a:stretch>
            <a:fillRect/>
          </a:stretch>
        </p:blipFill>
        <p:spPr>
          <a:xfrm>
            <a:off x="3928826" y="2571750"/>
            <a:ext cx="1286348" cy="1819114"/>
          </a:xfrm>
          <a:prstGeom prst="rect">
            <a:avLst/>
          </a:prstGeom>
        </p:spPr>
      </p:pic>
      <p:sp>
        <p:nvSpPr>
          <p:cNvPr id="30" name="ïṣlïḋe">
            <a:extLst>
              <a:ext uri="{FF2B5EF4-FFF2-40B4-BE49-F238E27FC236}">
                <a16:creationId xmlns:a16="http://schemas.microsoft.com/office/drawing/2014/main" id="{C9FE05D6-021C-DF32-BA5C-0B5D3B290A1A}"/>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advTm="29843">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4A749-F06A-907B-797D-05A6F7CDDF5F}"/>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46B77998-B0D2-1DBB-312A-F6DFFCF8954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746304" y="190553"/>
            <a:ext cx="5946217" cy="4452091"/>
          </a:xfrm>
          <a:prstGeom prst="rect">
            <a:avLst/>
          </a:prstGeom>
        </p:spPr>
      </p:pic>
      <p:sp>
        <p:nvSpPr>
          <p:cNvPr id="9" name="文本框 8">
            <a:extLst>
              <a:ext uri="{FF2B5EF4-FFF2-40B4-BE49-F238E27FC236}">
                <a16:creationId xmlns:a16="http://schemas.microsoft.com/office/drawing/2014/main" id="{AE777991-F28B-5A5F-C697-05EEA4AD592C}"/>
              </a:ext>
            </a:extLst>
          </p:cNvPr>
          <p:cNvSpPr txBox="1"/>
          <p:nvPr/>
        </p:nvSpPr>
        <p:spPr>
          <a:xfrm>
            <a:off x="971600" y="295869"/>
            <a:ext cx="1549409"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齿轮箱对比</a:t>
            </a:r>
          </a:p>
        </p:txBody>
      </p:sp>
      <p:sp>
        <p:nvSpPr>
          <p:cNvPr id="3" name="任意多边形: 形状 2">
            <a:extLst>
              <a:ext uri="{FF2B5EF4-FFF2-40B4-BE49-F238E27FC236}">
                <a16:creationId xmlns:a16="http://schemas.microsoft.com/office/drawing/2014/main" id="{ED9868A8-AA2B-8D7F-DDA4-AF68C6B65222}"/>
              </a:ext>
            </a:extLst>
          </p:cNvPr>
          <p:cNvSpPr>
            <a:spLocks noChangeAspect="1"/>
          </p:cNvSpPr>
          <p:nvPr/>
        </p:nvSpPr>
        <p:spPr>
          <a:xfrm>
            <a:off x="1094907" y="1851750"/>
            <a:ext cx="723116" cy="1440000"/>
          </a:xfrm>
          <a:custGeom>
            <a:avLst/>
            <a:gdLst>
              <a:gd name="connsiteX0" fmla="*/ 243734 w 290321"/>
              <a:gd name="connsiteY0" fmla="*/ 73296 h 578138"/>
              <a:gd name="connsiteX1" fmla="*/ 260018 w 290321"/>
              <a:gd name="connsiteY1" fmla="*/ 84286 h 578138"/>
              <a:gd name="connsiteX2" fmla="*/ 287274 w 290321"/>
              <a:gd name="connsiteY2" fmla="*/ 197459 h 578138"/>
              <a:gd name="connsiteX3" fmla="*/ 257149 w 290321"/>
              <a:gd name="connsiteY3" fmla="*/ 215366 h 578138"/>
              <a:gd name="connsiteX4" fmla="*/ 215547 w 290321"/>
              <a:gd name="connsiteY4" fmla="*/ 206054 h 578138"/>
              <a:gd name="connsiteX5" fmla="*/ 215547 w 290321"/>
              <a:gd name="connsiteY5" fmla="*/ 303468 h 578138"/>
              <a:gd name="connsiteX6" fmla="*/ 203354 w 290321"/>
              <a:gd name="connsiteY6" fmla="*/ 303468 h 578138"/>
              <a:gd name="connsiteX7" fmla="*/ 203354 w 290321"/>
              <a:gd name="connsiteY7" fmla="*/ 208203 h 578138"/>
              <a:gd name="connsiteX8" fmla="*/ 149559 w 290321"/>
              <a:gd name="connsiteY8" fmla="*/ 361487 h 578138"/>
              <a:gd name="connsiteX9" fmla="*/ 138800 w 290321"/>
              <a:gd name="connsiteY9" fmla="*/ 383692 h 578138"/>
              <a:gd name="connsiteX10" fmla="*/ 144538 w 290321"/>
              <a:gd name="connsiteY10" fmla="*/ 545571 h 578138"/>
              <a:gd name="connsiteX11" fmla="*/ 84288 w 290321"/>
              <a:gd name="connsiteY11" fmla="*/ 551302 h 578138"/>
              <a:gd name="connsiteX12" fmla="*/ 79267 w 290321"/>
              <a:gd name="connsiteY12" fmla="*/ 400883 h 578138"/>
              <a:gd name="connsiteX13" fmla="*/ 74246 w 290321"/>
              <a:gd name="connsiteY13" fmla="*/ 238287 h 578138"/>
              <a:gd name="connsiteX14" fmla="*/ 40535 w 290321"/>
              <a:gd name="connsiteY14" fmla="*/ 263357 h 578138"/>
              <a:gd name="connsiteX15" fmla="*/ 10410 w 290321"/>
              <a:gd name="connsiteY15" fmla="*/ 219664 h 578138"/>
              <a:gd name="connsiteX16" fmla="*/ 127324 w 290321"/>
              <a:gd name="connsiteY16" fmla="*/ 137291 h 578138"/>
              <a:gd name="connsiteX17" fmla="*/ 183988 w 290321"/>
              <a:gd name="connsiteY17" fmla="*/ 125831 h 578138"/>
              <a:gd name="connsiteX18" fmla="*/ 209092 w 290321"/>
              <a:gd name="connsiteY18" fmla="*/ 152333 h 578138"/>
              <a:gd name="connsiteX19" fmla="*/ 241369 w 290321"/>
              <a:gd name="connsiteY19" fmla="*/ 160929 h 578138"/>
              <a:gd name="connsiteX20" fmla="*/ 218416 w 290321"/>
              <a:gd name="connsiteY20" fmla="*/ 109356 h 578138"/>
              <a:gd name="connsiteX21" fmla="*/ 243734 w 290321"/>
              <a:gd name="connsiteY21" fmla="*/ 73296 h 578138"/>
              <a:gd name="connsiteX22" fmla="*/ 61983 w 290321"/>
              <a:gd name="connsiteY22" fmla="*/ 32001 h 578138"/>
              <a:gd name="connsiteX23" fmla="*/ 93561 w 290321"/>
              <a:gd name="connsiteY23" fmla="*/ 53464 h 578138"/>
              <a:gd name="connsiteX24" fmla="*/ 61983 w 290321"/>
              <a:gd name="connsiteY24" fmla="*/ 68488 h 578138"/>
              <a:gd name="connsiteX25" fmla="*/ 44759 w 290321"/>
              <a:gd name="connsiteY25" fmla="*/ 50602 h 578138"/>
              <a:gd name="connsiteX26" fmla="*/ 61983 w 290321"/>
              <a:gd name="connsiteY26" fmla="*/ 32001 h 578138"/>
              <a:gd name="connsiteX27" fmla="*/ 224095 w 290321"/>
              <a:gd name="connsiteY27" fmla="*/ 20182 h 578138"/>
              <a:gd name="connsiteX28" fmla="*/ 257090 w 290321"/>
              <a:gd name="connsiteY28" fmla="*/ 41305 h 578138"/>
              <a:gd name="connsiteX29" fmla="*/ 265697 w 290321"/>
              <a:gd name="connsiteY29" fmla="*/ 77105 h 578138"/>
              <a:gd name="connsiteX30" fmla="*/ 239158 w 290321"/>
              <a:gd name="connsiteY30" fmla="*/ 63501 h 578138"/>
              <a:gd name="connsiteX31" fmla="*/ 206881 w 290321"/>
              <a:gd name="connsiteY31" fmla="*/ 82117 h 578138"/>
              <a:gd name="connsiteX32" fmla="*/ 209750 w 290321"/>
              <a:gd name="connsiteY32" fmla="*/ 114338 h 578138"/>
              <a:gd name="connsiteX33" fmla="*/ 215488 w 290321"/>
              <a:gd name="connsiteY33" fmla="*/ 122930 h 578138"/>
              <a:gd name="connsiteX34" fmla="*/ 174603 w 290321"/>
              <a:gd name="connsiteY34" fmla="*/ 101450 h 578138"/>
              <a:gd name="connsiteX35" fmla="*/ 186797 w 290321"/>
              <a:gd name="connsiteY35" fmla="*/ 29132 h 578138"/>
              <a:gd name="connsiteX36" fmla="*/ 224095 w 290321"/>
              <a:gd name="connsiteY36" fmla="*/ 20182 h 578138"/>
              <a:gd name="connsiteX37" fmla="*/ 129760 w 290321"/>
              <a:gd name="connsiteY37" fmla="*/ 0 h 578138"/>
              <a:gd name="connsiteX38" fmla="*/ 142322 w 290321"/>
              <a:gd name="connsiteY38" fmla="*/ 4825 h 578138"/>
              <a:gd name="connsiteX39" fmla="*/ 149500 w 290321"/>
              <a:gd name="connsiteY39" fmla="*/ 42706 h 578138"/>
              <a:gd name="connsiteX40" fmla="*/ 117199 w 290321"/>
              <a:gd name="connsiteY40" fmla="*/ 30555 h 578138"/>
              <a:gd name="connsiteX41" fmla="*/ 117199 w 290321"/>
              <a:gd name="connsiteY41" fmla="*/ 4825 h 578138"/>
              <a:gd name="connsiteX42" fmla="*/ 129760 w 290321"/>
              <a:gd name="connsiteY42" fmla="*/ 0 h 57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90321" h="578138">
                <a:moveTo>
                  <a:pt x="243734" y="73296"/>
                </a:moveTo>
                <a:cubicBezTo>
                  <a:pt x="249842" y="74259"/>
                  <a:pt x="255714" y="77661"/>
                  <a:pt x="260018" y="84286"/>
                </a:cubicBezTo>
                <a:cubicBezTo>
                  <a:pt x="283687" y="119384"/>
                  <a:pt x="296598" y="154482"/>
                  <a:pt x="287274" y="197459"/>
                </a:cubicBezTo>
                <a:cubicBezTo>
                  <a:pt x="283687" y="211784"/>
                  <a:pt x="269342" y="216798"/>
                  <a:pt x="257149" y="215366"/>
                </a:cubicBezTo>
                <a:cubicBezTo>
                  <a:pt x="242803" y="212501"/>
                  <a:pt x="229175" y="209636"/>
                  <a:pt x="215547" y="206054"/>
                </a:cubicBezTo>
                <a:lnTo>
                  <a:pt x="215547" y="303468"/>
                </a:lnTo>
                <a:lnTo>
                  <a:pt x="203354" y="303468"/>
                </a:lnTo>
                <a:lnTo>
                  <a:pt x="203354" y="208203"/>
                </a:lnTo>
                <a:cubicBezTo>
                  <a:pt x="178249" y="256194"/>
                  <a:pt x="161752" y="307766"/>
                  <a:pt x="149559" y="361487"/>
                </a:cubicBezTo>
                <a:cubicBezTo>
                  <a:pt x="147407" y="370799"/>
                  <a:pt x="143104" y="377962"/>
                  <a:pt x="138800" y="383692"/>
                </a:cubicBezTo>
                <a:cubicBezTo>
                  <a:pt x="145255" y="438129"/>
                  <a:pt x="134496" y="491850"/>
                  <a:pt x="144538" y="545571"/>
                </a:cubicBezTo>
                <a:cubicBezTo>
                  <a:pt x="152428" y="584967"/>
                  <a:pt x="92178" y="590697"/>
                  <a:pt x="84288" y="551302"/>
                </a:cubicBezTo>
                <a:cubicBezTo>
                  <a:pt x="74246" y="501162"/>
                  <a:pt x="86440" y="451739"/>
                  <a:pt x="79267" y="400883"/>
                </a:cubicBezTo>
                <a:cubicBezTo>
                  <a:pt x="63487" y="395869"/>
                  <a:pt x="51294" y="318510"/>
                  <a:pt x="74246" y="238287"/>
                </a:cubicBezTo>
                <a:cubicBezTo>
                  <a:pt x="62770" y="246882"/>
                  <a:pt x="52011" y="254761"/>
                  <a:pt x="40535" y="263357"/>
                </a:cubicBezTo>
                <a:cubicBezTo>
                  <a:pt x="13279" y="282696"/>
                  <a:pt x="-16129" y="239719"/>
                  <a:pt x="10410" y="219664"/>
                </a:cubicBezTo>
                <a:cubicBezTo>
                  <a:pt x="49142" y="191729"/>
                  <a:pt x="87874" y="163794"/>
                  <a:pt x="127324" y="137291"/>
                </a:cubicBezTo>
                <a:cubicBezTo>
                  <a:pt x="142386" y="122249"/>
                  <a:pt x="162470" y="116519"/>
                  <a:pt x="183988" y="125831"/>
                </a:cubicBezTo>
                <a:cubicBezTo>
                  <a:pt x="194747" y="130845"/>
                  <a:pt x="203354" y="140873"/>
                  <a:pt x="209092" y="152333"/>
                </a:cubicBezTo>
                <a:cubicBezTo>
                  <a:pt x="219851" y="155915"/>
                  <a:pt x="230610" y="158063"/>
                  <a:pt x="241369" y="160929"/>
                </a:cubicBezTo>
                <a:cubicBezTo>
                  <a:pt x="239217" y="142305"/>
                  <a:pt x="229892" y="126547"/>
                  <a:pt x="218416" y="109356"/>
                </a:cubicBezTo>
                <a:cubicBezTo>
                  <a:pt x="204968" y="89480"/>
                  <a:pt x="225410" y="70409"/>
                  <a:pt x="243734" y="73296"/>
                </a:cubicBezTo>
                <a:close/>
                <a:moveTo>
                  <a:pt x="61983" y="32001"/>
                </a:moveTo>
                <a:cubicBezTo>
                  <a:pt x="72031" y="32001"/>
                  <a:pt x="93561" y="53464"/>
                  <a:pt x="93561" y="53464"/>
                </a:cubicBezTo>
                <a:cubicBezTo>
                  <a:pt x="93561" y="53464"/>
                  <a:pt x="72031" y="68488"/>
                  <a:pt x="61983" y="68488"/>
                </a:cubicBezTo>
                <a:cubicBezTo>
                  <a:pt x="52653" y="68488"/>
                  <a:pt x="44759" y="60618"/>
                  <a:pt x="44759" y="50602"/>
                </a:cubicBezTo>
                <a:cubicBezTo>
                  <a:pt x="44759" y="39871"/>
                  <a:pt x="52653" y="32001"/>
                  <a:pt x="61983" y="32001"/>
                </a:cubicBezTo>
                <a:close/>
                <a:moveTo>
                  <a:pt x="224095" y="20182"/>
                </a:moveTo>
                <a:cubicBezTo>
                  <a:pt x="236827" y="22330"/>
                  <a:pt x="248841" y="29490"/>
                  <a:pt x="257090" y="41305"/>
                </a:cubicBezTo>
                <a:cubicBezTo>
                  <a:pt x="264263" y="52045"/>
                  <a:pt x="267132" y="64933"/>
                  <a:pt x="265697" y="77105"/>
                </a:cubicBezTo>
                <a:cubicBezTo>
                  <a:pt x="259242" y="68513"/>
                  <a:pt x="249917" y="63501"/>
                  <a:pt x="239158" y="63501"/>
                </a:cubicBezTo>
                <a:cubicBezTo>
                  <a:pt x="225530" y="63501"/>
                  <a:pt x="212619" y="70661"/>
                  <a:pt x="206881" y="82117"/>
                </a:cubicBezTo>
                <a:cubicBezTo>
                  <a:pt x="201860" y="92858"/>
                  <a:pt x="202577" y="104314"/>
                  <a:pt x="209750" y="114338"/>
                </a:cubicBezTo>
                <a:cubicBezTo>
                  <a:pt x="211902" y="117202"/>
                  <a:pt x="213336" y="120066"/>
                  <a:pt x="215488" y="122930"/>
                </a:cubicBezTo>
                <a:cubicBezTo>
                  <a:pt x="199708" y="122930"/>
                  <a:pt x="184645" y="115054"/>
                  <a:pt x="174603" y="101450"/>
                </a:cubicBezTo>
                <a:cubicBezTo>
                  <a:pt x="158823" y="77821"/>
                  <a:pt x="163844" y="45601"/>
                  <a:pt x="186797" y="29132"/>
                </a:cubicBezTo>
                <a:cubicBezTo>
                  <a:pt x="197915" y="20898"/>
                  <a:pt x="211363" y="18034"/>
                  <a:pt x="224095" y="20182"/>
                </a:cubicBezTo>
                <a:close/>
                <a:moveTo>
                  <a:pt x="129760" y="0"/>
                </a:moveTo>
                <a:cubicBezTo>
                  <a:pt x="134247" y="0"/>
                  <a:pt x="138733" y="1608"/>
                  <a:pt x="142322" y="4825"/>
                </a:cubicBezTo>
                <a:cubicBezTo>
                  <a:pt x="148782" y="11972"/>
                  <a:pt x="149500" y="42706"/>
                  <a:pt x="149500" y="42706"/>
                </a:cubicBezTo>
                <a:cubicBezTo>
                  <a:pt x="149500" y="42706"/>
                  <a:pt x="124377" y="37703"/>
                  <a:pt x="117199" y="30555"/>
                </a:cubicBezTo>
                <a:cubicBezTo>
                  <a:pt x="110021" y="23408"/>
                  <a:pt x="110021" y="11972"/>
                  <a:pt x="117199" y="4825"/>
                </a:cubicBezTo>
                <a:cubicBezTo>
                  <a:pt x="120788" y="1608"/>
                  <a:pt x="125274" y="0"/>
                  <a:pt x="1297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图片 1">
            <a:extLst>
              <a:ext uri="{FF2B5EF4-FFF2-40B4-BE49-F238E27FC236}">
                <a16:creationId xmlns:a16="http://schemas.microsoft.com/office/drawing/2014/main" id="{46070168-EB83-401E-79CE-AF9A8F6301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52218" y="852835"/>
            <a:ext cx="1032648" cy="774486"/>
          </a:xfrm>
          <a:prstGeom prst="rect">
            <a:avLst/>
          </a:prstGeom>
        </p:spPr>
      </p:pic>
      <p:pic>
        <p:nvPicPr>
          <p:cNvPr id="4" name="图片 3">
            <a:extLst>
              <a:ext uri="{FF2B5EF4-FFF2-40B4-BE49-F238E27FC236}">
                <a16:creationId xmlns:a16="http://schemas.microsoft.com/office/drawing/2014/main" id="{608A054B-71B2-5926-71C6-19113B3D30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9512" y="852834"/>
            <a:ext cx="1032649" cy="774487"/>
          </a:xfrm>
          <a:prstGeom prst="rect">
            <a:avLst/>
          </a:prstGeom>
        </p:spPr>
      </p:pic>
      <p:pic>
        <p:nvPicPr>
          <p:cNvPr id="8" name="图片 7">
            <a:extLst>
              <a:ext uri="{FF2B5EF4-FFF2-40B4-BE49-F238E27FC236}">
                <a16:creationId xmlns:a16="http://schemas.microsoft.com/office/drawing/2014/main" id="{41960DF4-5FEB-4894-6FFB-EF30C49AF013}"/>
              </a:ext>
            </a:extLst>
          </p:cNvPr>
          <p:cNvPicPr>
            <a:picLocks noChangeAspect="1"/>
          </p:cNvPicPr>
          <p:nvPr/>
        </p:nvPicPr>
        <p:blipFill>
          <a:blip r:embed="rId6"/>
          <a:stretch>
            <a:fillRect/>
          </a:stretch>
        </p:blipFill>
        <p:spPr>
          <a:xfrm>
            <a:off x="179512" y="3746237"/>
            <a:ext cx="1311981" cy="774487"/>
          </a:xfrm>
          <a:prstGeom prst="rect">
            <a:avLst/>
          </a:prstGeom>
        </p:spPr>
      </p:pic>
      <p:pic>
        <p:nvPicPr>
          <p:cNvPr id="11" name="图片 10">
            <a:extLst>
              <a:ext uri="{FF2B5EF4-FFF2-40B4-BE49-F238E27FC236}">
                <a16:creationId xmlns:a16="http://schemas.microsoft.com/office/drawing/2014/main" id="{D94F93D0-0AB0-61F6-9578-F51F948C1D2F}"/>
              </a:ext>
            </a:extLst>
          </p:cNvPr>
          <p:cNvPicPr>
            <a:picLocks noChangeAspect="1"/>
          </p:cNvPicPr>
          <p:nvPr/>
        </p:nvPicPr>
        <p:blipFill>
          <a:blip r:embed="rId7"/>
          <a:stretch>
            <a:fillRect/>
          </a:stretch>
        </p:blipFill>
        <p:spPr>
          <a:xfrm>
            <a:off x="1552218" y="3746238"/>
            <a:ext cx="1377036" cy="774486"/>
          </a:xfrm>
          <a:prstGeom prst="rect">
            <a:avLst/>
          </a:prstGeom>
        </p:spPr>
      </p:pic>
      <p:sp>
        <p:nvSpPr>
          <p:cNvPr id="12" name="ïṣlïḋe">
            <a:extLst>
              <a:ext uri="{FF2B5EF4-FFF2-40B4-BE49-F238E27FC236}">
                <a16:creationId xmlns:a16="http://schemas.microsoft.com/office/drawing/2014/main" id="{E384203D-2287-014A-8F15-B83C6E6C5D78}"/>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3</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848538733"/>
      </p:ext>
    </p:extLst>
  </p:cSld>
  <p:clrMapOvr>
    <a:masterClrMapping/>
  </p:clrMapOvr>
  <p:transition advTm="29843">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699792"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02</a:t>
            </a:r>
          </a:p>
        </p:txBody>
      </p:sp>
      <p:sp>
        <p:nvSpPr>
          <p:cNvPr id="13" name="ïṣlïḋe"/>
          <p:cNvSpPr txBox="1"/>
          <p:nvPr/>
        </p:nvSpPr>
        <p:spPr>
          <a:xfrm>
            <a:off x="3131840"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国内外研究现状</a:t>
            </a:r>
          </a:p>
        </p:txBody>
      </p:sp>
    </p:spTree>
  </p:cSld>
  <p:clrMapOvr>
    <a:masterClrMapping/>
  </p:clrMapOvr>
  <p:transition advTm="7062">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矩形 110">
            <a:extLst>
              <a:ext uri="{FF2B5EF4-FFF2-40B4-BE49-F238E27FC236}">
                <a16:creationId xmlns:a16="http://schemas.microsoft.com/office/drawing/2014/main" id="{A5F21D4A-2D37-ECEE-5947-444F09A2EC62}"/>
              </a:ext>
            </a:extLst>
          </p:cNvPr>
          <p:cNvSpPr/>
          <p:nvPr/>
        </p:nvSpPr>
        <p:spPr>
          <a:xfrm>
            <a:off x="5858276" y="745626"/>
            <a:ext cx="3013274" cy="327944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107">
            <a:extLst>
              <a:ext uri="{FF2B5EF4-FFF2-40B4-BE49-F238E27FC236}">
                <a16:creationId xmlns:a16="http://schemas.microsoft.com/office/drawing/2014/main" id="{EAC5630D-988B-B786-E3F8-BC5F04B87F63}"/>
              </a:ext>
            </a:extLst>
          </p:cNvPr>
          <p:cNvSpPr/>
          <p:nvPr/>
        </p:nvSpPr>
        <p:spPr>
          <a:xfrm>
            <a:off x="272448" y="745627"/>
            <a:ext cx="3013274" cy="3279441"/>
          </a:xfrm>
          <a:prstGeom prst="rect">
            <a:avLst/>
          </a:prstGeom>
          <a:solidFill>
            <a:srgbClr val="33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等腰三角形 1">
            <a:extLst>
              <a:ext uri="{FF2B5EF4-FFF2-40B4-BE49-F238E27FC236}">
                <a16:creationId xmlns:a16="http://schemas.microsoft.com/office/drawing/2014/main" id="{0DAB3031-CFAB-292E-1CFC-60EDE1654A63}"/>
              </a:ext>
            </a:extLst>
          </p:cNvPr>
          <p:cNvSpPr/>
          <p:nvPr/>
        </p:nvSpPr>
        <p:spPr>
          <a:xfrm rot="10800000">
            <a:off x="3285722" y="1315314"/>
            <a:ext cx="2572554" cy="417314"/>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a:extLst>
              <a:ext uri="{FF2B5EF4-FFF2-40B4-BE49-F238E27FC236}">
                <a16:creationId xmlns:a16="http://schemas.microsoft.com/office/drawing/2014/main" id="{D367D6BE-C54E-D18D-F689-50FB21417589}"/>
              </a:ext>
            </a:extLst>
          </p:cNvPr>
          <p:cNvSpPr/>
          <p:nvPr/>
        </p:nvSpPr>
        <p:spPr>
          <a:xfrm rot="18347822">
            <a:off x="3792325" y="1564906"/>
            <a:ext cx="2199658" cy="795996"/>
          </a:xfrm>
          <a:prstGeom prst="triangle">
            <a:avLst>
              <a:gd name="adj" fmla="val 50223"/>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国内现状</a:t>
            </a:r>
          </a:p>
        </p:txBody>
      </p:sp>
      <p:sp>
        <p:nvSpPr>
          <p:cNvPr id="5" name="等腰三角形 4">
            <a:extLst>
              <a:ext uri="{FF2B5EF4-FFF2-40B4-BE49-F238E27FC236}">
                <a16:creationId xmlns:a16="http://schemas.microsoft.com/office/drawing/2014/main" id="{A5F3EC74-99A6-2D45-C770-570BC4B5F0A6}"/>
              </a:ext>
            </a:extLst>
          </p:cNvPr>
          <p:cNvSpPr/>
          <p:nvPr/>
        </p:nvSpPr>
        <p:spPr>
          <a:xfrm rot="3247536">
            <a:off x="3152904" y="1564470"/>
            <a:ext cx="2199658" cy="795996"/>
          </a:xfrm>
          <a:prstGeom prst="triangle">
            <a:avLst>
              <a:gd name="adj" fmla="val 50223"/>
            </a:avLst>
          </a:prstGeom>
          <a:solidFill>
            <a:srgbClr val="33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国外现状</a:t>
            </a:r>
          </a:p>
        </p:txBody>
      </p:sp>
      <p:grpSp>
        <p:nvGrpSpPr>
          <p:cNvPr id="10" name="组合 9">
            <a:extLst>
              <a:ext uri="{FF2B5EF4-FFF2-40B4-BE49-F238E27FC236}">
                <a16:creationId xmlns:a16="http://schemas.microsoft.com/office/drawing/2014/main" id="{89386119-51BC-9EE6-4477-FC61C8A6132D}"/>
              </a:ext>
            </a:extLst>
          </p:cNvPr>
          <p:cNvGrpSpPr>
            <a:grpSpLocks noChangeAspect="1"/>
          </p:cNvGrpSpPr>
          <p:nvPr/>
        </p:nvGrpSpPr>
        <p:grpSpPr>
          <a:xfrm>
            <a:off x="3926032" y="217994"/>
            <a:ext cx="1025081" cy="1305976"/>
            <a:chOff x="4204462" y="1528509"/>
            <a:chExt cx="3441700" cy="4384675"/>
          </a:xfrm>
        </p:grpSpPr>
        <p:sp>
          <p:nvSpPr>
            <p:cNvPr id="11" name="ïṥ1ïde">
              <a:extLst>
                <a:ext uri="{FF2B5EF4-FFF2-40B4-BE49-F238E27FC236}">
                  <a16:creationId xmlns:a16="http://schemas.microsoft.com/office/drawing/2014/main" id="{2733651F-BDFD-7BF4-139F-FDCF295324D5}"/>
                </a:ext>
              </a:extLst>
            </p:cNvPr>
            <p:cNvSpPr/>
            <p:nvPr/>
          </p:nvSpPr>
          <p:spPr bwMode="auto">
            <a:xfrm>
              <a:off x="4210812" y="1566609"/>
              <a:ext cx="2255838" cy="1592263"/>
            </a:xfrm>
            <a:custGeom>
              <a:avLst/>
              <a:gdLst>
                <a:gd name="T0" fmla="*/ 744 w 770"/>
                <a:gd name="T1" fmla="*/ 544 h 544"/>
                <a:gd name="T2" fmla="*/ 26 w 770"/>
                <a:gd name="T3" fmla="*/ 544 h 544"/>
                <a:gd name="T4" fmla="*/ 0 w 770"/>
                <a:gd name="T5" fmla="*/ 518 h 544"/>
                <a:gd name="T6" fmla="*/ 0 w 770"/>
                <a:gd name="T7" fmla="*/ 26 h 544"/>
                <a:gd name="T8" fmla="*/ 26 w 770"/>
                <a:gd name="T9" fmla="*/ 0 h 544"/>
                <a:gd name="T10" fmla="*/ 744 w 770"/>
                <a:gd name="T11" fmla="*/ 0 h 544"/>
                <a:gd name="T12" fmla="*/ 770 w 770"/>
                <a:gd name="T13" fmla="*/ 26 h 544"/>
                <a:gd name="T14" fmla="*/ 770 w 770"/>
                <a:gd name="T15" fmla="*/ 518 h 544"/>
                <a:gd name="T16" fmla="*/ 744 w 770"/>
                <a:gd name="T17" fmla="*/ 544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70" h="544">
                  <a:moveTo>
                    <a:pt x="744" y="544"/>
                  </a:moveTo>
                  <a:cubicBezTo>
                    <a:pt x="26" y="544"/>
                    <a:pt x="26" y="544"/>
                    <a:pt x="26" y="544"/>
                  </a:cubicBezTo>
                  <a:cubicBezTo>
                    <a:pt x="11" y="544"/>
                    <a:pt x="0" y="532"/>
                    <a:pt x="0" y="518"/>
                  </a:cubicBezTo>
                  <a:cubicBezTo>
                    <a:pt x="0" y="26"/>
                    <a:pt x="0" y="26"/>
                    <a:pt x="0" y="26"/>
                  </a:cubicBezTo>
                  <a:cubicBezTo>
                    <a:pt x="0" y="12"/>
                    <a:pt x="11" y="0"/>
                    <a:pt x="26" y="0"/>
                  </a:cubicBezTo>
                  <a:cubicBezTo>
                    <a:pt x="744" y="0"/>
                    <a:pt x="744" y="0"/>
                    <a:pt x="744" y="0"/>
                  </a:cubicBezTo>
                  <a:cubicBezTo>
                    <a:pt x="758" y="0"/>
                    <a:pt x="770" y="12"/>
                    <a:pt x="770" y="26"/>
                  </a:cubicBezTo>
                  <a:cubicBezTo>
                    <a:pt x="770" y="518"/>
                    <a:pt x="770" y="518"/>
                    <a:pt x="770" y="518"/>
                  </a:cubicBezTo>
                  <a:cubicBezTo>
                    <a:pt x="770" y="532"/>
                    <a:pt x="758" y="544"/>
                    <a:pt x="744"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ïṧ1ïďé">
              <a:extLst>
                <a:ext uri="{FF2B5EF4-FFF2-40B4-BE49-F238E27FC236}">
                  <a16:creationId xmlns:a16="http://schemas.microsoft.com/office/drawing/2014/main" id="{8BF58AF2-8D9C-E213-607B-59B58808FB7F}"/>
                </a:ext>
              </a:extLst>
            </p:cNvPr>
            <p:cNvSpPr/>
            <p:nvPr/>
          </p:nvSpPr>
          <p:spPr bwMode="auto">
            <a:xfrm>
              <a:off x="4204462" y="1563434"/>
              <a:ext cx="2263775" cy="1598613"/>
            </a:xfrm>
            <a:custGeom>
              <a:avLst/>
              <a:gdLst>
                <a:gd name="T0" fmla="*/ 748 w 773"/>
                <a:gd name="T1" fmla="*/ 545 h 546"/>
                <a:gd name="T2" fmla="*/ 768 w 773"/>
                <a:gd name="T3" fmla="*/ 533 h 546"/>
                <a:gd name="T4" fmla="*/ 772 w 773"/>
                <a:gd name="T5" fmla="*/ 502 h 546"/>
                <a:gd name="T6" fmla="*/ 771 w 773"/>
                <a:gd name="T7" fmla="*/ 181 h 546"/>
                <a:gd name="T8" fmla="*/ 771 w 773"/>
                <a:gd name="T9" fmla="*/ 41 h 546"/>
                <a:gd name="T10" fmla="*/ 769 w 773"/>
                <a:gd name="T11" fmla="*/ 16 h 546"/>
                <a:gd name="T12" fmla="*/ 737 w 773"/>
                <a:gd name="T13" fmla="*/ 2 h 546"/>
                <a:gd name="T14" fmla="*/ 698 w 773"/>
                <a:gd name="T15" fmla="*/ 2 h 546"/>
                <a:gd name="T16" fmla="*/ 530 w 773"/>
                <a:gd name="T17" fmla="*/ 2 h 546"/>
                <a:gd name="T18" fmla="*/ 4 w 773"/>
                <a:gd name="T19" fmla="*/ 20 h 546"/>
                <a:gd name="T20" fmla="*/ 3 w 773"/>
                <a:gd name="T21" fmla="*/ 53 h 546"/>
                <a:gd name="T22" fmla="*/ 3 w 773"/>
                <a:gd name="T23" fmla="*/ 247 h 546"/>
                <a:gd name="T24" fmla="*/ 3 w 773"/>
                <a:gd name="T25" fmla="*/ 518 h 546"/>
                <a:gd name="T26" fmla="*/ 28 w 773"/>
                <a:gd name="T27" fmla="*/ 544 h 546"/>
                <a:gd name="T28" fmla="*/ 70 w 773"/>
                <a:gd name="T29" fmla="*/ 544 h 546"/>
                <a:gd name="T30" fmla="*/ 368 w 773"/>
                <a:gd name="T31" fmla="*/ 544 h 546"/>
                <a:gd name="T32" fmla="*/ 720 w 773"/>
                <a:gd name="T33" fmla="*/ 545 h 546"/>
                <a:gd name="T34" fmla="*/ 746 w 773"/>
                <a:gd name="T35" fmla="*/ 545 h 546"/>
                <a:gd name="T36" fmla="*/ 720 w 773"/>
                <a:gd name="T37" fmla="*/ 545 h 546"/>
                <a:gd name="T38" fmla="*/ 368 w 773"/>
                <a:gd name="T39" fmla="*/ 546 h 546"/>
                <a:gd name="T40" fmla="*/ 70 w 773"/>
                <a:gd name="T41" fmla="*/ 546 h 546"/>
                <a:gd name="T42" fmla="*/ 28 w 773"/>
                <a:gd name="T43" fmla="*/ 546 h 546"/>
                <a:gd name="T44" fmla="*/ 1 w 773"/>
                <a:gd name="T45" fmla="*/ 518 h 546"/>
                <a:gd name="T46" fmla="*/ 1 w 773"/>
                <a:gd name="T47" fmla="*/ 247 h 546"/>
                <a:gd name="T48" fmla="*/ 1 w 773"/>
                <a:gd name="T49" fmla="*/ 53 h 546"/>
                <a:gd name="T50" fmla="*/ 1 w 773"/>
                <a:gd name="T51" fmla="*/ 28 h 546"/>
                <a:gd name="T52" fmla="*/ 28 w 773"/>
                <a:gd name="T53" fmla="*/ 0 h 546"/>
                <a:gd name="T54" fmla="*/ 643 w 773"/>
                <a:gd name="T55" fmla="*/ 0 h 546"/>
                <a:gd name="T56" fmla="*/ 724 w 773"/>
                <a:gd name="T57" fmla="*/ 0 h 546"/>
                <a:gd name="T58" fmla="*/ 750 w 773"/>
                <a:gd name="T59" fmla="*/ 0 h 546"/>
                <a:gd name="T60" fmla="*/ 773 w 773"/>
                <a:gd name="T61" fmla="*/ 28 h 546"/>
                <a:gd name="T62" fmla="*/ 773 w 773"/>
                <a:gd name="T63" fmla="*/ 89 h 546"/>
                <a:gd name="T64" fmla="*/ 772 w 773"/>
                <a:gd name="T65" fmla="*/ 458 h 546"/>
                <a:gd name="T66" fmla="*/ 772 w 773"/>
                <a:gd name="T67" fmla="*/ 519 h 546"/>
                <a:gd name="T68" fmla="*/ 753 w 773"/>
                <a:gd name="T69" fmla="*/ 544 h 546"/>
                <a:gd name="T70" fmla="*/ 746 w 773"/>
                <a:gd name="T71" fmla="*/ 545 h 5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3" h="546">
                  <a:moveTo>
                    <a:pt x="746" y="545"/>
                  </a:moveTo>
                  <a:cubicBezTo>
                    <a:pt x="746" y="545"/>
                    <a:pt x="747" y="545"/>
                    <a:pt x="748" y="545"/>
                  </a:cubicBezTo>
                  <a:cubicBezTo>
                    <a:pt x="749" y="545"/>
                    <a:pt x="751" y="545"/>
                    <a:pt x="753" y="544"/>
                  </a:cubicBezTo>
                  <a:cubicBezTo>
                    <a:pt x="757" y="543"/>
                    <a:pt x="763" y="540"/>
                    <a:pt x="768" y="533"/>
                  </a:cubicBezTo>
                  <a:cubicBezTo>
                    <a:pt x="770" y="529"/>
                    <a:pt x="772" y="524"/>
                    <a:pt x="772" y="519"/>
                  </a:cubicBezTo>
                  <a:cubicBezTo>
                    <a:pt x="772" y="514"/>
                    <a:pt x="772" y="508"/>
                    <a:pt x="772" y="502"/>
                  </a:cubicBezTo>
                  <a:cubicBezTo>
                    <a:pt x="772" y="489"/>
                    <a:pt x="772" y="474"/>
                    <a:pt x="772" y="458"/>
                  </a:cubicBezTo>
                  <a:cubicBezTo>
                    <a:pt x="772" y="393"/>
                    <a:pt x="771" y="298"/>
                    <a:pt x="771" y="181"/>
                  </a:cubicBezTo>
                  <a:cubicBezTo>
                    <a:pt x="771" y="152"/>
                    <a:pt x="771" y="121"/>
                    <a:pt x="771" y="89"/>
                  </a:cubicBezTo>
                  <a:cubicBezTo>
                    <a:pt x="771" y="74"/>
                    <a:pt x="771" y="57"/>
                    <a:pt x="771" y="41"/>
                  </a:cubicBezTo>
                  <a:cubicBezTo>
                    <a:pt x="771" y="37"/>
                    <a:pt x="771" y="32"/>
                    <a:pt x="771" y="28"/>
                  </a:cubicBezTo>
                  <a:cubicBezTo>
                    <a:pt x="771" y="24"/>
                    <a:pt x="771" y="20"/>
                    <a:pt x="769" y="16"/>
                  </a:cubicBezTo>
                  <a:cubicBezTo>
                    <a:pt x="765" y="9"/>
                    <a:pt x="758" y="3"/>
                    <a:pt x="750" y="2"/>
                  </a:cubicBezTo>
                  <a:cubicBezTo>
                    <a:pt x="746" y="2"/>
                    <a:pt x="741" y="2"/>
                    <a:pt x="737" y="2"/>
                  </a:cubicBezTo>
                  <a:cubicBezTo>
                    <a:pt x="733" y="2"/>
                    <a:pt x="728" y="2"/>
                    <a:pt x="724" y="2"/>
                  </a:cubicBezTo>
                  <a:cubicBezTo>
                    <a:pt x="715" y="2"/>
                    <a:pt x="706" y="2"/>
                    <a:pt x="698" y="2"/>
                  </a:cubicBezTo>
                  <a:cubicBezTo>
                    <a:pt x="680" y="2"/>
                    <a:pt x="662" y="2"/>
                    <a:pt x="643" y="2"/>
                  </a:cubicBezTo>
                  <a:cubicBezTo>
                    <a:pt x="607" y="2"/>
                    <a:pt x="569" y="2"/>
                    <a:pt x="530" y="2"/>
                  </a:cubicBezTo>
                  <a:cubicBezTo>
                    <a:pt x="376" y="2"/>
                    <a:pt x="206" y="2"/>
                    <a:pt x="28" y="2"/>
                  </a:cubicBezTo>
                  <a:cubicBezTo>
                    <a:pt x="17" y="2"/>
                    <a:pt x="7" y="10"/>
                    <a:pt x="4" y="20"/>
                  </a:cubicBezTo>
                  <a:cubicBezTo>
                    <a:pt x="2" y="25"/>
                    <a:pt x="3" y="31"/>
                    <a:pt x="3" y="36"/>
                  </a:cubicBezTo>
                  <a:cubicBezTo>
                    <a:pt x="3" y="42"/>
                    <a:pt x="3" y="47"/>
                    <a:pt x="3" y="53"/>
                  </a:cubicBezTo>
                  <a:cubicBezTo>
                    <a:pt x="3" y="75"/>
                    <a:pt x="3" y="97"/>
                    <a:pt x="3" y="118"/>
                  </a:cubicBezTo>
                  <a:cubicBezTo>
                    <a:pt x="3" y="162"/>
                    <a:pt x="3" y="205"/>
                    <a:pt x="3" y="247"/>
                  </a:cubicBezTo>
                  <a:cubicBezTo>
                    <a:pt x="3" y="331"/>
                    <a:pt x="3" y="412"/>
                    <a:pt x="3" y="489"/>
                  </a:cubicBezTo>
                  <a:cubicBezTo>
                    <a:pt x="3" y="499"/>
                    <a:pt x="3" y="508"/>
                    <a:pt x="3" y="518"/>
                  </a:cubicBezTo>
                  <a:cubicBezTo>
                    <a:pt x="2" y="527"/>
                    <a:pt x="7" y="536"/>
                    <a:pt x="15" y="541"/>
                  </a:cubicBezTo>
                  <a:cubicBezTo>
                    <a:pt x="19" y="543"/>
                    <a:pt x="24" y="544"/>
                    <a:pt x="28" y="544"/>
                  </a:cubicBezTo>
                  <a:cubicBezTo>
                    <a:pt x="33" y="544"/>
                    <a:pt x="38" y="544"/>
                    <a:pt x="42" y="544"/>
                  </a:cubicBezTo>
                  <a:cubicBezTo>
                    <a:pt x="52" y="544"/>
                    <a:pt x="61" y="544"/>
                    <a:pt x="70" y="544"/>
                  </a:cubicBezTo>
                  <a:cubicBezTo>
                    <a:pt x="107" y="544"/>
                    <a:pt x="142" y="544"/>
                    <a:pt x="177" y="544"/>
                  </a:cubicBezTo>
                  <a:cubicBezTo>
                    <a:pt x="245" y="544"/>
                    <a:pt x="309" y="544"/>
                    <a:pt x="368" y="544"/>
                  </a:cubicBezTo>
                  <a:cubicBezTo>
                    <a:pt x="485" y="544"/>
                    <a:pt x="579" y="544"/>
                    <a:pt x="645" y="545"/>
                  </a:cubicBezTo>
                  <a:cubicBezTo>
                    <a:pt x="677" y="545"/>
                    <a:pt x="703" y="545"/>
                    <a:pt x="720" y="545"/>
                  </a:cubicBezTo>
                  <a:cubicBezTo>
                    <a:pt x="729" y="545"/>
                    <a:pt x="735" y="545"/>
                    <a:pt x="740" y="545"/>
                  </a:cubicBezTo>
                  <a:cubicBezTo>
                    <a:pt x="744" y="545"/>
                    <a:pt x="746" y="545"/>
                    <a:pt x="746" y="545"/>
                  </a:cubicBezTo>
                  <a:cubicBezTo>
                    <a:pt x="746" y="545"/>
                    <a:pt x="744" y="545"/>
                    <a:pt x="740" y="545"/>
                  </a:cubicBezTo>
                  <a:cubicBezTo>
                    <a:pt x="735" y="545"/>
                    <a:pt x="729" y="545"/>
                    <a:pt x="720" y="545"/>
                  </a:cubicBezTo>
                  <a:cubicBezTo>
                    <a:pt x="703" y="545"/>
                    <a:pt x="677" y="545"/>
                    <a:pt x="645" y="545"/>
                  </a:cubicBezTo>
                  <a:cubicBezTo>
                    <a:pt x="579" y="545"/>
                    <a:pt x="485" y="546"/>
                    <a:pt x="368" y="546"/>
                  </a:cubicBezTo>
                  <a:cubicBezTo>
                    <a:pt x="309" y="546"/>
                    <a:pt x="245" y="546"/>
                    <a:pt x="177" y="546"/>
                  </a:cubicBezTo>
                  <a:cubicBezTo>
                    <a:pt x="142" y="546"/>
                    <a:pt x="107" y="546"/>
                    <a:pt x="70" y="546"/>
                  </a:cubicBezTo>
                  <a:cubicBezTo>
                    <a:pt x="61" y="546"/>
                    <a:pt x="52" y="546"/>
                    <a:pt x="42" y="546"/>
                  </a:cubicBezTo>
                  <a:cubicBezTo>
                    <a:pt x="38" y="546"/>
                    <a:pt x="33" y="546"/>
                    <a:pt x="28" y="546"/>
                  </a:cubicBezTo>
                  <a:cubicBezTo>
                    <a:pt x="24" y="546"/>
                    <a:pt x="19" y="545"/>
                    <a:pt x="14" y="542"/>
                  </a:cubicBezTo>
                  <a:cubicBezTo>
                    <a:pt x="6" y="538"/>
                    <a:pt x="0" y="528"/>
                    <a:pt x="1" y="518"/>
                  </a:cubicBezTo>
                  <a:cubicBezTo>
                    <a:pt x="1" y="508"/>
                    <a:pt x="1" y="499"/>
                    <a:pt x="1" y="489"/>
                  </a:cubicBezTo>
                  <a:cubicBezTo>
                    <a:pt x="1" y="412"/>
                    <a:pt x="1" y="331"/>
                    <a:pt x="1" y="247"/>
                  </a:cubicBezTo>
                  <a:cubicBezTo>
                    <a:pt x="1" y="205"/>
                    <a:pt x="1" y="162"/>
                    <a:pt x="1" y="118"/>
                  </a:cubicBezTo>
                  <a:cubicBezTo>
                    <a:pt x="1" y="97"/>
                    <a:pt x="1" y="75"/>
                    <a:pt x="1" y="53"/>
                  </a:cubicBezTo>
                  <a:cubicBezTo>
                    <a:pt x="1" y="47"/>
                    <a:pt x="1" y="42"/>
                    <a:pt x="1" y="36"/>
                  </a:cubicBezTo>
                  <a:cubicBezTo>
                    <a:pt x="1" y="28"/>
                    <a:pt x="1" y="28"/>
                    <a:pt x="1" y="28"/>
                  </a:cubicBezTo>
                  <a:cubicBezTo>
                    <a:pt x="1" y="25"/>
                    <a:pt x="1" y="22"/>
                    <a:pt x="2" y="19"/>
                  </a:cubicBezTo>
                  <a:cubicBezTo>
                    <a:pt x="5" y="8"/>
                    <a:pt x="16" y="0"/>
                    <a:pt x="28" y="0"/>
                  </a:cubicBezTo>
                  <a:cubicBezTo>
                    <a:pt x="206" y="0"/>
                    <a:pt x="376" y="0"/>
                    <a:pt x="530" y="0"/>
                  </a:cubicBezTo>
                  <a:cubicBezTo>
                    <a:pt x="569" y="0"/>
                    <a:pt x="607" y="0"/>
                    <a:pt x="643" y="0"/>
                  </a:cubicBezTo>
                  <a:cubicBezTo>
                    <a:pt x="662" y="0"/>
                    <a:pt x="680" y="0"/>
                    <a:pt x="698" y="0"/>
                  </a:cubicBezTo>
                  <a:cubicBezTo>
                    <a:pt x="706" y="0"/>
                    <a:pt x="715" y="0"/>
                    <a:pt x="724" y="0"/>
                  </a:cubicBezTo>
                  <a:cubicBezTo>
                    <a:pt x="728" y="0"/>
                    <a:pt x="733" y="0"/>
                    <a:pt x="737" y="0"/>
                  </a:cubicBezTo>
                  <a:cubicBezTo>
                    <a:pt x="741" y="0"/>
                    <a:pt x="746" y="0"/>
                    <a:pt x="750" y="0"/>
                  </a:cubicBezTo>
                  <a:cubicBezTo>
                    <a:pt x="759" y="2"/>
                    <a:pt x="767" y="8"/>
                    <a:pt x="770" y="16"/>
                  </a:cubicBezTo>
                  <a:cubicBezTo>
                    <a:pt x="772" y="19"/>
                    <a:pt x="773" y="24"/>
                    <a:pt x="773" y="28"/>
                  </a:cubicBezTo>
                  <a:cubicBezTo>
                    <a:pt x="773" y="32"/>
                    <a:pt x="773" y="37"/>
                    <a:pt x="773" y="41"/>
                  </a:cubicBezTo>
                  <a:cubicBezTo>
                    <a:pt x="773" y="57"/>
                    <a:pt x="773" y="74"/>
                    <a:pt x="773" y="89"/>
                  </a:cubicBezTo>
                  <a:cubicBezTo>
                    <a:pt x="773" y="121"/>
                    <a:pt x="773" y="152"/>
                    <a:pt x="773" y="181"/>
                  </a:cubicBezTo>
                  <a:cubicBezTo>
                    <a:pt x="773" y="298"/>
                    <a:pt x="773" y="393"/>
                    <a:pt x="772" y="458"/>
                  </a:cubicBezTo>
                  <a:cubicBezTo>
                    <a:pt x="772" y="474"/>
                    <a:pt x="772" y="489"/>
                    <a:pt x="772" y="502"/>
                  </a:cubicBezTo>
                  <a:cubicBezTo>
                    <a:pt x="772" y="508"/>
                    <a:pt x="772" y="514"/>
                    <a:pt x="772" y="519"/>
                  </a:cubicBezTo>
                  <a:cubicBezTo>
                    <a:pt x="772" y="524"/>
                    <a:pt x="771" y="529"/>
                    <a:pt x="768" y="533"/>
                  </a:cubicBezTo>
                  <a:cubicBezTo>
                    <a:pt x="764" y="540"/>
                    <a:pt x="757" y="543"/>
                    <a:pt x="753" y="544"/>
                  </a:cubicBezTo>
                  <a:cubicBezTo>
                    <a:pt x="751" y="545"/>
                    <a:pt x="749" y="545"/>
                    <a:pt x="748" y="545"/>
                  </a:cubicBezTo>
                  <a:cubicBezTo>
                    <a:pt x="747" y="545"/>
                    <a:pt x="746" y="545"/>
                    <a:pt x="746" y="545"/>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iṩḷiḋè">
              <a:extLst>
                <a:ext uri="{FF2B5EF4-FFF2-40B4-BE49-F238E27FC236}">
                  <a16:creationId xmlns:a16="http://schemas.microsoft.com/office/drawing/2014/main" id="{4855039F-D0B7-5E7B-75E0-F179FA0CFCE0}"/>
                </a:ext>
              </a:extLst>
            </p:cNvPr>
            <p:cNvSpPr/>
            <p:nvPr/>
          </p:nvSpPr>
          <p:spPr bwMode="auto">
            <a:xfrm>
              <a:off x="4509262" y="2061909"/>
              <a:ext cx="58738" cy="836613"/>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îṥļiḋê">
              <a:extLst>
                <a:ext uri="{FF2B5EF4-FFF2-40B4-BE49-F238E27FC236}">
                  <a16:creationId xmlns:a16="http://schemas.microsoft.com/office/drawing/2014/main" id="{1940AB0B-CC92-62DA-035E-7FB4651DC0EF}"/>
                </a:ext>
              </a:extLst>
            </p:cNvPr>
            <p:cNvSpPr/>
            <p:nvPr/>
          </p:nvSpPr>
          <p:spPr bwMode="auto">
            <a:xfrm>
              <a:off x="4671187" y="2315909"/>
              <a:ext cx="55563" cy="582613"/>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iṣḻïḓe">
              <a:extLst>
                <a:ext uri="{FF2B5EF4-FFF2-40B4-BE49-F238E27FC236}">
                  <a16:creationId xmlns:a16="http://schemas.microsoft.com/office/drawing/2014/main" id="{CF29791E-275A-6F9D-98E9-37735ECDCF06}"/>
                </a:ext>
              </a:extLst>
            </p:cNvPr>
            <p:cNvSpPr/>
            <p:nvPr/>
          </p:nvSpPr>
          <p:spPr bwMode="auto">
            <a:xfrm>
              <a:off x="4831525" y="2573084"/>
              <a:ext cx="55563" cy="325438"/>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îṧḷiḑè">
              <a:extLst>
                <a:ext uri="{FF2B5EF4-FFF2-40B4-BE49-F238E27FC236}">
                  <a16:creationId xmlns:a16="http://schemas.microsoft.com/office/drawing/2014/main" id="{3DE23E1A-EA94-5809-1CBF-9A46E08DEBED}"/>
                </a:ext>
              </a:extLst>
            </p:cNvPr>
            <p:cNvSpPr/>
            <p:nvPr/>
          </p:nvSpPr>
          <p:spPr bwMode="auto">
            <a:xfrm>
              <a:off x="4993450" y="2350834"/>
              <a:ext cx="55563" cy="547688"/>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îślîḓé">
              <a:extLst>
                <a:ext uri="{FF2B5EF4-FFF2-40B4-BE49-F238E27FC236}">
                  <a16:creationId xmlns:a16="http://schemas.microsoft.com/office/drawing/2014/main" id="{DB3616B8-225B-29E5-6EE3-2B5E83DC30C9}"/>
                </a:ext>
              </a:extLst>
            </p:cNvPr>
            <p:cNvSpPr/>
            <p:nvPr/>
          </p:nvSpPr>
          <p:spPr bwMode="auto">
            <a:xfrm>
              <a:off x="5150612" y="2149222"/>
              <a:ext cx="58738" cy="749300"/>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îṧliďé">
              <a:extLst>
                <a:ext uri="{FF2B5EF4-FFF2-40B4-BE49-F238E27FC236}">
                  <a16:creationId xmlns:a16="http://schemas.microsoft.com/office/drawing/2014/main" id="{422ED426-5E30-8383-727C-91EF4A61C95B}"/>
                </a:ext>
              </a:extLst>
            </p:cNvPr>
            <p:cNvSpPr/>
            <p:nvPr/>
          </p:nvSpPr>
          <p:spPr bwMode="auto">
            <a:xfrm>
              <a:off x="5312537" y="2717547"/>
              <a:ext cx="55563" cy="180975"/>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îśľiḓê">
              <a:extLst>
                <a:ext uri="{FF2B5EF4-FFF2-40B4-BE49-F238E27FC236}">
                  <a16:creationId xmlns:a16="http://schemas.microsoft.com/office/drawing/2014/main" id="{71380C28-C21C-CED8-A9AD-450258E062B7}"/>
                </a:ext>
              </a:extLst>
            </p:cNvPr>
            <p:cNvSpPr/>
            <p:nvPr/>
          </p:nvSpPr>
          <p:spPr bwMode="auto">
            <a:xfrm>
              <a:off x="5472875" y="2523872"/>
              <a:ext cx="55563" cy="374650"/>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íŝliḑé">
              <a:extLst>
                <a:ext uri="{FF2B5EF4-FFF2-40B4-BE49-F238E27FC236}">
                  <a16:creationId xmlns:a16="http://schemas.microsoft.com/office/drawing/2014/main" id="{8817CDC2-82BF-B840-5398-C8B019CA324C}"/>
                </a:ext>
              </a:extLst>
            </p:cNvPr>
            <p:cNvSpPr/>
            <p:nvPr/>
          </p:nvSpPr>
          <p:spPr bwMode="auto">
            <a:xfrm>
              <a:off x="5634800" y="2266697"/>
              <a:ext cx="55563" cy="631825"/>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iš1iḋe">
              <a:extLst>
                <a:ext uri="{FF2B5EF4-FFF2-40B4-BE49-F238E27FC236}">
                  <a16:creationId xmlns:a16="http://schemas.microsoft.com/office/drawing/2014/main" id="{E32C4AB0-E444-8CB1-A1AB-AD9E25DA47B7}"/>
                </a:ext>
              </a:extLst>
            </p:cNvPr>
            <p:cNvSpPr/>
            <p:nvPr/>
          </p:nvSpPr>
          <p:spPr bwMode="auto">
            <a:xfrm>
              <a:off x="5791962" y="2763584"/>
              <a:ext cx="58738" cy="134938"/>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iSḻíḑê">
              <a:extLst>
                <a:ext uri="{FF2B5EF4-FFF2-40B4-BE49-F238E27FC236}">
                  <a16:creationId xmlns:a16="http://schemas.microsoft.com/office/drawing/2014/main" id="{30DF77AF-13EA-37C4-D184-D47D2168416E}"/>
                </a:ext>
              </a:extLst>
            </p:cNvPr>
            <p:cNvSpPr/>
            <p:nvPr/>
          </p:nvSpPr>
          <p:spPr bwMode="auto">
            <a:xfrm>
              <a:off x="5947537" y="2134934"/>
              <a:ext cx="55563" cy="763588"/>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isḷïḍè">
              <a:extLst>
                <a:ext uri="{FF2B5EF4-FFF2-40B4-BE49-F238E27FC236}">
                  <a16:creationId xmlns:a16="http://schemas.microsoft.com/office/drawing/2014/main" id="{984BE182-5754-87A9-2084-EF45E7DE24B6}"/>
                </a:ext>
              </a:extLst>
            </p:cNvPr>
            <p:cNvSpPr/>
            <p:nvPr/>
          </p:nvSpPr>
          <p:spPr bwMode="auto">
            <a:xfrm>
              <a:off x="6107875" y="2763584"/>
              <a:ext cx="55563" cy="134938"/>
            </a:xfrm>
            <a:prstGeom prst="rect">
              <a:avLst/>
            </a:prstGeom>
            <a:solidFill>
              <a:srgbClr val="17171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î$ļiḋè">
              <a:extLst>
                <a:ext uri="{FF2B5EF4-FFF2-40B4-BE49-F238E27FC236}">
                  <a16:creationId xmlns:a16="http://schemas.microsoft.com/office/drawing/2014/main" id="{D16CB86F-DA30-8C53-7196-A787BED90A99}"/>
                </a:ext>
              </a:extLst>
            </p:cNvPr>
            <p:cNvSpPr/>
            <p:nvPr/>
          </p:nvSpPr>
          <p:spPr bwMode="auto">
            <a:xfrm>
              <a:off x="4456875" y="2962022"/>
              <a:ext cx="1809750" cy="6350"/>
            </a:xfrm>
            <a:prstGeom prst="ellipse">
              <a:avLst/>
            </a:pr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îṣ1ïḓê">
              <a:extLst>
                <a:ext uri="{FF2B5EF4-FFF2-40B4-BE49-F238E27FC236}">
                  <a16:creationId xmlns:a16="http://schemas.microsoft.com/office/drawing/2014/main" id="{C6A98DD6-74B6-55A4-84CE-C5C06A6611AB}"/>
                </a:ext>
              </a:extLst>
            </p:cNvPr>
            <p:cNvSpPr/>
            <p:nvPr/>
          </p:nvSpPr>
          <p:spPr bwMode="auto">
            <a:xfrm>
              <a:off x="4460050" y="1719009"/>
              <a:ext cx="195263" cy="195263"/>
            </a:xfrm>
            <a:custGeom>
              <a:avLst/>
              <a:gdLst>
                <a:gd name="T0" fmla="*/ 33 w 67"/>
                <a:gd name="T1" fmla="*/ 67 h 67"/>
                <a:gd name="T2" fmla="*/ 0 w 67"/>
                <a:gd name="T3" fmla="*/ 34 h 67"/>
                <a:gd name="T4" fmla="*/ 33 w 67"/>
                <a:gd name="T5" fmla="*/ 0 h 67"/>
                <a:gd name="T6" fmla="*/ 67 w 67"/>
                <a:gd name="T7" fmla="*/ 34 h 67"/>
                <a:gd name="T8" fmla="*/ 33 w 67"/>
                <a:gd name="T9" fmla="*/ 67 h 67"/>
                <a:gd name="T10" fmla="*/ 33 w 67"/>
                <a:gd name="T11" fmla="*/ 18 h 67"/>
                <a:gd name="T12" fmla="*/ 18 w 67"/>
                <a:gd name="T13" fmla="*/ 34 h 67"/>
                <a:gd name="T14" fmla="*/ 33 w 67"/>
                <a:gd name="T15" fmla="*/ 49 h 67"/>
                <a:gd name="T16" fmla="*/ 49 w 67"/>
                <a:gd name="T17" fmla="*/ 34 h 67"/>
                <a:gd name="T18" fmla="*/ 33 w 67"/>
                <a:gd name="T19" fmla="*/ 1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67">
                  <a:moveTo>
                    <a:pt x="33" y="67"/>
                  </a:moveTo>
                  <a:cubicBezTo>
                    <a:pt x="15" y="67"/>
                    <a:pt x="0" y="52"/>
                    <a:pt x="0" y="34"/>
                  </a:cubicBezTo>
                  <a:cubicBezTo>
                    <a:pt x="0" y="15"/>
                    <a:pt x="15" y="0"/>
                    <a:pt x="33" y="0"/>
                  </a:cubicBezTo>
                  <a:cubicBezTo>
                    <a:pt x="52" y="0"/>
                    <a:pt x="67" y="15"/>
                    <a:pt x="67" y="34"/>
                  </a:cubicBezTo>
                  <a:cubicBezTo>
                    <a:pt x="67" y="52"/>
                    <a:pt x="52" y="67"/>
                    <a:pt x="33" y="67"/>
                  </a:cubicBezTo>
                  <a:close/>
                  <a:moveTo>
                    <a:pt x="33" y="18"/>
                  </a:moveTo>
                  <a:cubicBezTo>
                    <a:pt x="25" y="18"/>
                    <a:pt x="18" y="25"/>
                    <a:pt x="18" y="34"/>
                  </a:cubicBezTo>
                  <a:cubicBezTo>
                    <a:pt x="18" y="42"/>
                    <a:pt x="25" y="49"/>
                    <a:pt x="33" y="49"/>
                  </a:cubicBezTo>
                  <a:cubicBezTo>
                    <a:pt x="42" y="49"/>
                    <a:pt x="49" y="42"/>
                    <a:pt x="49" y="34"/>
                  </a:cubicBezTo>
                  <a:cubicBezTo>
                    <a:pt x="49" y="25"/>
                    <a:pt x="42" y="18"/>
                    <a:pt x="33" y="18"/>
                  </a:cubicBezTo>
                  <a:close/>
                </a:path>
              </a:pathLst>
            </a:custGeom>
            <a:solidFill>
              <a:srgbClr val="EEB4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iṡļîḑê">
              <a:extLst>
                <a:ext uri="{FF2B5EF4-FFF2-40B4-BE49-F238E27FC236}">
                  <a16:creationId xmlns:a16="http://schemas.microsoft.com/office/drawing/2014/main" id="{094919A9-D9E1-5DA6-5E17-8CCABC069FC4}"/>
                </a:ext>
              </a:extLst>
            </p:cNvPr>
            <p:cNvSpPr/>
            <p:nvPr/>
          </p:nvSpPr>
          <p:spPr bwMode="auto">
            <a:xfrm>
              <a:off x="4460050" y="1719009"/>
              <a:ext cx="195263" cy="195263"/>
            </a:xfrm>
            <a:custGeom>
              <a:avLst/>
              <a:gdLst>
                <a:gd name="T0" fmla="*/ 49 w 67"/>
                <a:gd name="T1" fmla="*/ 34 h 67"/>
                <a:gd name="T2" fmla="*/ 45 w 67"/>
                <a:gd name="T3" fmla="*/ 44 h 67"/>
                <a:gd name="T4" fmla="*/ 33 w 67"/>
                <a:gd name="T5" fmla="*/ 49 h 67"/>
                <a:gd name="T6" fmla="*/ 18 w 67"/>
                <a:gd name="T7" fmla="*/ 34 h 67"/>
                <a:gd name="T8" fmla="*/ 33 w 67"/>
                <a:gd name="T9" fmla="*/ 18 h 67"/>
                <a:gd name="T10" fmla="*/ 33 w 67"/>
                <a:gd name="T11" fmla="*/ 0 h 67"/>
                <a:gd name="T12" fmla="*/ 0 w 67"/>
                <a:gd name="T13" fmla="*/ 34 h 67"/>
                <a:gd name="T14" fmla="*/ 33 w 67"/>
                <a:gd name="T15" fmla="*/ 67 h 67"/>
                <a:gd name="T16" fmla="*/ 57 w 67"/>
                <a:gd name="T17" fmla="*/ 58 h 67"/>
                <a:gd name="T18" fmla="*/ 67 w 67"/>
                <a:gd name="T19" fmla="*/ 34 h 67"/>
                <a:gd name="T20" fmla="*/ 49 w 67"/>
                <a:gd name="T21" fmla="*/ 34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 h="67">
                  <a:moveTo>
                    <a:pt x="49" y="34"/>
                  </a:moveTo>
                  <a:cubicBezTo>
                    <a:pt x="49" y="38"/>
                    <a:pt x="47" y="41"/>
                    <a:pt x="45" y="44"/>
                  </a:cubicBezTo>
                  <a:cubicBezTo>
                    <a:pt x="42" y="47"/>
                    <a:pt x="38" y="49"/>
                    <a:pt x="33" y="49"/>
                  </a:cubicBezTo>
                  <a:cubicBezTo>
                    <a:pt x="25" y="49"/>
                    <a:pt x="18" y="42"/>
                    <a:pt x="18" y="34"/>
                  </a:cubicBezTo>
                  <a:cubicBezTo>
                    <a:pt x="18" y="25"/>
                    <a:pt x="25" y="18"/>
                    <a:pt x="33" y="18"/>
                  </a:cubicBezTo>
                  <a:cubicBezTo>
                    <a:pt x="33" y="0"/>
                    <a:pt x="33" y="0"/>
                    <a:pt x="33" y="0"/>
                  </a:cubicBezTo>
                  <a:cubicBezTo>
                    <a:pt x="15" y="0"/>
                    <a:pt x="0" y="15"/>
                    <a:pt x="0" y="34"/>
                  </a:cubicBezTo>
                  <a:cubicBezTo>
                    <a:pt x="0" y="52"/>
                    <a:pt x="15" y="67"/>
                    <a:pt x="33" y="67"/>
                  </a:cubicBezTo>
                  <a:cubicBezTo>
                    <a:pt x="42" y="67"/>
                    <a:pt x="51" y="64"/>
                    <a:pt x="57" y="58"/>
                  </a:cubicBezTo>
                  <a:cubicBezTo>
                    <a:pt x="63" y="52"/>
                    <a:pt x="67" y="43"/>
                    <a:pt x="67" y="34"/>
                  </a:cubicBezTo>
                  <a:lnTo>
                    <a:pt x="49" y="34"/>
                  </a:ln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îṥļiďê">
              <a:extLst>
                <a:ext uri="{FF2B5EF4-FFF2-40B4-BE49-F238E27FC236}">
                  <a16:creationId xmlns:a16="http://schemas.microsoft.com/office/drawing/2014/main" id="{DAE6482C-C40A-9F6D-3C9A-CC2330F5347A}"/>
                </a:ext>
              </a:extLst>
            </p:cNvPr>
            <p:cNvSpPr/>
            <p:nvPr/>
          </p:nvSpPr>
          <p:spPr bwMode="auto">
            <a:xfrm>
              <a:off x="5444300" y="1719009"/>
              <a:ext cx="198438" cy="195263"/>
            </a:xfrm>
            <a:custGeom>
              <a:avLst/>
              <a:gdLst>
                <a:gd name="T0" fmla="*/ 34 w 68"/>
                <a:gd name="T1" fmla="*/ 67 h 67"/>
                <a:gd name="T2" fmla="*/ 0 w 68"/>
                <a:gd name="T3" fmla="*/ 34 h 67"/>
                <a:gd name="T4" fmla="*/ 34 w 68"/>
                <a:gd name="T5" fmla="*/ 0 h 67"/>
                <a:gd name="T6" fmla="*/ 68 w 68"/>
                <a:gd name="T7" fmla="*/ 34 h 67"/>
                <a:gd name="T8" fmla="*/ 34 w 68"/>
                <a:gd name="T9" fmla="*/ 67 h 67"/>
                <a:gd name="T10" fmla="*/ 34 w 68"/>
                <a:gd name="T11" fmla="*/ 18 h 67"/>
                <a:gd name="T12" fmla="*/ 19 w 68"/>
                <a:gd name="T13" fmla="*/ 34 h 67"/>
                <a:gd name="T14" fmla="*/ 34 w 68"/>
                <a:gd name="T15" fmla="*/ 49 h 67"/>
                <a:gd name="T16" fmla="*/ 49 w 68"/>
                <a:gd name="T17" fmla="*/ 34 h 67"/>
                <a:gd name="T18" fmla="*/ 34 w 68"/>
                <a:gd name="T19" fmla="*/ 1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67">
                  <a:moveTo>
                    <a:pt x="34" y="67"/>
                  </a:moveTo>
                  <a:cubicBezTo>
                    <a:pt x="16" y="67"/>
                    <a:pt x="0" y="52"/>
                    <a:pt x="0" y="34"/>
                  </a:cubicBezTo>
                  <a:cubicBezTo>
                    <a:pt x="0" y="15"/>
                    <a:pt x="16" y="0"/>
                    <a:pt x="34" y="0"/>
                  </a:cubicBezTo>
                  <a:cubicBezTo>
                    <a:pt x="53" y="0"/>
                    <a:pt x="68" y="15"/>
                    <a:pt x="68" y="34"/>
                  </a:cubicBezTo>
                  <a:cubicBezTo>
                    <a:pt x="68" y="52"/>
                    <a:pt x="53" y="67"/>
                    <a:pt x="34" y="67"/>
                  </a:cubicBezTo>
                  <a:close/>
                  <a:moveTo>
                    <a:pt x="34" y="18"/>
                  </a:moveTo>
                  <a:cubicBezTo>
                    <a:pt x="26" y="18"/>
                    <a:pt x="19" y="25"/>
                    <a:pt x="19" y="34"/>
                  </a:cubicBezTo>
                  <a:cubicBezTo>
                    <a:pt x="19" y="42"/>
                    <a:pt x="26" y="49"/>
                    <a:pt x="34" y="49"/>
                  </a:cubicBezTo>
                  <a:cubicBezTo>
                    <a:pt x="42" y="49"/>
                    <a:pt x="49" y="42"/>
                    <a:pt x="49" y="34"/>
                  </a:cubicBezTo>
                  <a:cubicBezTo>
                    <a:pt x="49" y="25"/>
                    <a:pt x="42" y="18"/>
                    <a:pt x="34" y="18"/>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ïṡḷíďé">
              <a:extLst>
                <a:ext uri="{FF2B5EF4-FFF2-40B4-BE49-F238E27FC236}">
                  <a16:creationId xmlns:a16="http://schemas.microsoft.com/office/drawing/2014/main" id="{4E41526F-AE72-49F7-9401-3ACFF16B183A}"/>
                </a:ext>
              </a:extLst>
            </p:cNvPr>
            <p:cNvSpPr/>
            <p:nvPr/>
          </p:nvSpPr>
          <p:spPr bwMode="auto">
            <a:xfrm>
              <a:off x="5444300" y="1719009"/>
              <a:ext cx="198438" cy="195263"/>
            </a:xfrm>
            <a:custGeom>
              <a:avLst/>
              <a:gdLst>
                <a:gd name="T0" fmla="*/ 49 w 68"/>
                <a:gd name="T1" fmla="*/ 34 h 67"/>
                <a:gd name="T2" fmla="*/ 45 w 68"/>
                <a:gd name="T3" fmla="*/ 44 h 67"/>
                <a:gd name="T4" fmla="*/ 34 w 68"/>
                <a:gd name="T5" fmla="*/ 49 h 67"/>
                <a:gd name="T6" fmla="*/ 19 w 68"/>
                <a:gd name="T7" fmla="*/ 34 h 67"/>
                <a:gd name="T8" fmla="*/ 34 w 68"/>
                <a:gd name="T9" fmla="*/ 18 h 67"/>
                <a:gd name="T10" fmla="*/ 34 w 68"/>
                <a:gd name="T11" fmla="*/ 0 h 67"/>
                <a:gd name="T12" fmla="*/ 0 w 68"/>
                <a:gd name="T13" fmla="*/ 34 h 67"/>
                <a:gd name="T14" fmla="*/ 34 w 68"/>
                <a:gd name="T15" fmla="*/ 67 h 67"/>
                <a:gd name="T16" fmla="*/ 57 w 68"/>
                <a:gd name="T17" fmla="*/ 58 h 67"/>
                <a:gd name="T18" fmla="*/ 68 w 68"/>
                <a:gd name="T19" fmla="*/ 34 h 67"/>
                <a:gd name="T20" fmla="*/ 49 w 68"/>
                <a:gd name="T21" fmla="*/ 34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67">
                  <a:moveTo>
                    <a:pt x="49" y="34"/>
                  </a:moveTo>
                  <a:cubicBezTo>
                    <a:pt x="49" y="38"/>
                    <a:pt x="48" y="41"/>
                    <a:pt x="45" y="44"/>
                  </a:cubicBezTo>
                  <a:cubicBezTo>
                    <a:pt x="42" y="47"/>
                    <a:pt x="38" y="49"/>
                    <a:pt x="34" y="49"/>
                  </a:cubicBezTo>
                  <a:cubicBezTo>
                    <a:pt x="26" y="49"/>
                    <a:pt x="19" y="42"/>
                    <a:pt x="19" y="34"/>
                  </a:cubicBezTo>
                  <a:cubicBezTo>
                    <a:pt x="19" y="25"/>
                    <a:pt x="26" y="18"/>
                    <a:pt x="34" y="18"/>
                  </a:cubicBezTo>
                  <a:cubicBezTo>
                    <a:pt x="34" y="0"/>
                    <a:pt x="34" y="0"/>
                    <a:pt x="34" y="0"/>
                  </a:cubicBezTo>
                  <a:cubicBezTo>
                    <a:pt x="16" y="0"/>
                    <a:pt x="0" y="15"/>
                    <a:pt x="0" y="34"/>
                  </a:cubicBezTo>
                  <a:cubicBezTo>
                    <a:pt x="0" y="52"/>
                    <a:pt x="16" y="67"/>
                    <a:pt x="34" y="67"/>
                  </a:cubicBezTo>
                  <a:cubicBezTo>
                    <a:pt x="43" y="67"/>
                    <a:pt x="51" y="64"/>
                    <a:pt x="57" y="58"/>
                  </a:cubicBezTo>
                  <a:cubicBezTo>
                    <a:pt x="64" y="52"/>
                    <a:pt x="68" y="43"/>
                    <a:pt x="68" y="34"/>
                  </a:cubicBezTo>
                  <a:lnTo>
                    <a:pt x="49" y="34"/>
                  </a:lnTo>
                  <a:close/>
                </a:path>
              </a:pathLst>
            </a:custGeom>
            <a:solidFill>
              <a:srgbClr val="EEB4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iṣlîḑè">
              <a:extLst>
                <a:ext uri="{FF2B5EF4-FFF2-40B4-BE49-F238E27FC236}">
                  <a16:creationId xmlns:a16="http://schemas.microsoft.com/office/drawing/2014/main" id="{7690C3D7-B4D9-2D7E-A9F4-DA3542A600E4}"/>
                </a:ext>
              </a:extLst>
            </p:cNvPr>
            <p:cNvSpPr/>
            <p:nvPr/>
          </p:nvSpPr>
          <p:spPr bwMode="auto">
            <a:xfrm>
              <a:off x="4810887" y="1739647"/>
              <a:ext cx="450850" cy="6350"/>
            </a:xfrm>
            <a:prstGeom prst="ellipse">
              <a:avLst/>
            </a:pr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ïṧļîḑé">
              <a:extLst>
                <a:ext uri="{FF2B5EF4-FFF2-40B4-BE49-F238E27FC236}">
                  <a16:creationId xmlns:a16="http://schemas.microsoft.com/office/drawing/2014/main" id="{6A35BC8E-E087-1E5D-F87C-8AD69B46436A}"/>
                </a:ext>
              </a:extLst>
            </p:cNvPr>
            <p:cNvSpPr/>
            <p:nvPr/>
          </p:nvSpPr>
          <p:spPr bwMode="auto">
            <a:xfrm>
              <a:off x="4814062" y="1798384"/>
              <a:ext cx="447675" cy="4763"/>
            </a:xfrm>
            <a:prstGeom prst="ellipse">
              <a:avLst/>
            </a:pr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islïde">
              <a:extLst>
                <a:ext uri="{FF2B5EF4-FFF2-40B4-BE49-F238E27FC236}">
                  <a16:creationId xmlns:a16="http://schemas.microsoft.com/office/drawing/2014/main" id="{B9D8EC89-C6C1-C70F-4759-E179F2FCA13C}"/>
                </a:ext>
              </a:extLst>
            </p:cNvPr>
            <p:cNvSpPr/>
            <p:nvPr/>
          </p:nvSpPr>
          <p:spPr bwMode="auto">
            <a:xfrm>
              <a:off x="4814062" y="1858709"/>
              <a:ext cx="222250" cy="6350"/>
            </a:xfrm>
            <a:prstGeom prst="ellipse">
              <a:avLst/>
            </a:pr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íṥļïdê">
              <a:extLst>
                <a:ext uri="{FF2B5EF4-FFF2-40B4-BE49-F238E27FC236}">
                  <a16:creationId xmlns:a16="http://schemas.microsoft.com/office/drawing/2014/main" id="{B643EAD3-75E4-D0F6-E3E9-FAE5DE61BB57}"/>
                </a:ext>
              </a:extLst>
            </p:cNvPr>
            <p:cNvSpPr/>
            <p:nvPr/>
          </p:nvSpPr>
          <p:spPr bwMode="auto">
            <a:xfrm>
              <a:off x="5742750" y="1739647"/>
              <a:ext cx="450850" cy="63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ïṩlîḍê">
              <a:extLst>
                <a:ext uri="{FF2B5EF4-FFF2-40B4-BE49-F238E27FC236}">
                  <a16:creationId xmlns:a16="http://schemas.microsoft.com/office/drawing/2014/main" id="{FE845A8E-71BE-C285-4BE7-830B28FAEE4E}"/>
                </a:ext>
              </a:extLst>
            </p:cNvPr>
            <p:cNvSpPr/>
            <p:nvPr/>
          </p:nvSpPr>
          <p:spPr bwMode="auto">
            <a:xfrm>
              <a:off x="5742750" y="1798384"/>
              <a:ext cx="450850" cy="47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îSḷíďe">
              <a:extLst>
                <a:ext uri="{FF2B5EF4-FFF2-40B4-BE49-F238E27FC236}">
                  <a16:creationId xmlns:a16="http://schemas.microsoft.com/office/drawing/2014/main" id="{B1FA0283-EA9D-AE17-FA60-B8F913FC0F98}"/>
                </a:ext>
              </a:extLst>
            </p:cNvPr>
            <p:cNvSpPr/>
            <p:nvPr/>
          </p:nvSpPr>
          <p:spPr bwMode="auto">
            <a:xfrm>
              <a:off x="5742750" y="1858709"/>
              <a:ext cx="225425" cy="63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îṡḷiḓê">
              <a:extLst>
                <a:ext uri="{FF2B5EF4-FFF2-40B4-BE49-F238E27FC236}">
                  <a16:creationId xmlns:a16="http://schemas.microsoft.com/office/drawing/2014/main" id="{B5B90892-0E79-D51F-05B3-FCE29A63E668}"/>
                </a:ext>
              </a:extLst>
            </p:cNvPr>
            <p:cNvSpPr/>
            <p:nvPr/>
          </p:nvSpPr>
          <p:spPr bwMode="auto">
            <a:xfrm>
              <a:off x="5087112" y="1528509"/>
              <a:ext cx="500063"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íšḻidê">
              <a:extLst>
                <a:ext uri="{FF2B5EF4-FFF2-40B4-BE49-F238E27FC236}">
                  <a16:creationId xmlns:a16="http://schemas.microsoft.com/office/drawing/2014/main" id="{B78FE2B4-BB3C-AA93-7AD4-92B4BAA9A533}"/>
                </a:ext>
              </a:extLst>
            </p:cNvPr>
            <p:cNvSpPr/>
            <p:nvPr/>
          </p:nvSpPr>
          <p:spPr bwMode="auto">
            <a:xfrm>
              <a:off x="6946075" y="1968247"/>
              <a:ext cx="554038" cy="552450"/>
            </a:xfrm>
            <a:custGeom>
              <a:avLst/>
              <a:gdLst>
                <a:gd name="T0" fmla="*/ 162 w 189"/>
                <a:gd name="T1" fmla="*/ 28 h 189"/>
                <a:gd name="T2" fmla="*/ 94 w 189"/>
                <a:gd name="T3" fmla="*/ 1 h 189"/>
                <a:gd name="T4" fmla="*/ 35 w 189"/>
                <a:gd name="T5" fmla="*/ 13 h 189"/>
                <a:gd name="T6" fmla="*/ 9 w 189"/>
                <a:gd name="T7" fmla="*/ 90 h 189"/>
                <a:gd name="T8" fmla="*/ 70 w 189"/>
                <a:gd name="T9" fmla="*/ 147 h 189"/>
                <a:gd name="T10" fmla="*/ 73 w 189"/>
                <a:gd name="T11" fmla="*/ 147 h 189"/>
                <a:gd name="T12" fmla="*/ 45 w 189"/>
                <a:gd name="T13" fmla="*/ 188 h 189"/>
                <a:gd name="T14" fmla="*/ 92 w 189"/>
                <a:gd name="T15" fmla="*/ 150 h 189"/>
                <a:gd name="T16" fmla="*/ 168 w 189"/>
                <a:gd name="T17" fmla="*/ 119 h 189"/>
                <a:gd name="T18" fmla="*/ 162 w 189"/>
                <a:gd name="T19" fmla="*/ 2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9" h="189">
                  <a:moveTo>
                    <a:pt x="162" y="28"/>
                  </a:moveTo>
                  <a:cubicBezTo>
                    <a:pt x="145" y="8"/>
                    <a:pt x="121" y="3"/>
                    <a:pt x="94" y="1"/>
                  </a:cubicBezTo>
                  <a:cubicBezTo>
                    <a:pt x="74" y="0"/>
                    <a:pt x="52" y="2"/>
                    <a:pt x="35" y="13"/>
                  </a:cubicBezTo>
                  <a:cubicBezTo>
                    <a:pt x="11" y="29"/>
                    <a:pt x="0" y="62"/>
                    <a:pt x="9" y="90"/>
                  </a:cubicBezTo>
                  <a:cubicBezTo>
                    <a:pt x="17" y="117"/>
                    <a:pt x="42" y="141"/>
                    <a:pt x="70" y="147"/>
                  </a:cubicBezTo>
                  <a:cubicBezTo>
                    <a:pt x="73" y="147"/>
                    <a:pt x="73" y="147"/>
                    <a:pt x="73" y="147"/>
                  </a:cubicBezTo>
                  <a:cubicBezTo>
                    <a:pt x="68" y="163"/>
                    <a:pt x="59" y="177"/>
                    <a:pt x="45" y="188"/>
                  </a:cubicBezTo>
                  <a:cubicBezTo>
                    <a:pt x="67" y="189"/>
                    <a:pt x="89" y="171"/>
                    <a:pt x="92" y="150"/>
                  </a:cubicBezTo>
                  <a:cubicBezTo>
                    <a:pt x="121" y="155"/>
                    <a:pt x="150" y="142"/>
                    <a:pt x="168" y="119"/>
                  </a:cubicBezTo>
                  <a:cubicBezTo>
                    <a:pt x="187" y="96"/>
                    <a:pt x="189" y="60"/>
                    <a:pt x="162"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îşlîḋè">
              <a:extLst>
                <a:ext uri="{FF2B5EF4-FFF2-40B4-BE49-F238E27FC236}">
                  <a16:creationId xmlns:a16="http://schemas.microsoft.com/office/drawing/2014/main" id="{B2E619FD-7262-D91E-AD01-3B8621D04F70}"/>
                </a:ext>
              </a:extLst>
            </p:cNvPr>
            <p:cNvSpPr/>
            <p:nvPr/>
          </p:nvSpPr>
          <p:spPr bwMode="auto">
            <a:xfrm>
              <a:off x="6957187" y="1968247"/>
              <a:ext cx="525463" cy="552450"/>
            </a:xfrm>
            <a:custGeom>
              <a:avLst/>
              <a:gdLst>
                <a:gd name="T0" fmla="*/ 158 w 179"/>
                <a:gd name="T1" fmla="*/ 28 h 189"/>
                <a:gd name="T2" fmla="*/ 159 w 179"/>
                <a:gd name="T3" fmla="*/ 29 h 189"/>
                <a:gd name="T4" fmla="*/ 160 w 179"/>
                <a:gd name="T5" fmla="*/ 31 h 189"/>
                <a:gd name="T6" fmla="*/ 163 w 179"/>
                <a:gd name="T7" fmla="*/ 34 h 189"/>
                <a:gd name="T8" fmla="*/ 166 w 179"/>
                <a:gd name="T9" fmla="*/ 39 h 189"/>
                <a:gd name="T10" fmla="*/ 179 w 179"/>
                <a:gd name="T11" fmla="*/ 75 h 189"/>
                <a:gd name="T12" fmla="*/ 175 w 179"/>
                <a:gd name="T13" fmla="*/ 102 h 189"/>
                <a:gd name="T14" fmla="*/ 168 w 179"/>
                <a:gd name="T15" fmla="*/ 115 h 189"/>
                <a:gd name="T16" fmla="*/ 157 w 179"/>
                <a:gd name="T17" fmla="*/ 128 h 189"/>
                <a:gd name="T18" fmla="*/ 127 w 179"/>
                <a:gd name="T19" fmla="*/ 147 h 189"/>
                <a:gd name="T20" fmla="*/ 88 w 179"/>
                <a:gd name="T21" fmla="*/ 150 h 189"/>
                <a:gd name="T22" fmla="*/ 89 w 179"/>
                <a:gd name="T23" fmla="*/ 150 h 189"/>
                <a:gd name="T24" fmla="*/ 73 w 179"/>
                <a:gd name="T25" fmla="*/ 177 h 189"/>
                <a:gd name="T26" fmla="*/ 41 w 179"/>
                <a:gd name="T27" fmla="*/ 189 h 189"/>
                <a:gd name="T28" fmla="*/ 40 w 179"/>
                <a:gd name="T29" fmla="*/ 188 h 189"/>
                <a:gd name="T30" fmla="*/ 41 w 179"/>
                <a:gd name="T31" fmla="*/ 187 h 189"/>
                <a:gd name="T32" fmla="*/ 68 w 179"/>
                <a:gd name="T33" fmla="*/ 146 h 189"/>
                <a:gd name="T34" fmla="*/ 69 w 179"/>
                <a:gd name="T35" fmla="*/ 148 h 189"/>
                <a:gd name="T36" fmla="*/ 66 w 179"/>
                <a:gd name="T37" fmla="*/ 148 h 189"/>
                <a:gd name="T38" fmla="*/ 66 w 179"/>
                <a:gd name="T39" fmla="*/ 148 h 189"/>
                <a:gd name="T40" fmla="*/ 66 w 179"/>
                <a:gd name="T41" fmla="*/ 148 h 189"/>
                <a:gd name="T42" fmla="*/ 62 w 179"/>
                <a:gd name="T43" fmla="*/ 147 h 189"/>
                <a:gd name="T44" fmla="*/ 13 w 179"/>
                <a:gd name="T45" fmla="*/ 110 h 189"/>
                <a:gd name="T46" fmla="*/ 2 w 179"/>
                <a:gd name="T47" fmla="*/ 83 h 189"/>
                <a:gd name="T48" fmla="*/ 3 w 179"/>
                <a:gd name="T49" fmla="*/ 54 h 189"/>
                <a:gd name="T50" fmla="*/ 32 w 179"/>
                <a:gd name="T51" fmla="*/ 12 h 189"/>
                <a:gd name="T52" fmla="*/ 76 w 179"/>
                <a:gd name="T53" fmla="*/ 0 h 189"/>
                <a:gd name="T54" fmla="*/ 113 w 179"/>
                <a:gd name="T55" fmla="*/ 3 h 189"/>
                <a:gd name="T56" fmla="*/ 140 w 179"/>
                <a:gd name="T57" fmla="*/ 13 h 189"/>
                <a:gd name="T58" fmla="*/ 154 w 179"/>
                <a:gd name="T59" fmla="*/ 24 h 189"/>
                <a:gd name="T60" fmla="*/ 158 w 179"/>
                <a:gd name="T61" fmla="*/ 28 h 189"/>
                <a:gd name="T62" fmla="*/ 157 w 179"/>
                <a:gd name="T63" fmla="*/ 27 h 189"/>
                <a:gd name="T64" fmla="*/ 154 w 179"/>
                <a:gd name="T65" fmla="*/ 24 h 189"/>
                <a:gd name="T66" fmla="*/ 139 w 179"/>
                <a:gd name="T67" fmla="*/ 14 h 189"/>
                <a:gd name="T68" fmla="*/ 113 w 179"/>
                <a:gd name="T69" fmla="*/ 4 h 189"/>
                <a:gd name="T70" fmla="*/ 76 w 179"/>
                <a:gd name="T71" fmla="*/ 2 h 189"/>
                <a:gd name="T72" fmla="*/ 33 w 179"/>
                <a:gd name="T73" fmla="*/ 13 h 189"/>
                <a:gd name="T74" fmla="*/ 5 w 179"/>
                <a:gd name="T75" fmla="*/ 55 h 189"/>
                <a:gd name="T76" fmla="*/ 4 w 179"/>
                <a:gd name="T77" fmla="*/ 82 h 189"/>
                <a:gd name="T78" fmla="*/ 15 w 179"/>
                <a:gd name="T79" fmla="*/ 109 h 189"/>
                <a:gd name="T80" fmla="*/ 63 w 179"/>
                <a:gd name="T81" fmla="*/ 145 h 189"/>
                <a:gd name="T82" fmla="*/ 66 w 179"/>
                <a:gd name="T83" fmla="*/ 146 h 189"/>
                <a:gd name="T84" fmla="*/ 66 w 179"/>
                <a:gd name="T85" fmla="*/ 146 h 189"/>
                <a:gd name="T86" fmla="*/ 69 w 179"/>
                <a:gd name="T87" fmla="*/ 146 h 189"/>
                <a:gd name="T88" fmla="*/ 70 w 179"/>
                <a:gd name="T89" fmla="*/ 147 h 189"/>
                <a:gd name="T90" fmla="*/ 70 w 179"/>
                <a:gd name="T91" fmla="*/ 147 h 189"/>
                <a:gd name="T92" fmla="*/ 42 w 179"/>
                <a:gd name="T93" fmla="*/ 188 h 189"/>
                <a:gd name="T94" fmla="*/ 41 w 179"/>
                <a:gd name="T95" fmla="*/ 187 h 189"/>
                <a:gd name="T96" fmla="*/ 72 w 179"/>
                <a:gd name="T97" fmla="*/ 176 h 189"/>
                <a:gd name="T98" fmla="*/ 87 w 179"/>
                <a:gd name="T99" fmla="*/ 149 h 189"/>
                <a:gd name="T100" fmla="*/ 88 w 179"/>
                <a:gd name="T101" fmla="*/ 149 h 189"/>
                <a:gd name="T102" fmla="*/ 88 w 179"/>
                <a:gd name="T103" fmla="*/ 149 h 189"/>
                <a:gd name="T104" fmla="*/ 127 w 179"/>
                <a:gd name="T105" fmla="*/ 145 h 189"/>
                <a:gd name="T106" fmla="*/ 156 w 179"/>
                <a:gd name="T107" fmla="*/ 127 h 189"/>
                <a:gd name="T108" fmla="*/ 167 w 179"/>
                <a:gd name="T109" fmla="*/ 114 h 189"/>
                <a:gd name="T110" fmla="*/ 174 w 179"/>
                <a:gd name="T111" fmla="*/ 101 h 189"/>
                <a:gd name="T112" fmla="*/ 177 w 179"/>
                <a:gd name="T113" fmla="*/ 75 h 189"/>
                <a:gd name="T114" fmla="*/ 166 w 179"/>
                <a:gd name="T115" fmla="*/ 40 h 189"/>
                <a:gd name="T116" fmla="*/ 163 w 179"/>
                <a:gd name="T117" fmla="*/ 35 h 189"/>
                <a:gd name="T118" fmla="*/ 160 w 179"/>
                <a:gd name="T119" fmla="*/ 31 h 189"/>
                <a:gd name="T120" fmla="*/ 159 w 179"/>
                <a:gd name="T121" fmla="*/ 29 h 189"/>
                <a:gd name="T122" fmla="*/ 158 w 179"/>
                <a:gd name="T123" fmla="*/ 2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79" h="189">
                  <a:moveTo>
                    <a:pt x="158" y="28"/>
                  </a:moveTo>
                  <a:cubicBezTo>
                    <a:pt x="158" y="28"/>
                    <a:pt x="158" y="29"/>
                    <a:pt x="159" y="29"/>
                  </a:cubicBezTo>
                  <a:cubicBezTo>
                    <a:pt x="159" y="30"/>
                    <a:pt x="160" y="30"/>
                    <a:pt x="160" y="31"/>
                  </a:cubicBezTo>
                  <a:cubicBezTo>
                    <a:pt x="161" y="32"/>
                    <a:pt x="162" y="33"/>
                    <a:pt x="163" y="34"/>
                  </a:cubicBezTo>
                  <a:cubicBezTo>
                    <a:pt x="164" y="36"/>
                    <a:pt x="165" y="37"/>
                    <a:pt x="166" y="39"/>
                  </a:cubicBezTo>
                  <a:cubicBezTo>
                    <a:pt x="171" y="47"/>
                    <a:pt x="177" y="58"/>
                    <a:pt x="179" y="75"/>
                  </a:cubicBezTo>
                  <a:cubicBezTo>
                    <a:pt x="179" y="83"/>
                    <a:pt x="178" y="92"/>
                    <a:pt x="175" y="102"/>
                  </a:cubicBezTo>
                  <a:cubicBezTo>
                    <a:pt x="173" y="106"/>
                    <a:pt x="171" y="111"/>
                    <a:pt x="168" y="115"/>
                  </a:cubicBezTo>
                  <a:cubicBezTo>
                    <a:pt x="165" y="120"/>
                    <a:pt x="161" y="124"/>
                    <a:pt x="157" y="128"/>
                  </a:cubicBezTo>
                  <a:cubicBezTo>
                    <a:pt x="149" y="136"/>
                    <a:pt x="139" y="142"/>
                    <a:pt x="127" y="147"/>
                  </a:cubicBezTo>
                  <a:cubicBezTo>
                    <a:pt x="115" y="151"/>
                    <a:pt x="102" y="153"/>
                    <a:pt x="88" y="150"/>
                  </a:cubicBezTo>
                  <a:cubicBezTo>
                    <a:pt x="89" y="150"/>
                    <a:pt x="89" y="150"/>
                    <a:pt x="89" y="150"/>
                  </a:cubicBezTo>
                  <a:cubicBezTo>
                    <a:pt x="88" y="160"/>
                    <a:pt x="82" y="170"/>
                    <a:pt x="73" y="177"/>
                  </a:cubicBezTo>
                  <a:cubicBezTo>
                    <a:pt x="65" y="185"/>
                    <a:pt x="53" y="189"/>
                    <a:pt x="41" y="189"/>
                  </a:cubicBezTo>
                  <a:cubicBezTo>
                    <a:pt x="41" y="189"/>
                    <a:pt x="40" y="188"/>
                    <a:pt x="40" y="188"/>
                  </a:cubicBezTo>
                  <a:cubicBezTo>
                    <a:pt x="40" y="187"/>
                    <a:pt x="40" y="187"/>
                    <a:pt x="41" y="187"/>
                  </a:cubicBezTo>
                  <a:cubicBezTo>
                    <a:pt x="53" y="177"/>
                    <a:pt x="63" y="163"/>
                    <a:pt x="68" y="146"/>
                  </a:cubicBezTo>
                  <a:cubicBezTo>
                    <a:pt x="69" y="148"/>
                    <a:pt x="69" y="148"/>
                    <a:pt x="69" y="148"/>
                  </a:cubicBezTo>
                  <a:cubicBezTo>
                    <a:pt x="68" y="148"/>
                    <a:pt x="67" y="148"/>
                    <a:pt x="66" y="148"/>
                  </a:cubicBezTo>
                  <a:cubicBezTo>
                    <a:pt x="66" y="148"/>
                    <a:pt x="66" y="148"/>
                    <a:pt x="66" y="148"/>
                  </a:cubicBezTo>
                  <a:cubicBezTo>
                    <a:pt x="66" y="148"/>
                    <a:pt x="66" y="148"/>
                    <a:pt x="66" y="148"/>
                  </a:cubicBezTo>
                  <a:cubicBezTo>
                    <a:pt x="65" y="147"/>
                    <a:pt x="64" y="147"/>
                    <a:pt x="62" y="147"/>
                  </a:cubicBezTo>
                  <a:cubicBezTo>
                    <a:pt x="41" y="141"/>
                    <a:pt x="24" y="127"/>
                    <a:pt x="13" y="110"/>
                  </a:cubicBezTo>
                  <a:cubicBezTo>
                    <a:pt x="8" y="102"/>
                    <a:pt x="4" y="92"/>
                    <a:pt x="2" y="83"/>
                  </a:cubicBezTo>
                  <a:cubicBezTo>
                    <a:pt x="0" y="73"/>
                    <a:pt x="1" y="63"/>
                    <a:pt x="3" y="54"/>
                  </a:cubicBezTo>
                  <a:cubicBezTo>
                    <a:pt x="7" y="36"/>
                    <a:pt x="18" y="21"/>
                    <a:pt x="32" y="12"/>
                  </a:cubicBezTo>
                  <a:cubicBezTo>
                    <a:pt x="46" y="3"/>
                    <a:pt x="62" y="1"/>
                    <a:pt x="76" y="0"/>
                  </a:cubicBezTo>
                  <a:cubicBezTo>
                    <a:pt x="90" y="0"/>
                    <a:pt x="102" y="1"/>
                    <a:pt x="113" y="3"/>
                  </a:cubicBezTo>
                  <a:cubicBezTo>
                    <a:pt x="124" y="5"/>
                    <a:pt x="133" y="9"/>
                    <a:pt x="140" y="13"/>
                  </a:cubicBezTo>
                  <a:cubicBezTo>
                    <a:pt x="147" y="17"/>
                    <a:pt x="151" y="21"/>
                    <a:pt x="154" y="24"/>
                  </a:cubicBezTo>
                  <a:cubicBezTo>
                    <a:pt x="157" y="27"/>
                    <a:pt x="158" y="28"/>
                    <a:pt x="158" y="28"/>
                  </a:cubicBezTo>
                  <a:cubicBezTo>
                    <a:pt x="158" y="29"/>
                    <a:pt x="158" y="28"/>
                    <a:pt x="157" y="27"/>
                  </a:cubicBezTo>
                  <a:cubicBezTo>
                    <a:pt x="156" y="27"/>
                    <a:pt x="155" y="25"/>
                    <a:pt x="154" y="24"/>
                  </a:cubicBezTo>
                  <a:cubicBezTo>
                    <a:pt x="151" y="21"/>
                    <a:pt x="146" y="17"/>
                    <a:pt x="139" y="14"/>
                  </a:cubicBezTo>
                  <a:cubicBezTo>
                    <a:pt x="133" y="10"/>
                    <a:pt x="124" y="6"/>
                    <a:pt x="113" y="4"/>
                  </a:cubicBezTo>
                  <a:cubicBezTo>
                    <a:pt x="102" y="2"/>
                    <a:pt x="89" y="1"/>
                    <a:pt x="76" y="2"/>
                  </a:cubicBezTo>
                  <a:cubicBezTo>
                    <a:pt x="62" y="3"/>
                    <a:pt x="47" y="5"/>
                    <a:pt x="33" y="13"/>
                  </a:cubicBezTo>
                  <a:cubicBezTo>
                    <a:pt x="19" y="22"/>
                    <a:pt x="8" y="37"/>
                    <a:pt x="5" y="55"/>
                  </a:cubicBezTo>
                  <a:cubicBezTo>
                    <a:pt x="3" y="64"/>
                    <a:pt x="2" y="73"/>
                    <a:pt x="4" y="82"/>
                  </a:cubicBezTo>
                  <a:cubicBezTo>
                    <a:pt x="6" y="92"/>
                    <a:pt x="10" y="101"/>
                    <a:pt x="15" y="109"/>
                  </a:cubicBezTo>
                  <a:cubicBezTo>
                    <a:pt x="26" y="126"/>
                    <a:pt x="43" y="139"/>
                    <a:pt x="63" y="145"/>
                  </a:cubicBezTo>
                  <a:cubicBezTo>
                    <a:pt x="64" y="145"/>
                    <a:pt x="65" y="145"/>
                    <a:pt x="66" y="146"/>
                  </a:cubicBezTo>
                  <a:cubicBezTo>
                    <a:pt x="66" y="146"/>
                    <a:pt x="66" y="146"/>
                    <a:pt x="66" y="146"/>
                  </a:cubicBezTo>
                  <a:cubicBezTo>
                    <a:pt x="67" y="146"/>
                    <a:pt x="68" y="146"/>
                    <a:pt x="69" y="146"/>
                  </a:cubicBezTo>
                  <a:cubicBezTo>
                    <a:pt x="69" y="146"/>
                    <a:pt x="70" y="146"/>
                    <a:pt x="70" y="147"/>
                  </a:cubicBezTo>
                  <a:cubicBezTo>
                    <a:pt x="70" y="147"/>
                    <a:pt x="70" y="147"/>
                    <a:pt x="70" y="147"/>
                  </a:cubicBezTo>
                  <a:cubicBezTo>
                    <a:pt x="65" y="164"/>
                    <a:pt x="55" y="179"/>
                    <a:pt x="42" y="188"/>
                  </a:cubicBezTo>
                  <a:cubicBezTo>
                    <a:pt x="41" y="187"/>
                    <a:pt x="41" y="187"/>
                    <a:pt x="41" y="187"/>
                  </a:cubicBezTo>
                  <a:cubicBezTo>
                    <a:pt x="53" y="187"/>
                    <a:pt x="64" y="183"/>
                    <a:pt x="72" y="176"/>
                  </a:cubicBezTo>
                  <a:cubicBezTo>
                    <a:pt x="80" y="169"/>
                    <a:pt x="86" y="159"/>
                    <a:pt x="87" y="149"/>
                  </a:cubicBezTo>
                  <a:cubicBezTo>
                    <a:pt x="87" y="149"/>
                    <a:pt x="88" y="148"/>
                    <a:pt x="88" y="149"/>
                  </a:cubicBezTo>
                  <a:cubicBezTo>
                    <a:pt x="88" y="149"/>
                    <a:pt x="88" y="149"/>
                    <a:pt x="88" y="149"/>
                  </a:cubicBezTo>
                  <a:cubicBezTo>
                    <a:pt x="102" y="151"/>
                    <a:pt x="115" y="149"/>
                    <a:pt x="127" y="145"/>
                  </a:cubicBezTo>
                  <a:cubicBezTo>
                    <a:pt x="138" y="141"/>
                    <a:pt x="148" y="134"/>
                    <a:pt x="156" y="127"/>
                  </a:cubicBezTo>
                  <a:cubicBezTo>
                    <a:pt x="160" y="123"/>
                    <a:pt x="164" y="119"/>
                    <a:pt x="167" y="114"/>
                  </a:cubicBezTo>
                  <a:cubicBezTo>
                    <a:pt x="170" y="110"/>
                    <a:pt x="172" y="106"/>
                    <a:pt x="174" y="101"/>
                  </a:cubicBezTo>
                  <a:cubicBezTo>
                    <a:pt x="177" y="92"/>
                    <a:pt x="178" y="83"/>
                    <a:pt x="177" y="75"/>
                  </a:cubicBezTo>
                  <a:cubicBezTo>
                    <a:pt x="176" y="59"/>
                    <a:pt x="170" y="47"/>
                    <a:pt x="166" y="40"/>
                  </a:cubicBezTo>
                  <a:cubicBezTo>
                    <a:pt x="165" y="38"/>
                    <a:pt x="164" y="36"/>
                    <a:pt x="163" y="35"/>
                  </a:cubicBezTo>
                  <a:cubicBezTo>
                    <a:pt x="162" y="33"/>
                    <a:pt x="161" y="32"/>
                    <a:pt x="160" y="31"/>
                  </a:cubicBezTo>
                  <a:cubicBezTo>
                    <a:pt x="159" y="30"/>
                    <a:pt x="159" y="30"/>
                    <a:pt x="159" y="29"/>
                  </a:cubicBezTo>
                  <a:cubicBezTo>
                    <a:pt x="158" y="29"/>
                    <a:pt x="158" y="29"/>
                    <a:pt x="158" y="28"/>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i$ľíďe">
              <a:extLst>
                <a:ext uri="{FF2B5EF4-FFF2-40B4-BE49-F238E27FC236}">
                  <a16:creationId xmlns:a16="http://schemas.microsoft.com/office/drawing/2014/main" id="{FFACBDDC-C3B2-595A-1A23-02A495C6CBA2}"/>
                </a:ext>
              </a:extLst>
            </p:cNvPr>
            <p:cNvSpPr/>
            <p:nvPr/>
          </p:nvSpPr>
          <p:spPr bwMode="auto">
            <a:xfrm>
              <a:off x="7165150" y="2090484"/>
              <a:ext cx="112713" cy="201613"/>
            </a:xfrm>
            <a:custGeom>
              <a:avLst/>
              <a:gdLst>
                <a:gd name="T0" fmla="*/ 71 w 71"/>
                <a:gd name="T1" fmla="*/ 37 h 127"/>
                <a:gd name="T2" fmla="*/ 52 w 71"/>
                <a:gd name="T3" fmla="*/ 19 h 127"/>
                <a:gd name="T4" fmla="*/ 35 w 71"/>
                <a:gd name="T5" fmla="*/ 0 h 127"/>
                <a:gd name="T6" fmla="*/ 19 w 71"/>
                <a:gd name="T7" fmla="*/ 19 h 127"/>
                <a:gd name="T8" fmla="*/ 0 w 71"/>
                <a:gd name="T9" fmla="*/ 37 h 127"/>
                <a:gd name="T10" fmla="*/ 17 w 71"/>
                <a:gd name="T11" fmla="*/ 37 h 127"/>
                <a:gd name="T12" fmla="*/ 17 w 71"/>
                <a:gd name="T13" fmla="*/ 127 h 127"/>
                <a:gd name="T14" fmla="*/ 54 w 71"/>
                <a:gd name="T15" fmla="*/ 127 h 127"/>
                <a:gd name="T16" fmla="*/ 54 w 71"/>
                <a:gd name="T17" fmla="*/ 37 h 127"/>
                <a:gd name="T18" fmla="*/ 71 w 71"/>
                <a:gd name="T19" fmla="*/ 3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 h="127">
                  <a:moveTo>
                    <a:pt x="71" y="37"/>
                  </a:moveTo>
                  <a:lnTo>
                    <a:pt x="52" y="19"/>
                  </a:lnTo>
                  <a:lnTo>
                    <a:pt x="35" y="0"/>
                  </a:lnTo>
                  <a:lnTo>
                    <a:pt x="19" y="19"/>
                  </a:lnTo>
                  <a:lnTo>
                    <a:pt x="0" y="37"/>
                  </a:lnTo>
                  <a:lnTo>
                    <a:pt x="17" y="37"/>
                  </a:lnTo>
                  <a:lnTo>
                    <a:pt x="17" y="127"/>
                  </a:lnTo>
                  <a:lnTo>
                    <a:pt x="54" y="127"/>
                  </a:lnTo>
                  <a:lnTo>
                    <a:pt x="54" y="37"/>
                  </a:lnTo>
                  <a:lnTo>
                    <a:pt x="71" y="37"/>
                  </a:ln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í$ľïdè">
              <a:extLst>
                <a:ext uri="{FF2B5EF4-FFF2-40B4-BE49-F238E27FC236}">
                  <a16:creationId xmlns:a16="http://schemas.microsoft.com/office/drawing/2014/main" id="{CF6EFAD6-599C-564B-2C7F-AD806BCDB2AA}"/>
                </a:ext>
              </a:extLst>
            </p:cNvPr>
            <p:cNvSpPr/>
            <p:nvPr/>
          </p:nvSpPr>
          <p:spPr bwMode="auto">
            <a:xfrm>
              <a:off x="6509512" y="2207959"/>
              <a:ext cx="339725" cy="565150"/>
            </a:xfrm>
            <a:custGeom>
              <a:avLst/>
              <a:gdLst>
                <a:gd name="T0" fmla="*/ 115 w 116"/>
                <a:gd name="T1" fmla="*/ 171 h 193"/>
                <a:gd name="T2" fmla="*/ 116 w 116"/>
                <a:gd name="T3" fmla="*/ 163 h 193"/>
                <a:gd name="T4" fmla="*/ 115 w 116"/>
                <a:gd name="T5" fmla="*/ 94 h 193"/>
                <a:gd name="T6" fmla="*/ 107 w 116"/>
                <a:gd name="T7" fmla="*/ 37 h 193"/>
                <a:gd name="T8" fmla="*/ 50 w 116"/>
                <a:gd name="T9" fmla="*/ 0 h 193"/>
                <a:gd name="T10" fmla="*/ 6 w 116"/>
                <a:gd name="T11" fmla="*/ 13 h 193"/>
                <a:gd name="T12" fmla="*/ 5 w 116"/>
                <a:gd name="T13" fmla="*/ 28 h 193"/>
                <a:gd name="T14" fmla="*/ 10 w 116"/>
                <a:gd name="T15" fmla="*/ 129 h 193"/>
                <a:gd name="T16" fmla="*/ 45 w 116"/>
                <a:gd name="T17" fmla="*/ 154 h 193"/>
                <a:gd name="T18" fmla="*/ 52 w 116"/>
                <a:gd name="T19" fmla="*/ 192 h 193"/>
                <a:gd name="T20" fmla="*/ 115 w 116"/>
                <a:gd name="T21" fmla="*/ 17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193">
                  <a:moveTo>
                    <a:pt x="115" y="171"/>
                  </a:moveTo>
                  <a:cubicBezTo>
                    <a:pt x="116" y="163"/>
                    <a:pt x="116" y="163"/>
                    <a:pt x="116" y="163"/>
                  </a:cubicBezTo>
                  <a:cubicBezTo>
                    <a:pt x="115" y="94"/>
                    <a:pt x="115" y="94"/>
                    <a:pt x="115" y="94"/>
                  </a:cubicBezTo>
                  <a:cubicBezTo>
                    <a:pt x="107" y="37"/>
                    <a:pt x="107" y="37"/>
                    <a:pt x="107" y="37"/>
                  </a:cubicBezTo>
                  <a:cubicBezTo>
                    <a:pt x="50" y="0"/>
                    <a:pt x="50" y="0"/>
                    <a:pt x="50" y="0"/>
                  </a:cubicBezTo>
                  <a:cubicBezTo>
                    <a:pt x="6" y="13"/>
                    <a:pt x="6" y="13"/>
                    <a:pt x="6" y="13"/>
                  </a:cubicBezTo>
                  <a:cubicBezTo>
                    <a:pt x="6" y="12"/>
                    <a:pt x="6" y="17"/>
                    <a:pt x="5" y="28"/>
                  </a:cubicBezTo>
                  <a:cubicBezTo>
                    <a:pt x="5" y="28"/>
                    <a:pt x="0" y="112"/>
                    <a:pt x="10" y="129"/>
                  </a:cubicBezTo>
                  <a:cubicBezTo>
                    <a:pt x="19" y="144"/>
                    <a:pt x="41" y="145"/>
                    <a:pt x="45" y="154"/>
                  </a:cubicBezTo>
                  <a:cubicBezTo>
                    <a:pt x="51" y="165"/>
                    <a:pt x="52" y="192"/>
                    <a:pt x="52" y="192"/>
                  </a:cubicBezTo>
                  <a:cubicBezTo>
                    <a:pt x="52" y="192"/>
                    <a:pt x="105" y="193"/>
                    <a:pt x="115" y="1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ïṥliḋé">
              <a:extLst>
                <a:ext uri="{FF2B5EF4-FFF2-40B4-BE49-F238E27FC236}">
                  <a16:creationId xmlns:a16="http://schemas.microsoft.com/office/drawing/2014/main" id="{D4B19FBF-DF0D-3D68-A60B-8DE63AA239B8}"/>
                </a:ext>
              </a:extLst>
            </p:cNvPr>
            <p:cNvSpPr/>
            <p:nvPr/>
          </p:nvSpPr>
          <p:spPr bwMode="auto">
            <a:xfrm>
              <a:off x="6515862" y="2204784"/>
              <a:ext cx="333375" cy="568325"/>
            </a:xfrm>
            <a:custGeom>
              <a:avLst/>
              <a:gdLst>
                <a:gd name="T0" fmla="*/ 111 w 114"/>
                <a:gd name="T1" fmla="*/ 176 h 194"/>
                <a:gd name="T2" fmla="*/ 50 w 114"/>
                <a:gd name="T3" fmla="*/ 194 h 194"/>
                <a:gd name="T4" fmla="*/ 50 w 114"/>
                <a:gd name="T5" fmla="*/ 193 h 194"/>
                <a:gd name="T6" fmla="*/ 43 w 114"/>
                <a:gd name="T7" fmla="*/ 156 h 194"/>
                <a:gd name="T8" fmla="*/ 26 w 114"/>
                <a:gd name="T9" fmla="*/ 145 h 194"/>
                <a:gd name="T10" fmla="*/ 6 w 114"/>
                <a:gd name="T11" fmla="*/ 129 h 194"/>
                <a:gd name="T12" fmla="*/ 4 w 114"/>
                <a:gd name="T13" fmla="*/ 120 h 194"/>
                <a:gd name="T14" fmla="*/ 1 w 114"/>
                <a:gd name="T15" fmla="*/ 82 h 194"/>
                <a:gd name="T16" fmla="*/ 2 w 114"/>
                <a:gd name="T17" fmla="*/ 29 h 194"/>
                <a:gd name="T18" fmla="*/ 3 w 114"/>
                <a:gd name="T19" fmla="*/ 19 h 194"/>
                <a:gd name="T20" fmla="*/ 3 w 114"/>
                <a:gd name="T21" fmla="*/ 15 h 194"/>
                <a:gd name="T22" fmla="*/ 3 w 114"/>
                <a:gd name="T23" fmla="*/ 14 h 194"/>
                <a:gd name="T24" fmla="*/ 3 w 114"/>
                <a:gd name="T25" fmla="*/ 14 h 194"/>
                <a:gd name="T26" fmla="*/ 4 w 114"/>
                <a:gd name="T27" fmla="*/ 15 h 194"/>
                <a:gd name="T28" fmla="*/ 5 w 114"/>
                <a:gd name="T29" fmla="*/ 14 h 194"/>
                <a:gd name="T30" fmla="*/ 5 w 114"/>
                <a:gd name="T31" fmla="*/ 14 h 194"/>
                <a:gd name="T32" fmla="*/ 48 w 114"/>
                <a:gd name="T33" fmla="*/ 0 h 194"/>
                <a:gd name="T34" fmla="*/ 106 w 114"/>
                <a:gd name="T35" fmla="*/ 37 h 194"/>
                <a:gd name="T36" fmla="*/ 113 w 114"/>
                <a:gd name="T37" fmla="*/ 95 h 194"/>
                <a:gd name="T38" fmla="*/ 114 w 114"/>
                <a:gd name="T39" fmla="*/ 164 h 194"/>
                <a:gd name="T40" fmla="*/ 114 w 114"/>
                <a:gd name="T41" fmla="*/ 170 h 194"/>
                <a:gd name="T42" fmla="*/ 114 w 114"/>
                <a:gd name="T43" fmla="*/ 170 h 194"/>
                <a:gd name="T44" fmla="*/ 114 w 114"/>
                <a:gd name="T45" fmla="*/ 164 h 194"/>
                <a:gd name="T46" fmla="*/ 112 w 114"/>
                <a:gd name="T47" fmla="*/ 95 h 194"/>
                <a:gd name="T48" fmla="*/ 105 w 114"/>
                <a:gd name="T49" fmla="*/ 39 h 194"/>
                <a:gd name="T50" fmla="*/ 48 w 114"/>
                <a:gd name="T51" fmla="*/ 2 h 194"/>
                <a:gd name="T52" fmla="*/ 3 w 114"/>
                <a:gd name="T53" fmla="*/ 14 h 194"/>
                <a:gd name="T54" fmla="*/ 3 w 114"/>
                <a:gd name="T55" fmla="*/ 13 h 194"/>
                <a:gd name="T56" fmla="*/ 3 w 114"/>
                <a:gd name="T57" fmla="*/ 13 h 194"/>
                <a:gd name="T58" fmla="*/ 5 w 114"/>
                <a:gd name="T59" fmla="*/ 14 h 194"/>
                <a:gd name="T60" fmla="*/ 5 w 114"/>
                <a:gd name="T61" fmla="*/ 14 h 194"/>
                <a:gd name="T62" fmla="*/ 5 w 114"/>
                <a:gd name="T63" fmla="*/ 14 h 194"/>
                <a:gd name="T64" fmla="*/ 5 w 114"/>
                <a:gd name="T65" fmla="*/ 16 h 194"/>
                <a:gd name="T66" fmla="*/ 4 w 114"/>
                <a:gd name="T67" fmla="*/ 24 h 194"/>
                <a:gd name="T68" fmla="*/ 4 w 114"/>
                <a:gd name="T69" fmla="*/ 29 h 194"/>
                <a:gd name="T70" fmla="*/ 4 w 114"/>
                <a:gd name="T71" fmla="*/ 107 h 194"/>
                <a:gd name="T72" fmla="*/ 7 w 114"/>
                <a:gd name="T73" fmla="*/ 125 h 194"/>
                <a:gd name="T74" fmla="*/ 9 w 114"/>
                <a:gd name="T75" fmla="*/ 130 h 194"/>
                <a:gd name="T76" fmla="*/ 37 w 114"/>
                <a:gd name="T77" fmla="*/ 148 h 194"/>
                <a:gd name="T78" fmla="*/ 45 w 114"/>
                <a:gd name="T79" fmla="*/ 156 h 194"/>
                <a:gd name="T80" fmla="*/ 51 w 114"/>
                <a:gd name="T81" fmla="*/ 193 h 194"/>
                <a:gd name="T82" fmla="*/ 100 w 114"/>
                <a:gd name="T83" fmla="*/ 184 h 194"/>
                <a:gd name="T84" fmla="*/ 113 w 114"/>
                <a:gd name="T85" fmla="*/ 172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4" h="194">
                  <a:moveTo>
                    <a:pt x="113" y="172"/>
                  </a:moveTo>
                  <a:cubicBezTo>
                    <a:pt x="113" y="172"/>
                    <a:pt x="113" y="173"/>
                    <a:pt x="111" y="176"/>
                  </a:cubicBezTo>
                  <a:cubicBezTo>
                    <a:pt x="109" y="178"/>
                    <a:pt x="106" y="182"/>
                    <a:pt x="100" y="184"/>
                  </a:cubicBezTo>
                  <a:cubicBezTo>
                    <a:pt x="90" y="190"/>
                    <a:pt x="72" y="194"/>
                    <a:pt x="50" y="194"/>
                  </a:cubicBezTo>
                  <a:cubicBezTo>
                    <a:pt x="50" y="194"/>
                    <a:pt x="50" y="194"/>
                    <a:pt x="50" y="193"/>
                  </a:cubicBezTo>
                  <a:cubicBezTo>
                    <a:pt x="50" y="193"/>
                    <a:pt x="50" y="193"/>
                    <a:pt x="50" y="193"/>
                  </a:cubicBezTo>
                  <a:cubicBezTo>
                    <a:pt x="49" y="187"/>
                    <a:pt x="49" y="181"/>
                    <a:pt x="48" y="175"/>
                  </a:cubicBezTo>
                  <a:cubicBezTo>
                    <a:pt x="47" y="169"/>
                    <a:pt x="46" y="162"/>
                    <a:pt x="43" y="156"/>
                  </a:cubicBezTo>
                  <a:cubicBezTo>
                    <a:pt x="42" y="153"/>
                    <a:pt x="39" y="151"/>
                    <a:pt x="36" y="150"/>
                  </a:cubicBezTo>
                  <a:cubicBezTo>
                    <a:pt x="33" y="148"/>
                    <a:pt x="29" y="147"/>
                    <a:pt x="26" y="145"/>
                  </a:cubicBezTo>
                  <a:cubicBezTo>
                    <a:pt x="19" y="142"/>
                    <a:pt x="12" y="138"/>
                    <a:pt x="8" y="131"/>
                  </a:cubicBezTo>
                  <a:cubicBezTo>
                    <a:pt x="7" y="130"/>
                    <a:pt x="7" y="130"/>
                    <a:pt x="6" y="129"/>
                  </a:cubicBezTo>
                  <a:cubicBezTo>
                    <a:pt x="6" y="128"/>
                    <a:pt x="5" y="127"/>
                    <a:pt x="5" y="126"/>
                  </a:cubicBezTo>
                  <a:cubicBezTo>
                    <a:pt x="5" y="124"/>
                    <a:pt x="4" y="122"/>
                    <a:pt x="4" y="120"/>
                  </a:cubicBezTo>
                  <a:cubicBezTo>
                    <a:pt x="3" y="116"/>
                    <a:pt x="2" y="112"/>
                    <a:pt x="2" y="108"/>
                  </a:cubicBezTo>
                  <a:cubicBezTo>
                    <a:pt x="1" y="99"/>
                    <a:pt x="1" y="91"/>
                    <a:pt x="1" y="82"/>
                  </a:cubicBezTo>
                  <a:cubicBezTo>
                    <a:pt x="0" y="65"/>
                    <a:pt x="1" y="47"/>
                    <a:pt x="2" y="29"/>
                  </a:cubicBezTo>
                  <a:cubicBezTo>
                    <a:pt x="2" y="29"/>
                    <a:pt x="2" y="29"/>
                    <a:pt x="2" y="29"/>
                  </a:cubicBezTo>
                  <a:cubicBezTo>
                    <a:pt x="2" y="28"/>
                    <a:pt x="2" y="26"/>
                    <a:pt x="2" y="24"/>
                  </a:cubicBezTo>
                  <a:cubicBezTo>
                    <a:pt x="3" y="19"/>
                    <a:pt x="3" y="19"/>
                    <a:pt x="3" y="19"/>
                  </a:cubicBezTo>
                  <a:cubicBezTo>
                    <a:pt x="3" y="16"/>
                    <a:pt x="3" y="16"/>
                    <a:pt x="3" y="16"/>
                  </a:cubicBezTo>
                  <a:cubicBezTo>
                    <a:pt x="3" y="15"/>
                    <a:pt x="3" y="15"/>
                    <a:pt x="3" y="15"/>
                  </a:cubicBezTo>
                  <a:cubicBezTo>
                    <a:pt x="3" y="14"/>
                    <a:pt x="3" y="14"/>
                    <a:pt x="3" y="14"/>
                  </a:cubicBezTo>
                  <a:cubicBezTo>
                    <a:pt x="3" y="14"/>
                    <a:pt x="3" y="14"/>
                    <a:pt x="3" y="14"/>
                  </a:cubicBezTo>
                  <a:cubicBezTo>
                    <a:pt x="3" y="14"/>
                    <a:pt x="3" y="14"/>
                    <a:pt x="3" y="14"/>
                  </a:cubicBezTo>
                  <a:cubicBezTo>
                    <a:pt x="3" y="14"/>
                    <a:pt x="3" y="14"/>
                    <a:pt x="3" y="14"/>
                  </a:cubicBezTo>
                  <a:cubicBezTo>
                    <a:pt x="3" y="14"/>
                    <a:pt x="3" y="14"/>
                    <a:pt x="3" y="14"/>
                  </a:cubicBezTo>
                  <a:cubicBezTo>
                    <a:pt x="3" y="14"/>
                    <a:pt x="3" y="14"/>
                    <a:pt x="4" y="15"/>
                  </a:cubicBezTo>
                  <a:cubicBezTo>
                    <a:pt x="5" y="15"/>
                    <a:pt x="5" y="14"/>
                    <a:pt x="5" y="14"/>
                  </a:cubicBezTo>
                  <a:cubicBezTo>
                    <a:pt x="5" y="14"/>
                    <a:pt x="5" y="14"/>
                    <a:pt x="5" y="14"/>
                  </a:cubicBezTo>
                  <a:cubicBezTo>
                    <a:pt x="5" y="14"/>
                    <a:pt x="5" y="14"/>
                    <a:pt x="5" y="14"/>
                  </a:cubicBezTo>
                  <a:cubicBezTo>
                    <a:pt x="5" y="14"/>
                    <a:pt x="5" y="14"/>
                    <a:pt x="5" y="14"/>
                  </a:cubicBezTo>
                  <a:cubicBezTo>
                    <a:pt x="4" y="13"/>
                    <a:pt x="4" y="13"/>
                    <a:pt x="4" y="13"/>
                  </a:cubicBezTo>
                  <a:cubicBezTo>
                    <a:pt x="19" y="8"/>
                    <a:pt x="34" y="4"/>
                    <a:pt x="48" y="0"/>
                  </a:cubicBezTo>
                  <a:cubicBezTo>
                    <a:pt x="48" y="0"/>
                    <a:pt x="48" y="0"/>
                    <a:pt x="49" y="0"/>
                  </a:cubicBezTo>
                  <a:cubicBezTo>
                    <a:pt x="69" y="13"/>
                    <a:pt x="88" y="26"/>
                    <a:pt x="106" y="37"/>
                  </a:cubicBezTo>
                  <a:cubicBezTo>
                    <a:pt x="106" y="37"/>
                    <a:pt x="106" y="37"/>
                    <a:pt x="106" y="38"/>
                  </a:cubicBezTo>
                  <a:cubicBezTo>
                    <a:pt x="109" y="59"/>
                    <a:pt x="111" y="78"/>
                    <a:pt x="113" y="95"/>
                  </a:cubicBezTo>
                  <a:cubicBezTo>
                    <a:pt x="113" y="95"/>
                    <a:pt x="113" y="95"/>
                    <a:pt x="113" y="95"/>
                  </a:cubicBezTo>
                  <a:cubicBezTo>
                    <a:pt x="114" y="129"/>
                    <a:pt x="114" y="153"/>
                    <a:pt x="114" y="164"/>
                  </a:cubicBezTo>
                  <a:cubicBezTo>
                    <a:pt x="114" y="164"/>
                    <a:pt x="114" y="164"/>
                    <a:pt x="114" y="164"/>
                  </a:cubicBezTo>
                  <a:cubicBezTo>
                    <a:pt x="114" y="167"/>
                    <a:pt x="114" y="168"/>
                    <a:pt x="114" y="170"/>
                  </a:cubicBezTo>
                  <a:cubicBezTo>
                    <a:pt x="114" y="171"/>
                    <a:pt x="114" y="172"/>
                    <a:pt x="113" y="172"/>
                  </a:cubicBezTo>
                  <a:cubicBezTo>
                    <a:pt x="113" y="172"/>
                    <a:pt x="113" y="171"/>
                    <a:pt x="114" y="170"/>
                  </a:cubicBezTo>
                  <a:cubicBezTo>
                    <a:pt x="114" y="168"/>
                    <a:pt x="114" y="167"/>
                    <a:pt x="114" y="164"/>
                  </a:cubicBezTo>
                  <a:cubicBezTo>
                    <a:pt x="114" y="164"/>
                    <a:pt x="114" y="164"/>
                    <a:pt x="114" y="164"/>
                  </a:cubicBezTo>
                  <a:cubicBezTo>
                    <a:pt x="113" y="153"/>
                    <a:pt x="113" y="129"/>
                    <a:pt x="112" y="95"/>
                  </a:cubicBezTo>
                  <a:cubicBezTo>
                    <a:pt x="112" y="95"/>
                    <a:pt x="112" y="95"/>
                    <a:pt x="112" y="95"/>
                  </a:cubicBezTo>
                  <a:cubicBezTo>
                    <a:pt x="110" y="78"/>
                    <a:pt x="107" y="59"/>
                    <a:pt x="104" y="38"/>
                  </a:cubicBezTo>
                  <a:cubicBezTo>
                    <a:pt x="105" y="39"/>
                    <a:pt x="105" y="39"/>
                    <a:pt x="105" y="39"/>
                  </a:cubicBezTo>
                  <a:cubicBezTo>
                    <a:pt x="87" y="27"/>
                    <a:pt x="68" y="15"/>
                    <a:pt x="48" y="2"/>
                  </a:cubicBezTo>
                  <a:cubicBezTo>
                    <a:pt x="48" y="2"/>
                    <a:pt x="48" y="2"/>
                    <a:pt x="48" y="2"/>
                  </a:cubicBezTo>
                  <a:cubicBezTo>
                    <a:pt x="34" y="6"/>
                    <a:pt x="19" y="10"/>
                    <a:pt x="4" y="15"/>
                  </a:cubicBezTo>
                  <a:cubicBezTo>
                    <a:pt x="4" y="15"/>
                    <a:pt x="3" y="15"/>
                    <a:pt x="3" y="14"/>
                  </a:cubicBezTo>
                  <a:cubicBezTo>
                    <a:pt x="3" y="14"/>
                    <a:pt x="3" y="14"/>
                    <a:pt x="3" y="14"/>
                  </a:cubicBezTo>
                  <a:cubicBezTo>
                    <a:pt x="3" y="14"/>
                    <a:pt x="3" y="14"/>
                    <a:pt x="3" y="13"/>
                  </a:cubicBezTo>
                  <a:cubicBezTo>
                    <a:pt x="3" y="13"/>
                    <a:pt x="3" y="13"/>
                    <a:pt x="3" y="13"/>
                  </a:cubicBezTo>
                  <a:cubicBezTo>
                    <a:pt x="3" y="13"/>
                    <a:pt x="3" y="13"/>
                    <a:pt x="3" y="13"/>
                  </a:cubicBezTo>
                  <a:cubicBezTo>
                    <a:pt x="3" y="13"/>
                    <a:pt x="3" y="13"/>
                    <a:pt x="4" y="13"/>
                  </a:cubicBezTo>
                  <a:cubicBezTo>
                    <a:pt x="5" y="13"/>
                    <a:pt x="5" y="13"/>
                    <a:pt x="5" y="14"/>
                  </a:cubicBezTo>
                  <a:cubicBezTo>
                    <a:pt x="5" y="14"/>
                    <a:pt x="5" y="14"/>
                    <a:pt x="5" y="14"/>
                  </a:cubicBezTo>
                  <a:cubicBezTo>
                    <a:pt x="5" y="14"/>
                    <a:pt x="5" y="14"/>
                    <a:pt x="5" y="14"/>
                  </a:cubicBezTo>
                  <a:cubicBezTo>
                    <a:pt x="5" y="14"/>
                    <a:pt x="5" y="14"/>
                    <a:pt x="5" y="14"/>
                  </a:cubicBezTo>
                  <a:cubicBezTo>
                    <a:pt x="5" y="14"/>
                    <a:pt x="5" y="14"/>
                    <a:pt x="5" y="14"/>
                  </a:cubicBezTo>
                  <a:cubicBezTo>
                    <a:pt x="5" y="15"/>
                    <a:pt x="5" y="15"/>
                    <a:pt x="5" y="15"/>
                  </a:cubicBezTo>
                  <a:cubicBezTo>
                    <a:pt x="5" y="16"/>
                    <a:pt x="5" y="16"/>
                    <a:pt x="5" y="16"/>
                  </a:cubicBezTo>
                  <a:cubicBezTo>
                    <a:pt x="5" y="19"/>
                    <a:pt x="5" y="19"/>
                    <a:pt x="5" y="19"/>
                  </a:cubicBezTo>
                  <a:cubicBezTo>
                    <a:pt x="4" y="24"/>
                    <a:pt x="4" y="24"/>
                    <a:pt x="4" y="24"/>
                  </a:cubicBezTo>
                  <a:cubicBezTo>
                    <a:pt x="4" y="26"/>
                    <a:pt x="4" y="28"/>
                    <a:pt x="4" y="29"/>
                  </a:cubicBezTo>
                  <a:cubicBezTo>
                    <a:pt x="4" y="29"/>
                    <a:pt x="4" y="29"/>
                    <a:pt x="4" y="29"/>
                  </a:cubicBezTo>
                  <a:cubicBezTo>
                    <a:pt x="3" y="47"/>
                    <a:pt x="2" y="65"/>
                    <a:pt x="3" y="82"/>
                  </a:cubicBezTo>
                  <a:cubicBezTo>
                    <a:pt x="3" y="91"/>
                    <a:pt x="3" y="99"/>
                    <a:pt x="4" y="107"/>
                  </a:cubicBezTo>
                  <a:cubicBezTo>
                    <a:pt x="4" y="112"/>
                    <a:pt x="5" y="116"/>
                    <a:pt x="6" y="119"/>
                  </a:cubicBezTo>
                  <a:cubicBezTo>
                    <a:pt x="6" y="121"/>
                    <a:pt x="7" y="123"/>
                    <a:pt x="7" y="125"/>
                  </a:cubicBezTo>
                  <a:cubicBezTo>
                    <a:pt x="7" y="126"/>
                    <a:pt x="8" y="127"/>
                    <a:pt x="8" y="128"/>
                  </a:cubicBezTo>
                  <a:cubicBezTo>
                    <a:pt x="8" y="129"/>
                    <a:pt x="9" y="129"/>
                    <a:pt x="9" y="130"/>
                  </a:cubicBezTo>
                  <a:cubicBezTo>
                    <a:pt x="14" y="137"/>
                    <a:pt x="20" y="140"/>
                    <a:pt x="27" y="144"/>
                  </a:cubicBezTo>
                  <a:cubicBezTo>
                    <a:pt x="30" y="145"/>
                    <a:pt x="34" y="147"/>
                    <a:pt x="37" y="148"/>
                  </a:cubicBezTo>
                  <a:cubicBezTo>
                    <a:pt x="38" y="149"/>
                    <a:pt x="40" y="150"/>
                    <a:pt x="41" y="151"/>
                  </a:cubicBezTo>
                  <a:cubicBezTo>
                    <a:pt x="43" y="152"/>
                    <a:pt x="44" y="154"/>
                    <a:pt x="45" y="156"/>
                  </a:cubicBezTo>
                  <a:cubicBezTo>
                    <a:pt x="48" y="162"/>
                    <a:pt x="49" y="169"/>
                    <a:pt x="49" y="175"/>
                  </a:cubicBezTo>
                  <a:cubicBezTo>
                    <a:pt x="50" y="181"/>
                    <a:pt x="51" y="187"/>
                    <a:pt x="51" y="193"/>
                  </a:cubicBezTo>
                  <a:cubicBezTo>
                    <a:pt x="50" y="192"/>
                    <a:pt x="50" y="192"/>
                    <a:pt x="50" y="192"/>
                  </a:cubicBezTo>
                  <a:cubicBezTo>
                    <a:pt x="72" y="193"/>
                    <a:pt x="89" y="189"/>
                    <a:pt x="100" y="184"/>
                  </a:cubicBezTo>
                  <a:cubicBezTo>
                    <a:pt x="105" y="181"/>
                    <a:pt x="109" y="178"/>
                    <a:pt x="111" y="176"/>
                  </a:cubicBezTo>
                  <a:cubicBezTo>
                    <a:pt x="113" y="173"/>
                    <a:pt x="113" y="172"/>
                    <a:pt x="113" y="172"/>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ísḷïḍè">
              <a:extLst>
                <a:ext uri="{FF2B5EF4-FFF2-40B4-BE49-F238E27FC236}">
                  <a16:creationId xmlns:a16="http://schemas.microsoft.com/office/drawing/2014/main" id="{2BBCED36-B06C-D0DE-6824-EDC6FDCBDC58}"/>
                </a:ext>
              </a:extLst>
            </p:cNvPr>
            <p:cNvSpPr/>
            <p:nvPr/>
          </p:nvSpPr>
          <p:spPr bwMode="auto">
            <a:xfrm>
              <a:off x="6547612" y="2377822"/>
              <a:ext cx="23813" cy="41275"/>
            </a:xfrm>
            <a:custGeom>
              <a:avLst/>
              <a:gdLst>
                <a:gd name="T0" fmla="*/ 7 w 8"/>
                <a:gd name="T1" fmla="*/ 7 h 14"/>
                <a:gd name="T2" fmla="*/ 6 w 8"/>
                <a:gd name="T3" fmla="*/ 1 h 14"/>
                <a:gd name="T4" fmla="*/ 6 w 8"/>
                <a:gd name="T5" fmla="*/ 1 h 14"/>
                <a:gd name="T6" fmla="*/ 2 w 8"/>
                <a:gd name="T7" fmla="*/ 1 h 14"/>
                <a:gd name="T8" fmla="*/ 0 w 8"/>
                <a:gd name="T9" fmla="*/ 4 h 14"/>
                <a:gd name="T10" fmla="*/ 1 w 8"/>
                <a:gd name="T11" fmla="*/ 10 h 14"/>
                <a:gd name="T12" fmla="*/ 2 w 8"/>
                <a:gd name="T13" fmla="*/ 12 h 14"/>
                <a:gd name="T14" fmla="*/ 4 w 8"/>
                <a:gd name="T15" fmla="*/ 14 h 14"/>
                <a:gd name="T16" fmla="*/ 7 w 8"/>
                <a:gd name="T17" fmla="*/ 11 h 14"/>
                <a:gd name="T18" fmla="*/ 7 w 8"/>
                <a:gd name="T19"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14">
                  <a:moveTo>
                    <a:pt x="7" y="7"/>
                  </a:moveTo>
                  <a:cubicBezTo>
                    <a:pt x="7" y="5"/>
                    <a:pt x="7" y="3"/>
                    <a:pt x="6" y="1"/>
                  </a:cubicBezTo>
                  <a:cubicBezTo>
                    <a:pt x="6" y="1"/>
                    <a:pt x="6" y="1"/>
                    <a:pt x="6" y="1"/>
                  </a:cubicBezTo>
                  <a:cubicBezTo>
                    <a:pt x="4" y="0"/>
                    <a:pt x="3" y="0"/>
                    <a:pt x="2" y="1"/>
                  </a:cubicBezTo>
                  <a:cubicBezTo>
                    <a:pt x="1" y="2"/>
                    <a:pt x="0" y="3"/>
                    <a:pt x="0" y="4"/>
                  </a:cubicBezTo>
                  <a:cubicBezTo>
                    <a:pt x="0" y="6"/>
                    <a:pt x="0" y="8"/>
                    <a:pt x="1" y="10"/>
                  </a:cubicBezTo>
                  <a:cubicBezTo>
                    <a:pt x="1" y="11"/>
                    <a:pt x="1" y="12"/>
                    <a:pt x="2" y="12"/>
                  </a:cubicBezTo>
                  <a:cubicBezTo>
                    <a:pt x="2" y="13"/>
                    <a:pt x="3" y="14"/>
                    <a:pt x="4" y="14"/>
                  </a:cubicBezTo>
                  <a:cubicBezTo>
                    <a:pt x="5" y="14"/>
                    <a:pt x="7" y="13"/>
                    <a:pt x="7" y="11"/>
                  </a:cubicBezTo>
                  <a:cubicBezTo>
                    <a:pt x="8" y="10"/>
                    <a:pt x="8" y="8"/>
                    <a:pt x="7" y="7"/>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ïšľíďè">
              <a:extLst>
                <a:ext uri="{FF2B5EF4-FFF2-40B4-BE49-F238E27FC236}">
                  <a16:creationId xmlns:a16="http://schemas.microsoft.com/office/drawing/2014/main" id="{0A8EDE06-76BE-1E62-ACF8-7186E74E9167}"/>
                </a:ext>
              </a:extLst>
            </p:cNvPr>
            <p:cNvSpPr/>
            <p:nvPr/>
          </p:nvSpPr>
          <p:spPr bwMode="auto">
            <a:xfrm>
              <a:off x="6665087" y="2377822"/>
              <a:ext cx="23813" cy="41275"/>
            </a:xfrm>
            <a:custGeom>
              <a:avLst/>
              <a:gdLst>
                <a:gd name="T0" fmla="*/ 8 w 8"/>
                <a:gd name="T1" fmla="*/ 7 h 14"/>
                <a:gd name="T2" fmla="*/ 7 w 8"/>
                <a:gd name="T3" fmla="*/ 1 h 14"/>
                <a:gd name="T4" fmla="*/ 6 w 8"/>
                <a:gd name="T5" fmla="*/ 1 h 14"/>
                <a:gd name="T6" fmla="*/ 2 w 8"/>
                <a:gd name="T7" fmla="*/ 1 h 14"/>
                <a:gd name="T8" fmla="*/ 1 w 8"/>
                <a:gd name="T9" fmla="*/ 4 h 14"/>
                <a:gd name="T10" fmla="*/ 1 w 8"/>
                <a:gd name="T11" fmla="*/ 10 h 14"/>
                <a:gd name="T12" fmla="*/ 2 w 8"/>
                <a:gd name="T13" fmla="*/ 12 h 14"/>
                <a:gd name="T14" fmla="*/ 5 w 8"/>
                <a:gd name="T15" fmla="*/ 14 h 14"/>
                <a:gd name="T16" fmla="*/ 8 w 8"/>
                <a:gd name="T17" fmla="*/ 11 h 14"/>
                <a:gd name="T18" fmla="*/ 8 w 8"/>
                <a:gd name="T19"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14">
                  <a:moveTo>
                    <a:pt x="8" y="7"/>
                  </a:moveTo>
                  <a:cubicBezTo>
                    <a:pt x="8" y="5"/>
                    <a:pt x="8" y="3"/>
                    <a:pt x="7" y="1"/>
                  </a:cubicBezTo>
                  <a:cubicBezTo>
                    <a:pt x="6" y="1"/>
                    <a:pt x="6" y="1"/>
                    <a:pt x="6" y="1"/>
                  </a:cubicBezTo>
                  <a:cubicBezTo>
                    <a:pt x="5" y="0"/>
                    <a:pt x="3" y="0"/>
                    <a:pt x="2" y="1"/>
                  </a:cubicBezTo>
                  <a:cubicBezTo>
                    <a:pt x="1" y="2"/>
                    <a:pt x="1" y="3"/>
                    <a:pt x="1" y="4"/>
                  </a:cubicBezTo>
                  <a:cubicBezTo>
                    <a:pt x="0" y="6"/>
                    <a:pt x="1" y="8"/>
                    <a:pt x="1" y="10"/>
                  </a:cubicBezTo>
                  <a:cubicBezTo>
                    <a:pt x="2" y="10"/>
                    <a:pt x="2" y="11"/>
                    <a:pt x="2" y="12"/>
                  </a:cubicBezTo>
                  <a:cubicBezTo>
                    <a:pt x="3" y="13"/>
                    <a:pt x="4" y="14"/>
                    <a:pt x="5" y="14"/>
                  </a:cubicBezTo>
                  <a:cubicBezTo>
                    <a:pt x="6" y="14"/>
                    <a:pt x="7" y="13"/>
                    <a:pt x="8" y="11"/>
                  </a:cubicBezTo>
                  <a:cubicBezTo>
                    <a:pt x="8" y="10"/>
                    <a:pt x="8" y="8"/>
                    <a:pt x="8" y="7"/>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îSḻíḍé">
              <a:extLst>
                <a:ext uri="{FF2B5EF4-FFF2-40B4-BE49-F238E27FC236}">
                  <a16:creationId xmlns:a16="http://schemas.microsoft.com/office/drawing/2014/main" id="{244461F8-5AF4-0310-C442-3E3C6CDCDD89}"/>
                </a:ext>
              </a:extLst>
            </p:cNvPr>
            <p:cNvSpPr/>
            <p:nvPr/>
          </p:nvSpPr>
          <p:spPr bwMode="auto">
            <a:xfrm>
              <a:off x="6609525" y="2600072"/>
              <a:ext cx="146050" cy="69850"/>
            </a:xfrm>
            <a:custGeom>
              <a:avLst/>
              <a:gdLst>
                <a:gd name="T0" fmla="*/ 0 w 50"/>
                <a:gd name="T1" fmla="*/ 12 h 24"/>
                <a:gd name="T2" fmla="*/ 7 w 50"/>
                <a:gd name="T3" fmla="*/ 15 h 24"/>
                <a:gd name="T4" fmla="*/ 13 w 50"/>
                <a:gd name="T5" fmla="*/ 24 h 24"/>
                <a:gd name="T6" fmla="*/ 50 w 50"/>
                <a:gd name="T7" fmla="*/ 0 h 24"/>
                <a:gd name="T8" fmla="*/ 0 w 50"/>
                <a:gd name="T9" fmla="*/ 12 h 24"/>
              </a:gdLst>
              <a:ahLst/>
              <a:cxnLst>
                <a:cxn ang="0">
                  <a:pos x="T0" y="T1"/>
                </a:cxn>
                <a:cxn ang="0">
                  <a:pos x="T2" y="T3"/>
                </a:cxn>
                <a:cxn ang="0">
                  <a:pos x="T4" y="T5"/>
                </a:cxn>
                <a:cxn ang="0">
                  <a:pos x="T6" y="T7"/>
                </a:cxn>
                <a:cxn ang="0">
                  <a:pos x="T8" y="T9"/>
                </a:cxn>
              </a:cxnLst>
              <a:rect l="0" t="0" r="r" b="b"/>
              <a:pathLst>
                <a:path w="50" h="24">
                  <a:moveTo>
                    <a:pt x="0" y="12"/>
                  </a:moveTo>
                  <a:cubicBezTo>
                    <a:pt x="7" y="15"/>
                    <a:pt x="7" y="15"/>
                    <a:pt x="7" y="15"/>
                  </a:cubicBezTo>
                  <a:cubicBezTo>
                    <a:pt x="9" y="17"/>
                    <a:pt x="13" y="21"/>
                    <a:pt x="13" y="24"/>
                  </a:cubicBezTo>
                  <a:cubicBezTo>
                    <a:pt x="28" y="21"/>
                    <a:pt x="39" y="12"/>
                    <a:pt x="50" y="0"/>
                  </a:cubicBezTo>
                  <a:cubicBezTo>
                    <a:pt x="32" y="7"/>
                    <a:pt x="19" y="11"/>
                    <a:pt x="0" y="12"/>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îśļîďè">
              <a:extLst>
                <a:ext uri="{FF2B5EF4-FFF2-40B4-BE49-F238E27FC236}">
                  <a16:creationId xmlns:a16="http://schemas.microsoft.com/office/drawing/2014/main" id="{D7D08B12-A13F-C9D7-2CFD-0B97EB34E5AB}"/>
                </a:ext>
              </a:extLst>
            </p:cNvPr>
            <p:cNvSpPr/>
            <p:nvPr/>
          </p:nvSpPr>
          <p:spPr bwMode="auto">
            <a:xfrm>
              <a:off x="6460300" y="2131759"/>
              <a:ext cx="450850" cy="330200"/>
            </a:xfrm>
            <a:custGeom>
              <a:avLst/>
              <a:gdLst>
                <a:gd name="T0" fmla="*/ 116 w 154"/>
                <a:gd name="T1" fmla="*/ 28 h 113"/>
                <a:gd name="T2" fmla="*/ 80 w 154"/>
                <a:gd name="T3" fmla="*/ 2 h 113"/>
                <a:gd name="T4" fmla="*/ 36 w 154"/>
                <a:gd name="T5" fmla="*/ 13 h 113"/>
                <a:gd name="T6" fmla="*/ 0 w 154"/>
                <a:gd name="T7" fmla="*/ 43 h 113"/>
                <a:gd name="T8" fmla="*/ 22 w 154"/>
                <a:gd name="T9" fmla="*/ 43 h 113"/>
                <a:gd name="T10" fmla="*/ 4 w 154"/>
                <a:gd name="T11" fmla="*/ 53 h 113"/>
                <a:gd name="T12" fmla="*/ 54 w 154"/>
                <a:gd name="T13" fmla="*/ 51 h 113"/>
                <a:gd name="T14" fmla="*/ 48 w 154"/>
                <a:gd name="T15" fmla="*/ 59 h 113"/>
                <a:gd name="T16" fmla="*/ 93 w 154"/>
                <a:gd name="T17" fmla="*/ 48 h 113"/>
                <a:gd name="T18" fmla="*/ 86 w 154"/>
                <a:gd name="T19" fmla="*/ 59 h 113"/>
                <a:gd name="T20" fmla="*/ 106 w 154"/>
                <a:gd name="T21" fmla="*/ 51 h 113"/>
                <a:gd name="T22" fmla="*/ 109 w 154"/>
                <a:gd name="T23" fmla="*/ 65 h 113"/>
                <a:gd name="T24" fmla="*/ 120 w 154"/>
                <a:gd name="T25" fmla="*/ 78 h 113"/>
                <a:gd name="T26" fmla="*/ 119 w 154"/>
                <a:gd name="T27" fmla="*/ 110 h 113"/>
                <a:gd name="T28" fmla="*/ 123 w 154"/>
                <a:gd name="T29" fmla="*/ 113 h 113"/>
                <a:gd name="T30" fmla="*/ 125 w 154"/>
                <a:gd name="T31" fmla="*/ 106 h 113"/>
                <a:gd name="T32" fmla="*/ 135 w 154"/>
                <a:gd name="T33" fmla="*/ 98 h 113"/>
                <a:gd name="T34" fmla="*/ 150 w 154"/>
                <a:gd name="T35" fmla="*/ 105 h 113"/>
                <a:gd name="T36" fmla="*/ 154 w 154"/>
                <a:gd name="T37" fmla="*/ 58 h 113"/>
                <a:gd name="T38" fmla="*/ 145 w 154"/>
                <a:gd name="T39" fmla="*/ 31 h 113"/>
                <a:gd name="T40" fmla="*/ 116 w 154"/>
                <a:gd name="T41" fmla="*/ 2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4" h="113">
                  <a:moveTo>
                    <a:pt x="116" y="28"/>
                  </a:moveTo>
                  <a:cubicBezTo>
                    <a:pt x="110" y="13"/>
                    <a:pt x="95" y="4"/>
                    <a:pt x="80" y="2"/>
                  </a:cubicBezTo>
                  <a:cubicBezTo>
                    <a:pt x="65" y="0"/>
                    <a:pt x="49" y="5"/>
                    <a:pt x="36" y="13"/>
                  </a:cubicBezTo>
                  <a:cubicBezTo>
                    <a:pt x="22" y="21"/>
                    <a:pt x="11" y="32"/>
                    <a:pt x="0" y="43"/>
                  </a:cubicBezTo>
                  <a:cubicBezTo>
                    <a:pt x="7" y="46"/>
                    <a:pt x="15" y="46"/>
                    <a:pt x="22" y="43"/>
                  </a:cubicBezTo>
                  <a:cubicBezTo>
                    <a:pt x="17" y="48"/>
                    <a:pt x="11" y="52"/>
                    <a:pt x="4" y="53"/>
                  </a:cubicBezTo>
                  <a:cubicBezTo>
                    <a:pt x="20" y="60"/>
                    <a:pt x="39" y="59"/>
                    <a:pt x="54" y="51"/>
                  </a:cubicBezTo>
                  <a:cubicBezTo>
                    <a:pt x="53" y="54"/>
                    <a:pt x="51" y="57"/>
                    <a:pt x="48" y="59"/>
                  </a:cubicBezTo>
                  <a:cubicBezTo>
                    <a:pt x="63" y="63"/>
                    <a:pt x="81" y="59"/>
                    <a:pt x="93" y="48"/>
                  </a:cubicBezTo>
                  <a:cubicBezTo>
                    <a:pt x="92" y="52"/>
                    <a:pt x="89" y="56"/>
                    <a:pt x="86" y="59"/>
                  </a:cubicBezTo>
                  <a:cubicBezTo>
                    <a:pt x="93" y="60"/>
                    <a:pt x="102" y="57"/>
                    <a:pt x="106" y="51"/>
                  </a:cubicBezTo>
                  <a:cubicBezTo>
                    <a:pt x="103" y="55"/>
                    <a:pt x="106" y="61"/>
                    <a:pt x="109" y="65"/>
                  </a:cubicBezTo>
                  <a:cubicBezTo>
                    <a:pt x="113" y="70"/>
                    <a:pt x="118" y="73"/>
                    <a:pt x="120" y="78"/>
                  </a:cubicBezTo>
                  <a:cubicBezTo>
                    <a:pt x="124" y="88"/>
                    <a:pt x="116" y="100"/>
                    <a:pt x="119" y="110"/>
                  </a:cubicBezTo>
                  <a:cubicBezTo>
                    <a:pt x="120" y="111"/>
                    <a:pt x="121" y="113"/>
                    <a:pt x="123" y="113"/>
                  </a:cubicBezTo>
                  <a:cubicBezTo>
                    <a:pt x="125" y="112"/>
                    <a:pt x="125" y="109"/>
                    <a:pt x="125" y="106"/>
                  </a:cubicBezTo>
                  <a:cubicBezTo>
                    <a:pt x="125" y="102"/>
                    <a:pt x="130" y="98"/>
                    <a:pt x="135" y="98"/>
                  </a:cubicBezTo>
                  <a:cubicBezTo>
                    <a:pt x="140" y="98"/>
                    <a:pt x="146" y="102"/>
                    <a:pt x="150" y="105"/>
                  </a:cubicBezTo>
                  <a:cubicBezTo>
                    <a:pt x="154" y="91"/>
                    <a:pt x="154" y="74"/>
                    <a:pt x="154" y="58"/>
                  </a:cubicBezTo>
                  <a:cubicBezTo>
                    <a:pt x="154" y="49"/>
                    <a:pt x="152" y="38"/>
                    <a:pt x="145" y="31"/>
                  </a:cubicBezTo>
                  <a:cubicBezTo>
                    <a:pt x="138" y="25"/>
                    <a:pt x="123" y="21"/>
                    <a:pt x="116" y="28"/>
                  </a:cubicBezTo>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íṣḷíḋè">
              <a:extLst>
                <a:ext uri="{FF2B5EF4-FFF2-40B4-BE49-F238E27FC236}">
                  <a16:creationId xmlns:a16="http://schemas.microsoft.com/office/drawing/2014/main" id="{0ED05762-11D9-00F4-CF39-BD424564B52A}"/>
                </a:ext>
              </a:extLst>
            </p:cNvPr>
            <p:cNvSpPr/>
            <p:nvPr/>
          </p:nvSpPr>
          <p:spPr bwMode="auto">
            <a:xfrm>
              <a:off x="6803200" y="2163509"/>
              <a:ext cx="58738" cy="58738"/>
            </a:xfrm>
            <a:custGeom>
              <a:avLst/>
              <a:gdLst>
                <a:gd name="T0" fmla="*/ 20 w 20"/>
                <a:gd name="T1" fmla="*/ 1 h 20"/>
                <a:gd name="T2" fmla="*/ 6 w 20"/>
                <a:gd name="T3" fmla="*/ 6 h 20"/>
                <a:gd name="T4" fmla="*/ 1 w 20"/>
                <a:gd name="T5" fmla="*/ 20 h 20"/>
              </a:gdLst>
              <a:ahLst/>
              <a:cxnLst>
                <a:cxn ang="0">
                  <a:pos x="T0" y="T1"/>
                </a:cxn>
                <a:cxn ang="0">
                  <a:pos x="T2" y="T3"/>
                </a:cxn>
                <a:cxn ang="0">
                  <a:pos x="T4" y="T5"/>
                </a:cxn>
              </a:cxnLst>
              <a:rect l="0" t="0" r="r" b="b"/>
              <a:pathLst>
                <a:path w="20" h="20">
                  <a:moveTo>
                    <a:pt x="20" y="1"/>
                  </a:moveTo>
                  <a:cubicBezTo>
                    <a:pt x="15" y="0"/>
                    <a:pt x="9" y="3"/>
                    <a:pt x="6" y="6"/>
                  </a:cubicBezTo>
                  <a:cubicBezTo>
                    <a:pt x="2" y="10"/>
                    <a:pt x="0" y="15"/>
                    <a:pt x="1" y="20"/>
                  </a:cubicBezTo>
                </a:path>
              </a:pathLst>
            </a:custGeom>
            <a:noFill/>
            <a:ln w="0" cap="rnd">
              <a:solidFill>
                <a:srgbClr val="17171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îṣḷîḋe">
              <a:extLst>
                <a:ext uri="{FF2B5EF4-FFF2-40B4-BE49-F238E27FC236}">
                  <a16:creationId xmlns:a16="http://schemas.microsoft.com/office/drawing/2014/main" id="{E356997C-638C-FF9B-2C41-2785822815CE}"/>
                </a:ext>
              </a:extLst>
            </p:cNvPr>
            <p:cNvSpPr/>
            <p:nvPr/>
          </p:nvSpPr>
          <p:spPr bwMode="auto">
            <a:xfrm>
              <a:off x="6787325" y="2157159"/>
              <a:ext cx="19050" cy="85725"/>
            </a:xfrm>
            <a:custGeom>
              <a:avLst/>
              <a:gdLst>
                <a:gd name="T0" fmla="*/ 2 w 6"/>
                <a:gd name="T1" fmla="*/ 29 h 29"/>
                <a:gd name="T2" fmla="*/ 0 w 6"/>
                <a:gd name="T3" fmla="*/ 0 h 29"/>
              </a:gdLst>
              <a:ahLst/>
              <a:cxnLst>
                <a:cxn ang="0">
                  <a:pos x="T0" y="T1"/>
                </a:cxn>
                <a:cxn ang="0">
                  <a:pos x="T2" y="T3"/>
                </a:cxn>
              </a:cxnLst>
              <a:rect l="0" t="0" r="r" b="b"/>
              <a:pathLst>
                <a:path w="6" h="29">
                  <a:moveTo>
                    <a:pt x="2" y="29"/>
                  </a:moveTo>
                  <a:cubicBezTo>
                    <a:pt x="6" y="20"/>
                    <a:pt x="4" y="9"/>
                    <a:pt x="0" y="0"/>
                  </a:cubicBezTo>
                </a:path>
              </a:pathLst>
            </a:custGeom>
            <a:noFill/>
            <a:ln w="0" cap="rnd">
              <a:solidFill>
                <a:srgbClr val="17171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î$ḷiḑê">
              <a:extLst>
                <a:ext uri="{FF2B5EF4-FFF2-40B4-BE49-F238E27FC236}">
                  <a16:creationId xmlns:a16="http://schemas.microsoft.com/office/drawing/2014/main" id="{91B7A01A-5C8D-AC4C-5A7B-19300D99FF2B}"/>
                </a:ext>
              </a:extLst>
            </p:cNvPr>
            <p:cNvSpPr/>
            <p:nvPr/>
          </p:nvSpPr>
          <p:spPr bwMode="auto">
            <a:xfrm>
              <a:off x="6820662" y="2412747"/>
              <a:ext cx="90488" cy="138113"/>
            </a:xfrm>
            <a:custGeom>
              <a:avLst/>
              <a:gdLst>
                <a:gd name="T0" fmla="*/ 6 w 31"/>
                <a:gd name="T1" fmla="*/ 47 h 47"/>
                <a:gd name="T2" fmla="*/ 24 w 31"/>
                <a:gd name="T3" fmla="*/ 39 h 47"/>
                <a:gd name="T4" fmla="*/ 30 w 31"/>
                <a:gd name="T5" fmla="*/ 21 h 47"/>
                <a:gd name="T6" fmla="*/ 19 w 31"/>
                <a:gd name="T7" fmla="*/ 3 h 47"/>
                <a:gd name="T8" fmla="*/ 0 w 31"/>
                <a:gd name="T9" fmla="*/ 8 h 47"/>
              </a:gdLst>
              <a:ahLst/>
              <a:cxnLst>
                <a:cxn ang="0">
                  <a:pos x="T0" y="T1"/>
                </a:cxn>
                <a:cxn ang="0">
                  <a:pos x="T2" y="T3"/>
                </a:cxn>
                <a:cxn ang="0">
                  <a:pos x="T4" y="T5"/>
                </a:cxn>
                <a:cxn ang="0">
                  <a:pos x="T6" y="T7"/>
                </a:cxn>
                <a:cxn ang="0">
                  <a:pos x="T8" y="T9"/>
                </a:cxn>
              </a:cxnLst>
              <a:rect l="0" t="0" r="r" b="b"/>
              <a:pathLst>
                <a:path w="31" h="47">
                  <a:moveTo>
                    <a:pt x="6" y="47"/>
                  </a:moveTo>
                  <a:cubicBezTo>
                    <a:pt x="13" y="47"/>
                    <a:pt x="21" y="43"/>
                    <a:pt x="24" y="39"/>
                  </a:cubicBezTo>
                  <a:cubicBezTo>
                    <a:pt x="29" y="33"/>
                    <a:pt x="31" y="28"/>
                    <a:pt x="30" y="21"/>
                  </a:cubicBezTo>
                  <a:cubicBezTo>
                    <a:pt x="30" y="14"/>
                    <a:pt x="26" y="6"/>
                    <a:pt x="19" y="3"/>
                  </a:cubicBezTo>
                  <a:cubicBezTo>
                    <a:pt x="13" y="0"/>
                    <a:pt x="4" y="2"/>
                    <a:pt x="0" y="8"/>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îšliḋe">
              <a:extLst>
                <a:ext uri="{FF2B5EF4-FFF2-40B4-BE49-F238E27FC236}">
                  <a16:creationId xmlns:a16="http://schemas.microsoft.com/office/drawing/2014/main" id="{24D08F98-96CD-A9E4-B80A-F224B31F9F9C}"/>
                </a:ext>
              </a:extLst>
            </p:cNvPr>
            <p:cNvSpPr/>
            <p:nvPr/>
          </p:nvSpPr>
          <p:spPr bwMode="auto">
            <a:xfrm>
              <a:off x="6820662" y="2412747"/>
              <a:ext cx="93663" cy="138113"/>
            </a:xfrm>
            <a:custGeom>
              <a:avLst/>
              <a:gdLst>
                <a:gd name="T0" fmla="*/ 6 w 32"/>
                <a:gd name="T1" fmla="*/ 47 h 47"/>
                <a:gd name="T2" fmla="*/ 16 w 32"/>
                <a:gd name="T3" fmla="*/ 44 h 47"/>
                <a:gd name="T4" fmla="*/ 24 w 32"/>
                <a:gd name="T5" fmla="*/ 38 h 47"/>
                <a:gd name="T6" fmla="*/ 29 w 32"/>
                <a:gd name="T7" fmla="*/ 30 h 47"/>
                <a:gd name="T8" fmla="*/ 29 w 32"/>
                <a:gd name="T9" fmla="*/ 20 h 47"/>
                <a:gd name="T10" fmla="*/ 19 w 32"/>
                <a:gd name="T11" fmla="*/ 4 h 47"/>
                <a:gd name="T12" fmla="*/ 0 w 32"/>
                <a:gd name="T13" fmla="*/ 8 h 47"/>
                <a:gd name="T14" fmla="*/ 19 w 32"/>
                <a:gd name="T15" fmla="*/ 2 h 47"/>
                <a:gd name="T16" fmla="*/ 31 w 32"/>
                <a:gd name="T17" fmla="*/ 19 h 47"/>
                <a:gd name="T18" fmla="*/ 30 w 32"/>
                <a:gd name="T19" fmla="*/ 30 h 47"/>
                <a:gd name="T20" fmla="*/ 25 w 32"/>
                <a:gd name="T21" fmla="*/ 39 h 47"/>
                <a:gd name="T22" fmla="*/ 6 w 32"/>
                <a:gd name="T23"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7">
                  <a:moveTo>
                    <a:pt x="6" y="47"/>
                  </a:moveTo>
                  <a:cubicBezTo>
                    <a:pt x="9" y="47"/>
                    <a:pt x="13" y="46"/>
                    <a:pt x="16" y="44"/>
                  </a:cubicBezTo>
                  <a:cubicBezTo>
                    <a:pt x="19" y="43"/>
                    <a:pt x="22" y="41"/>
                    <a:pt x="24" y="38"/>
                  </a:cubicBezTo>
                  <a:cubicBezTo>
                    <a:pt x="26" y="36"/>
                    <a:pt x="28" y="33"/>
                    <a:pt x="29" y="30"/>
                  </a:cubicBezTo>
                  <a:cubicBezTo>
                    <a:pt x="30" y="26"/>
                    <a:pt x="30" y="23"/>
                    <a:pt x="29" y="20"/>
                  </a:cubicBezTo>
                  <a:cubicBezTo>
                    <a:pt x="29" y="13"/>
                    <a:pt x="25" y="7"/>
                    <a:pt x="19" y="4"/>
                  </a:cubicBezTo>
                  <a:cubicBezTo>
                    <a:pt x="13" y="1"/>
                    <a:pt x="5" y="2"/>
                    <a:pt x="0" y="8"/>
                  </a:cubicBezTo>
                  <a:cubicBezTo>
                    <a:pt x="4" y="2"/>
                    <a:pt x="13" y="0"/>
                    <a:pt x="19" y="2"/>
                  </a:cubicBezTo>
                  <a:cubicBezTo>
                    <a:pt x="26" y="5"/>
                    <a:pt x="30" y="12"/>
                    <a:pt x="31" y="19"/>
                  </a:cubicBezTo>
                  <a:cubicBezTo>
                    <a:pt x="32" y="23"/>
                    <a:pt x="32" y="27"/>
                    <a:pt x="30" y="30"/>
                  </a:cubicBezTo>
                  <a:cubicBezTo>
                    <a:pt x="29" y="34"/>
                    <a:pt x="27" y="37"/>
                    <a:pt x="25" y="39"/>
                  </a:cubicBezTo>
                  <a:cubicBezTo>
                    <a:pt x="20" y="44"/>
                    <a:pt x="13" y="47"/>
                    <a:pt x="6" y="47"/>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îṣ1îḋê">
              <a:extLst>
                <a:ext uri="{FF2B5EF4-FFF2-40B4-BE49-F238E27FC236}">
                  <a16:creationId xmlns:a16="http://schemas.microsoft.com/office/drawing/2014/main" id="{3CB4A223-1E9D-0C42-EEED-295A08DFE8AE}"/>
                </a:ext>
              </a:extLst>
            </p:cNvPr>
            <p:cNvSpPr/>
            <p:nvPr/>
          </p:nvSpPr>
          <p:spPr bwMode="auto">
            <a:xfrm>
              <a:off x="6823837" y="2447672"/>
              <a:ext cx="46038" cy="66675"/>
            </a:xfrm>
            <a:custGeom>
              <a:avLst/>
              <a:gdLst>
                <a:gd name="T0" fmla="*/ 16 w 16"/>
                <a:gd name="T1" fmla="*/ 0 h 23"/>
                <a:gd name="T2" fmla="*/ 0 w 16"/>
                <a:gd name="T3" fmla="*/ 14 h 23"/>
                <a:gd name="T4" fmla="*/ 3 w 16"/>
                <a:gd name="T5" fmla="*/ 10 h 23"/>
                <a:gd name="T6" fmla="*/ 8 w 16"/>
                <a:gd name="T7" fmla="*/ 9 h 23"/>
                <a:gd name="T8" fmla="*/ 11 w 16"/>
                <a:gd name="T9" fmla="*/ 15 h 23"/>
                <a:gd name="T10" fmla="*/ 10 w 16"/>
                <a:gd name="T11" fmla="*/ 20 h 23"/>
                <a:gd name="T12" fmla="*/ 6 w 16"/>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6" h="23">
                  <a:moveTo>
                    <a:pt x="16" y="0"/>
                  </a:moveTo>
                  <a:cubicBezTo>
                    <a:pt x="9" y="2"/>
                    <a:pt x="3" y="7"/>
                    <a:pt x="0" y="14"/>
                  </a:cubicBezTo>
                  <a:cubicBezTo>
                    <a:pt x="1" y="13"/>
                    <a:pt x="2" y="11"/>
                    <a:pt x="3" y="10"/>
                  </a:cubicBezTo>
                  <a:cubicBezTo>
                    <a:pt x="5" y="9"/>
                    <a:pt x="6" y="9"/>
                    <a:pt x="8" y="9"/>
                  </a:cubicBezTo>
                  <a:cubicBezTo>
                    <a:pt x="10" y="10"/>
                    <a:pt x="11" y="13"/>
                    <a:pt x="11" y="15"/>
                  </a:cubicBezTo>
                  <a:cubicBezTo>
                    <a:pt x="11" y="17"/>
                    <a:pt x="10" y="19"/>
                    <a:pt x="10" y="20"/>
                  </a:cubicBezTo>
                  <a:cubicBezTo>
                    <a:pt x="9" y="22"/>
                    <a:pt x="8" y="23"/>
                    <a:pt x="6" y="2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iŝlíḍê">
              <a:extLst>
                <a:ext uri="{FF2B5EF4-FFF2-40B4-BE49-F238E27FC236}">
                  <a16:creationId xmlns:a16="http://schemas.microsoft.com/office/drawing/2014/main" id="{CFDA7761-431F-5DE9-1C55-F40CA94970AA}"/>
                </a:ext>
              </a:extLst>
            </p:cNvPr>
            <p:cNvSpPr/>
            <p:nvPr/>
          </p:nvSpPr>
          <p:spPr bwMode="auto">
            <a:xfrm>
              <a:off x="6820662" y="2447672"/>
              <a:ext cx="49213" cy="66675"/>
            </a:xfrm>
            <a:custGeom>
              <a:avLst/>
              <a:gdLst>
                <a:gd name="T0" fmla="*/ 17 w 17"/>
                <a:gd name="T1" fmla="*/ 0 h 23"/>
                <a:gd name="T2" fmla="*/ 2 w 17"/>
                <a:gd name="T3" fmla="*/ 15 h 23"/>
                <a:gd name="T4" fmla="*/ 1 w 17"/>
                <a:gd name="T5" fmla="*/ 14 h 23"/>
                <a:gd name="T6" fmla="*/ 5 w 17"/>
                <a:gd name="T7" fmla="*/ 8 h 23"/>
                <a:gd name="T8" fmla="*/ 9 w 17"/>
                <a:gd name="T9" fmla="*/ 8 h 23"/>
                <a:gd name="T10" fmla="*/ 12 w 17"/>
                <a:gd name="T11" fmla="*/ 11 h 23"/>
                <a:gd name="T12" fmla="*/ 12 w 17"/>
                <a:gd name="T13" fmla="*/ 18 h 23"/>
                <a:gd name="T14" fmla="*/ 7 w 17"/>
                <a:gd name="T15" fmla="*/ 23 h 23"/>
                <a:gd name="T16" fmla="*/ 11 w 17"/>
                <a:gd name="T17" fmla="*/ 18 h 23"/>
                <a:gd name="T18" fmla="*/ 10 w 17"/>
                <a:gd name="T19" fmla="*/ 12 h 23"/>
                <a:gd name="T20" fmla="*/ 6 w 17"/>
                <a:gd name="T21" fmla="*/ 10 h 23"/>
                <a:gd name="T22" fmla="*/ 2 w 17"/>
                <a:gd name="T23" fmla="*/ 15 h 23"/>
                <a:gd name="T24" fmla="*/ 0 w 17"/>
                <a:gd name="T25" fmla="*/ 14 h 23"/>
                <a:gd name="T26" fmla="*/ 17 w 17"/>
                <a:gd name="T2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23">
                  <a:moveTo>
                    <a:pt x="17" y="0"/>
                  </a:moveTo>
                  <a:cubicBezTo>
                    <a:pt x="10" y="3"/>
                    <a:pt x="4" y="8"/>
                    <a:pt x="2" y="15"/>
                  </a:cubicBezTo>
                  <a:cubicBezTo>
                    <a:pt x="1" y="14"/>
                    <a:pt x="1" y="14"/>
                    <a:pt x="1" y="14"/>
                  </a:cubicBezTo>
                  <a:cubicBezTo>
                    <a:pt x="2" y="12"/>
                    <a:pt x="3" y="10"/>
                    <a:pt x="5" y="8"/>
                  </a:cubicBezTo>
                  <a:cubicBezTo>
                    <a:pt x="7" y="8"/>
                    <a:pt x="8" y="8"/>
                    <a:pt x="9" y="8"/>
                  </a:cubicBezTo>
                  <a:cubicBezTo>
                    <a:pt x="11" y="9"/>
                    <a:pt x="12" y="10"/>
                    <a:pt x="12" y="11"/>
                  </a:cubicBezTo>
                  <a:cubicBezTo>
                    <a:pt x="13" y="14"/>
                    <a:pt x="12" y="16"/>
                    <a:pt x="12" y="18"/>
                  </a:cubicBezTo>
                  <a:cubicBezTo>
                    <a:pt x="11" y="21"/>
                    <a:pt x="10" y="23"/>
                    <a:pt x="7" y="23"/>
                  </a:cubicBezTo>
                  <a:cubicBezTo>
                    <a:pt x="9" y="22"/>
                    <a:pt x="10" y="20"/>
                    <a:pt x="11" y="18"/>
                  </a:cubicBezTo>
                  <a:cubicBezTo>
                    <a:pt x="11" y="16"/>
                    <a:pt x="11" y="14"/>
                    <a:pt x="10" y="12"/>
                  </a:cubicBezTo>
                  <a:cubicBezTo>
                    <a:pt x="10" y="10"/>
                    <a:pt x="8" y="9"/>
                    <a:pt x="6" y="10"/>
                  </a:cubicBezTo>
                  <a:cubicBezTo>
                    <a:pt x="4" y="11"/>
                    <a:pt x="3" y="13"/>
                    <a:pt x="2" y="15"/>
                  </a:cubicBezTo>
                  <a:cubicBezTo>
                    <a:pt x="0" y="14"/>
                    <a:pt x="0" y="14"/>
                    <a:pt x="0" y="14"/>
                  </a:cubicBezTo>
                  <a:cubicBezTo>
                    <a:pt x="3" y="7"/>
                    <a:pt x="10" y="1"/>
                    <a:pt x="17" y="0"/>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íṡḷïďè">
              <a:extLst>
                <a:ext uri="{FF2B5EF4-FFF2-40B4-BE49-F238E27FC236}">
                  <a16:creationId xmlns:a16="http://schemas.microsoft.com/office/drawing/2014/main" id="{6ECBFFB4-CEAE-B6E2-0AC6-31FB5A4C232E}"/>
                </a:ext>
              </a:extLst>
            </p:cNvPr>
            <p:cNvSpPr/>
            <p:nvPr/>
          </p:nvSpPr>
          <p:spPr bwMode="auto">
            <a:xfrm>
              <a:off x="6609525" y="2406397"/>
              <a:ext cx="38100" cy="69850"/>
            </a:xfrm>
            <a:custGeom>
              <a:avLst/>
              <a:gdLst>
                <a:gd name="T0" fmla="*/ 13 w 13"/>
                <a:gd name="T1" fmla="*/ 24 h 24"/>
                <a:gd name="T2" fmla="*/ 8 w 13"/>
                <a:gd name="T3" fmla="*/ 22 h 24"/>
                <a:gd name="T4" fmla="*/ 3 w 13"/>
                <a:gd name="T5" fmla="*/ 18 h 24"/>
                <a:gd name="T6" fmla="*/ 1 w 13"/>
                <a:gd name="T7" fmla="*/ 14 h 24"/>
                <a:gd name="T8" fmla="*/ 0 w 13"/>
                <a:gd name="T9" fmla="*/ 13 h 24"/>
                <a:gd name="T10" fmla="*/ 1 w 13"/>
                <a:gd name="T11" fmla="*/ 11 h 24"/>
                <a:gd name="T12" fmla="*/ 4 w 13"/>
                <a:gd name="T13" fmla="*/ 10 h 24"/>
                <a:gd name="T14" fmla="*/ 12 w 13"/>
                <a:gd name="T15" fmla="*/ 12 h 24"/>
                <a:gd name="T16" fmla="*/ 11 w 13"/>
                <a:gd name="T17" fmla="*/ 13 h 24"/>
                <a:gd name="T18" fmla="*/ 11 w 13"/>
                <a:gd name="T19" fmla="*/ 0 h 24"/>
                <a:gd name="T20" fmla="*/ 13 w 13"/>
                <a:gd name="T21" fmla="*/ 13 h 24"/>
                <a:gd name="T22" fmla="*/ 12 w 13"/>
                <a:gd name="T23" fmla="*/ 13 h 24"/>
                <a:gd name="T24" fmla="*/ 11 w 13"/>
                <a:gd name="T25" fmla="*/ 13 h 24"/>
                <a:gd name="T26" fmla="*/ 11 w 13"/>
                <a:gd name="T27" fmla="*/ 13 h 24"/>
                <a:gd name="T28" fmla="*/ 3 w 13"/>
                <a:gd name="T29" fmla="*/ 12 h 24"/>
                <a:gd name="T30" fmla="*/ 2 w 13"/>
                <a:gd name="T31" fmla="*/ 12 h 24"/>
                <a:gd name="T32" fmla="*/ 2 w 13"/>
                <a:gd name="T33" fmla="*/ 12 h 24"/>
                <a:gd name="T34" fmla="*/ 2 w 13"/>
                <a:gd name="T35" fmla="*/ 12 h 24"/>
                <a:gd name="T36" fmla="*/ 2 w 13"/>
                <a:gd name="T37" fmla="*/ 12 h 24"/>
                <a:gd name="T38" fmla="*/ 2 w 13"/>
                <a:gd name="T39" fmla="*/ 12 h 24"/>
                <a:gd name="T40" fmla="*/ 3 w 13"/>
                <a:gd name="T41" fmla="*/ 13 h 24"/>
                <a:gd name="T42" fmla="*/ 4 w 13"/>
                <a:gd name="T43" fmla="*/ 16 h 24"/>
                <a:gd name="T44" fmla="*/ 8 w 13"/>
                <a:gd name="T45" fmla="*/ 21 h 24"/>
                <a:gd name="T46" fmla="*/ 13 w 13"/>
                <a:gd name="T4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 h="24">
                  <a:moveTo>
                    <a:pt x="13" y="24"/>
                  </a:moveTo>
                  <a:cubicBezTo>
                    <a:pt x="13" y="24"/>
                    <a:pt x="11" y="24"/>
                    <a:pt x="8" y="22"/>
                  </a:cubicBezTo>
                  <a:cubicBezTo>
                    <a:pt x="6" y="21"/>
                    <a:pt x="4" y="20"/>
                    <a:pt x="3" y="18"/>
                  </a:cubicBezTo>
                  <a:cubicBezTo>
                    <a:pt x="2" y="16"/>
                    <a:pt x="1" y="15"/>
                    <a:pt x="1" y="14"/>
                  </a:cubicBezTo>
                  <a:cubicBezTo>
                    <a:pt x="0" y="13"/>
                    <a:pt x="0" y="13"/>
                    <a:pt x="0" y="13"/>
                  </a:cubicBezTo>
                  <a:cubicBezTo>
                    <a:pt x="0" y="13"/>
                    <a:pt x="0" y="12"/>
                    <a:pt x="1" y="11"/>
                  </a:cubicBezTo>
                  <a:cubicBezTo>
                    <a:pt x="2" y="10"/>
                    <a:pt x="3" y="10"/>
                    <a:pt x="4" y="10"/>
                  </a:cubicBezTo>
                  <a:cubicBezTo>
                    <a:pt x="6" y="11"/>
                    <a:pt x="9" y="11"/>
                    <a:pt x="12" y="12"/>
                  </a:cubicBezTo>
                  <a:cubicBezTo>
                    <a:pt x="11" y="13"/>
                    <a:pt x="11" y="13"/>
                    <a:pt x="11" y="13"/>
                  </a:cubicBezTo>
                  <a:cubicBezTo>
                    <a:pt x="11" y="5"/>
                    <a:pt x="11" y="0"/>
                    <a:pt x="11" y="0"/>
                  </a:cubicBezTo>
                  <a:cubicBezTo>
                    <a:pt x="12" y="0"/>
                    <a:pt x="12" y="5"/>
                    <a:pt x="13" y="13"/>
                  </a:cubicBezTo>
                  <a:cubicBezTo>
                    <a:pt x="13" y="13"/>
                    <a:pt x="12" y="13"/>
                    <a:pt x="12" y="13"/>
                  </a:cubicBezTo>
                  <a:cubicBezTo>
                    <a:pt x="11" y="13"/>
                    <a:pt x="11" y="13"/>
                    <a:pt x="11" y="13"/>
                  </a:cubicBezTo>
                  <a:cubicBezTo>
                    <a:pt x="11" y="13"/>
                    <a:pt x="11" y="13"/>
                    <a:pt x="11" y="13"/>
                  </a:cubicBezTo>
                  <a:cubicBezTo>
                    <a:pt x="9" y="13"/>
                    <a:pt x="6" y="13"/>
                    <a:pt x="3" y="12"/>
                  </a:cubicBezTo>
                  <a:cubicBezTo>
                    <a:pt x="3" y="12"/>
                    <a:pt x="3" y="12"/>
                    <a:pt x="2" y="12"/>
                  </a:cubicBezTo>
                  <a:cubicBezTo>
                    <a:pt x="2" y="12"/>
                    <a:pt x="2" y="12"/>
                    <a:pt x="2" y="12"/>
                  </a:cubicBezTo>
                  <a:cubicBezTo>
                    <a:pt x="2" y="12"/>
                    <a:pt x="2" y="12"/>
                    <a:pt x="2" y="12"/>
                  </a:cubicBezTo>
                  <a:cubicBezTo>
                    <a:pt x="2" y="12"/>
                    <a:pt x="2" y="12"/>
                    <a:pt x="2" y="12"/>
                  </a:cubicBezTo>
                  <a:cubicBezTo>
                    <a:pt x="2" y="12"/>
                    <a:pt x="2" y="12"/>
                    <a:pt x="2" y="12"/>
                  </a:cubicBezTo>
                  <a:cubicBezTo>
                    <a:pt x="3" y="13"/>
                    <a:pt x="3" y="13"/>
                    <a:pt x="3" y="13"/>
                  </a:cubicBezTo>
                  <a:cubicBezTo>
                    <a:pt x="3" y="14"/>
                    <a:pt x="4" y="15"/>
                    <a:pt x="4" y="16"/>
                  </a:cubicBezTo>
                  <a:cubicBezTo>
                    <a:pt x="5" y="18"/>
                    <a:pt x="7" y="20"/>
                    <a:pt x="8" y="21"/>
                  </a:cubicBezTo>
                  <a:cubicBezTo>
                    <a:pt x="11" y="23"/>
                    <a:pt x="13" y="24"/>
                    <a:pt x="13" y="24"/>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îSḻïḑe">
              <a:extLst>
                <a:ext uri="{FF2B5EF4-FFF2-40B4-BE49-F238E27FC236}">
                  <a16:creationId xmlns:a16="http://schemas.microsoft.com/office/drawing/2014/main" id="{5B3CAD7E-F8DD-0C45-0A6A-2DF72512BC42}"/>
                </a:ext>
              </a:extLst>
            </p:cNvPr>
            <p:cNvSpPr/>
            <p:nvPr/>
          </p:nvSpPr>
          <p:spPr bwMode="auto">
            <a:xfrm>
              <a:off x="6679375" y="2319084"/>
              <a:ext cx="47625" cy="28575"/>
            </a:xfrm>
            <a:custGeom>
              <a:avLst/>
              <a:gdLst>
                <a:gd name="T0" fmla="*/ 1 w 16"/>
                <a:gd name="T1" fmla="*/ 2 h 10"/>
                <a:gd name="T2" fmla="*/ 4 w 16"/>
                <a:gd name="T3" fmla="*/ 0 h 10"/>
                <a:gd name="T4" fmla="*/ 7 w 16"/>
                <a:gd name="T5" fmla="*/ 0 h 10"/>
                <a:gd name="T6" fmla="*/ 7 w 16"/>
                <a:gd name="T7" fmla="*/ 0 h 10"/>
                <a:gd name="T8" fmla="*/ 9 w 16"/>
                <a:gd name="T9" fmla="*/ 1 h 10"/>
                <a:gd name="T10" fmla="*/ 10 w 16"/>
                <a:gd name="T11" fmla="*/ 1 h 10"/>
                <a:gd name="T12" fmla="*/ 11 w 16"/>
                <a:gd name="T13" fmla="*/ 1 h 10"/>
                <a:gd name="T14" fmla="*/ 12 w 16"/>
                <a:gd name="T15" fmla="*/ 2 h 10"/>
                <a:gd name="T16" fmla="*/ 13 w 16"/>
                <a:gd name="T17" fmla="*/ 2 h 10"/>
                <a:gd name="T18" fmla="*/ 13 w 16"/>
                <a:gd name="T19" fmla="*/ 2 h 10"/>
                <a:gd name="T20" fmla="*/ 13 w 16"/>
                <a:gd name="T21" fmla="*/ 2 h 10"/>
                <a:gd name="T22" fmla="*/ 15 w 16"/>
                <a:gd name="T23" fmla="*/ 5 h 10"/>
                <a:gd name="T24" fmla="*/ 14 w 16"/>
                <a:gd name="T25" fmla="*/ 9 h 10"/>
                <a:gd name="T26" fmla="*/ 12 w 16"/>
                <a:gd name="T27" fmla="*/ 10 h 10"/>
                <a:gd name="T28" fmla="*/ 9 w 16"/>
                <a:gd name="T29" fmla="*/ 10 h 10"/>
                <a:gd name="T30" fmla="*/ 4 w 16"/>
                <a:gd name="T31" fmla="*/ 10 h 10"/>
                <a:gd name="T32" fmla="*/ 1 w 16"/>
                <a:gd name="T33" fmla="*/ 7 h 10"/>
                <a:gd name="T34" fmla="*/ 1 w 16"/>
                <a:gd name="T35"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10">
                  <a:moveTo>
                    <a:pt x="1" y="2"/>
                  </a:moveTo>
                  <a:cubicBezTo>
                    <a:pt x="2" y="1"/>
                    <a:pt x="3" y="1"/>
                    <a:pt x="4" y="0"/>
                  </a:cubicBezTo>
                  <a:cubicBezTo>
                    <a:pt x="5" y="0"/>
                    <a:pt x="6" y="0"/>
                    <a:pt x="7" y="0"/>
                  </a:cubicBezTo>
                  <a:cubicBezTo>
                    <a:pt x="7" y="0"/>
                    <a:pt x="7" y="0"/>
                    <a:pt x="7" y="0"/>
                  </a:cubicBezTo>
                  <a:cubicBezTo>
                    <a:pt x="8" y="0"/>
                    <a:pt x="8" y="0"/>
                    <a:pt x="9" y="1"/>
                  </a:cubicBezTo>
                  <a:cubicBezTo>
                    <a:pt x="9" y="1"/>
                    <a:pt x="10" y="1"/>
                    <a:pt x="10" y="1"/>
                  </a:cubicBezTo>
                  <a:cubicBezTo>
                    <a:pt x="10" y="1"/>
                    <a:pt x="10" y="1"/>
                    <a:pt x="11" y="1"/>
                  </a:cubicBezTo>
                  <a:cubicBezTo>
                    <a:pt x="11" y="1"/>
                    <a:pt x="12" y="2"/>
                    <a:pt x="12" y="2"/>
                  </a:cubicBezTo>
                  <a:cubicBezTo>
                    <a:pt x="12" y="2"/>
                    <a:pt x="13" y="2"/>
                    <a:pt x="13" y="2"/>
                  </a:cubicBezTo>
                  <a:cubicBezTo>
                    <a:pt x="13" y="2"/>
                    <a:pt x="13" y="2"/>
                    <a:pt x="13" y="2"/>
                  </a:cubicBezTo>
                  <a:cubicBezTo>
                    <a:pt x="13" y="2"/>
                    <a:pt x="13" y="2"/>
                    <a:pt x="13" y="2"/>
                  </a:cubicBezTo>
                  <a:cubicBezTo>
                    <a:pt x="14" y="3"/>
                    <a:pt x="15" y="4"/>
                    <a:pt x="15" y="5"/>
                  </a:cubicBezTo>
                  <a:cubicBezTo>
                    <a:pt x="16" y="7"/>
                    <a:pt x="15" y="9"/>
                    <a:pt x="14" y="9"/>
                  </a:cubicBezTo>
                  <a:cubicBezTo>
                    <a:pt x="14" y="10"/>
                    <a:pt x="13" y="10"/>
                    <a:pt x="12" y="10"/>
                  </a:cubicBezTo>
                  <a:cubicBezTo>
                    <a:pt x="11" y="10"/>
                    <a:pt x="10" y="10"/>
                    <a:pt x="9" y="10"/>
                  </a:cubicBezTo>
                  <a:cubicBezTo>
                    <a:pt x="7" y="10"/>
                    <a:pt x="6" y="10"/>
                    <a:pt x="4" y="10"/>
                  </a:cubicBezTo>
                  <a:cubicBezTo>
                    <a:pt x="3" y="9"/>
                    <a:pt x="1" y="8"/>
                    <a:pt x="1" y="7"/>
                  </a:cubicBezTo>
                  <a:cubicBezTo>
                    <a:pt x="0" y="5"/>
                    <a:pt x="0" y="3"/>
                    <a:pt x="1" y="2"/>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ïṥḷîďe">
              <a:extLst>
                <a:ext uri="{FF2B5EF4-FFF2-40B4-BE49-F238E27FC236}">
                  <a16:creationId xmlns:a16="http://schemas.microsoft.com/office/drawing/2014/main" id="{4C239139-E8CE-522F-FE4B-F12C223D8A87}"/>
                </a:ext>
              </a:extLst>
            </p:cNvPr>
            <p:cNvSpPr/>
            <p:nvPr/>
          </p:nvSpPr>
          <p:spPr bwMode="auto">
            <a:xfrm>
              <a:off x="6547612" y="2319084"/>
              <a:ext cx="47625" cy="28575"/>
            </a:xfrm>
            <a:custGeom>
              <a:avLst/>
              <a:gdLst>
                <a:gd name="T0" fmla="*/ 1 w 16"/>
                <a:gd name="T1" fmla="*/ 1 h 10"/>
                <a:gd name="T2" fmla="*/ 4 w 16"/>
                <a:gd name="T3" fmla="*/ 0 h 10"/>
                <a:gd name="T4" fmla="*/ 7 w 16"/>
                <a:gd name="T5" fmla="*/ 0 h 10"/>
                <a:gd name="T6" fmla="*/ 8 w 16"/>
                <a:gd name="T7" fmla="*/ 0 h 10"/>
                <a:gd name="T8" fmla="*/ 9 w 16"/>
                <a:gd name="T9" fmla="*/ 0 h 10"/>
                <a:gd name="T10" fmla="*/ 11 w 16"/>
                <a:gd name="T11" fmla="*/ 1 h 10"/>
                <a:gd name="T12" fmla="*/ 11 w 16"/>
                <a:gd name="T13" fmla="*/ 1 h 10"/>
                <a:gd name="T14" fmla="*/ 13 w 16"/>
                <a:gd name="T15" fmla="*/ 2 h 10"/>
                <a:gd name="T16" fmla="*/ 13 w 16"/>
                <a:gd name="T17" fmla="*/ 2 h 10"/>
                <a:gd name="T18" fmla="*/ 13 w 16"/>
                <a:gd name="T19" fmla="*/ 2 h 10"/>
                <a:gd name="T20" fmla="*/ 13 w 16"/>
                <a:gd name="T21" fmla="*/ 2 h 10"/>
                <a:gd name="T22" fmla="*/ 16 w 16"/>
                <a:gd name="T23" fmla="*/ 5 h 10"/>
                <a:gd name="T24" fmla="*/ 15 w 16"/>
                <a:gd name="T25" fmla="*/ 9 h 10"/>
                <a:gd name="T26" fmla="*/ 13 w 16"/>
                <a:gd name="T27" fmla="*/ 9 h 10"/>
                <a:gd name="T28" fmla="*/ 9 w 16"/>
                <a:gd name="T29" fmla="*/ 10 h 10"/>
                <a:gd name="T30" fmla="*/ 5 w 16"/>
                <a:gd name="T31" fmla="*/ 9 h 10"/>
                <a:gd name="T32" fmla="*/ 1 w 16"/>
                <a:gd name="T33" fmla="*/ 6 h 10"/>
                <a:gd name="T34" fmla="*/ 1 w 16"/>
                <a:gd name="T35"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10">
                  <a:moveTo>
                    <a:pt x="1" y="1"/>
                  </a:moveTo>
                  <a:cubicBezTo>
                    <a:pt x="2" y="1"/>
                    <a:pt x="3" y="0"/>
                    <a:pt x="4" y="0"/>
                  </a:cubicBezTo>
                  <a:cubicBezTo>
                    <a:pt x="5" y="0"/>
                    <a:pt x="6" y="0"/>
                    <a:pt x="7" y="0"/>
                  </a:cubicBezTo>
                  <a:cubicBezTo>
                    <a:pt x="7" y="0"/>
                    <a:pt x="7" y="0"/>
                    <a:pt x="8" y="0"/>
                  </a:cubicBezTo>
                  <a:cubicBezTo>
                    <a:pt x="8" y="0"/>
                    <a:pt x="9" y="0"/>
                    <a:pt x="9" y="0"/>
                  </a:cubicBezTo>
                  <a:cubicBezTo>
                    <a:pt x="10" y="0"/>
                    <a:pt x="10" y="1"/>
                    <a:pt x="11" y="1"/>
                  </a:cubicBezTo>
                  <a:cubicBezTo>
                    <a:pt x="11" y="1"/>
                    <a:pt x="11" y="1"/>
                    <a:pt x="11" y="1"/>
                  </a:cubicBezTo>
                  <a:cubicBezTo>
                    <a:pt x="12" y="1"/>
                    <a:pt x="12" y="1"/>
                    <a:pt x="13" y="2"/>
                  </a:cubicBezTo>
                  <a:cubicBezTo>
                    <a:pt x="13" y="2"/>
                    <a:pt x="13" y="2"/>
                    <a:pt x="13" y="2"/>
                  </a:cubicBezTo>
                  <a:cubicBezTo>
                    <a:pt x="13" y="2"/>
                    <a:pt x="13" y="2"/>
                    <a:pt x="13" y="2"/>
                  </a:cubicBezTo>
                  <a:cubicBezTo>
                    <a:pt x="13" y="2"/>
                    <a:pt x="13" y="2"/>
                    <a:pt x="13" y="2"/>
                  </a:cubicBezTo>
                  <a:cubicBezTo>
                    <a:pt x="14" y="3"/>
                    <a:pt x="15" y="4"/>
                    <a:pt x="16" y="5"/>
                  </a:cubicBezTo>
                  <a:cubicBezTo>
                    <a:pt x="16" y="6"/>
                    <a:pt x="16" y="8"/>
                    <a:pt x="15" y="9"/>
                  </a:cubicBezTo>
                  <a:cubicBezTo>
                    <a:pt x="14" y="9"/>
                    <a:pt x="13" y="9"/>
                    <a:pt x="13" y="9"/>
                  </a:cubicBezTo>
                  <a:cubicBezTo>
                    <a:pt x="12" y="10"/>
                    <a:pt x="10" y="10"/>
                    <a:pt x="9" y="10"/>
                  </a:cubicBezTo>
                  <a:cubicBezTo>
                    <a:pt x="8" y="10"/>
                    <a:pt x="6" y="10"/>
                    <a:pt x="5" y="9"/>
                  </a:cubicBezTo>
                  <a:cubicBezTo>
                    <a:pt x="3" y="9"/>
                    <a:pt x="2" y="8"/>
                    <a:pt x="1" y="6"/>
                  </a:cubicBezTo>
                  <a:cubicBezTo>
                    <a:pt x="0" y="5"/>
                    <a:pt x="0" y="3"/>
                    <a:pt x="1" y="1"/>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iśľïďé">
              <a:extLst>
                <a:ext uri="{FF2B5EF4-FFF2-40B4-BE49-F238E27FC236}">
                  <a16:creationId xmlns:a16="http://schemas.microsoft.com/office/drawing/2014/main" id="{9627DAC9-D809-6F36-1E41-4A2192F8BF66}"/>
                </a:ext>
              </a:extLst>
            </p:cNvPr>
            <p:cNvSpPr/>
            <p:nvPr/>
          </p:nvSpPr>
          <p:spPr bwMode="auto">
            <a:xfrm>
              <a:off x="6668262" y="2465134"/>
              <a:ext cx="52388" cy="58738"/>
            </a:xfrm>
            <a:custGeom>
              <a:avLst/>
              <a:gdLst>
                <a:gd name="T0" fmla="*/ 11 w 18"/>
                <a:gd name="T1" fmla="*/ 19 h 20"/>
                <a:gd name="T2" fmla="*/ 15 w 18"/>
                <a:gd name="T3" fmla="*/ 16 h 20"/>
                <a:gd name="T4" fmla="*/ 16 w 18"/>
                <a:gd name="T5" fmla="*/ 11 h 20"/>
                <a:gd name="T6" fmla="*/ 13 w 18"/>
                <a:gd name="T7" fmla="*/ 4 h 20"/>
                <a:gd name="T8" fmla="*/ 11 w 18"/>
                <a:gd name="T9" fmla="*/ 1 h 20"/>
                <a:gd name="T10" fmla="*/ 13 w 18"/>
                <a:gd name="T11" fmla="*/ 1 h 20"/>
                <a:gd name="T12" fmla="*/ 0 w 18"/>
                <a:gd name="T13" fmla="*/ 11 h 20"/>
                <a:gd name="T14" fmla="*/ 11 w 18"/>
                <a:gd name="T15" fmla="*/ 0 h 20"/>
                <a:gd name="T16" fmla="*/ 13 w 18"/>
                <a:gd name="T17" fmla="*/ 0 h 20"/>
                <a:gd name="T18" fmla="*/ 13 w 18"/>
                <a:gd name="T19" fmla="*/ 0 h 20"/>
                <a:gd name="T20" fmla="*/ 15 w 18"/>
                <a:gd name="T21" fmla="*/ 3 h 20"/>
                <a:gd name="T22" fmla="*/ 18 w 18"/>
                <a:gd name="T23" fmla="*/ 11 h 20"/>
                <a:gd name="T24" fmla="*/ 16 w 18"/>
                <a:gd name="T25" fmla="*/ 17 h 20"/>
                <a:gd name="T26" fmla="*/ 12 w 18"/>
                <a:gd name="T27" fmla="*/ 20 h 20"/>
                <a:gd name="T28" fmla="*/ 11 w 18"/>
                <a:gd name="T29" fmla="*/ 19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1" y="19"/>
                  </a:moveTo>
                  <a:cubicBezTo>
                    <a:pt x="10" y="19"/>
                    <a:pt x="13" y="19"/>
                    <a:pt x="15" y="16"/>
                  </a:cubicBezTo>
                  <a:cubicBezTo>
                    <a:pt x="16" y="15"/>
                    <a:pt x="16" y="13"/>
                    <a:pt x="16" y="11"/>
                  </a:cubicBezTo>
                  <a:cubicBezTo>
                    <a:pt x="16" y="9"/>
                    <a:pt x="15" y="7"/>
                    <a:pt x="13" y="4"/>
                  </a:cubicBezTo>
                  <a:cubicBezTo>
                    <a:pt x="13" y="3"/>
                    <a:pt x="12" y="2"/>
                    <a:pt x="11" y="1"/>
                  </a:cubicBezTo>
                  <a:cubicBezTo>
                    <a:pt x="13" y="1"/>
                    <a:pt x="13" y="1"/>
                    <a:pt x="13" y="1"/>
                  </a:cubicBezTo>
                  <a:cubicBezTo>
                    <a:pt x="7" y="9"/>
                    <a:pt x="0" y="11"/>
                    <a:pt x="0" y="11"/>
                  </a:cubicBezTo>
                  <a:cubicBezTo>
                    <a:pt x="0" y="10"/>
                    <a:pt x="6" y="7"/>
                    <a:pt x="11" y="0"/>
                  </a:cubicBezTo>
                  <a:cubicBezTo>
                    <a:pt x="12" y="0"/>
                    <a:pt x="12" y="0"/>
                    <a:pt x="13" y="0"/>
                  </a:cubicBezTo>
                  <a:cubicBezTo>
                    <a:pt x="13" y="0"/>
                    <a:pt x="13" y="0"/>
                    <a:pt x="13" y="0"/>
                  </a:cubicBezTo>
                  <a:cubicBezTo>
                    <a:pt x="14" y="1"/>
                    <a:pt x="14" y="2"/>
                    <a:pt x="15" y="3"/>
                  </a:cubicBezTo>
                  <a:cubicBezTo>
                    <a:pt x="16" y="6"/>
                    <a:pt x="18" y="8"/>
                    <a:pt x="18" y="11"/>
                  </a:cubicBezTo>
                  <a:cubicBezTo>
                    <a:pt x="18" y="13"/>
                    <a:pt x="17" y="16"/>
                    <a:pt x="16" y="17"/>
                  </a:cubicBezTo>
                  <a:cubicBezTo>
                    <a:pt x="15" y="19"/>
                    <a:pt x="13" y="19"/>
                    <a:pt x="12" y="20"/>
                  </a:cubicBezTo>
                  <a:cubicBezTo>
                    <a:pt x="11" y="20"/>
                    <a:pt x="11" y="19"/>
                    <a:pt x="11" y="19"/>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íšlïḍé">
              <a:extLst>
                <a:ext uri="{FF2B5EF4-FFF2-40B4-BE49-F238E27FC236}">
                  <a16:creationId xmlns:a16="http://schemas.microsoft.com/office/drawing/2014/main" id="{E315607F-3DEE-7D1C-F52C-2C1556EE14B2}"/>
                </a:ext>
              </a:extLst>
            </p:cNvPr>
            <p:cNvSpPr/>
            <p:nvPr/>
          </p:nvSpPr>
          <p:spPr bwMode="auto">
            <a:xfrm>
              <a:off x="6492050" y="2319084"/>
              <a:ext cx="131763" cy="139700"/>
            </a:xfrm>
            <a:custGeom>
              <a:avLst/>
              <a:gdLst>
                <a:gd name="T0" fmla="*/ 44 w 45"/>
                <a:gd name="T1" fmla="*/ 24 h 48"/>
                <a:gd name="T2" fmla="*/ 43 w 45"/>
                <a:gd name="T3" fmla="*/ 19 h 48"/>
                <a:gd name="T4" fmla="*/ 35 w 45"/>
                <a:gd name="T5" fmla="*/ 8 h 48"/>
                <a:gd name="T6" fmla="*/ 16 w 45"/>
                <a:gd name="T7" fmla="*/ 5 h 48"/>
                <a:gd name="T8" fmla="*/ 2 w 45"/>
                <a:gd name="T9" fmla="*/ 24 h 48"/>
                <a:gd name="T10" fmla="*/ 16 w 45"/>
                <a:gd name="T11" fmla="*/ 44 h 48"/>
                <a:gd name="T12" fmla="*/ 35 w 45"/>
                <a:gd name="T13" fmla="*/ 41 h 48"/>
                <a:gd name="T14" fmla="*/ 43 w 45"/>
                <a:gd name="T15" fmla="*/ 30 h 48"/>
                <a:gd name="T16" fmla="*/ 44 w 45"/>
                <a:gd name="T17" fmla="*/ 24 h 48"/>
                <a:gd name="T18" fmla="*/ 45 w 45"/>
                <a:gd name="T19" fmla="*/ 26 h 48"/>
                <a:gd name="T20" fmla="*/ 44 w 45"/>
                <a:gd name="T21" fmla="*/ 30 h 48"/>
                <a:gd name="T22" fmla="*/ 36 w 45"/>
                <a:gd name="T23" fmla="*/ 42 h 48"/>
                <a:gd name="T24" fmla="*/ 15 w 45"/>
                <a:gd name="T25" fmla="*/ 46 h 48"/>
                <a:gd name="T26" fmla="*/ 5 w 45"/>
                <a:gd name="T27" fmla="*/ 38 h 48"/>
                <a:gd name="T28" fmla="*/ 0 w 45"/>
                <a:gd name="T29" fmla="*/ 24 h 48"/>
                <a:gd name="T30" fmla="*/ 5 w 45"/>
                <a:gd name="T31" fmla="*/ 11 h 48"/>
                <a:gd name="T32" fmla="*/ 15 w 45"/>
                <a:gd name="T33" fmla="*/ 3 h 48"/>
                <a:gd name="T34" fmla="*/ 36 w 45"/>
                <a:gd name="T35" fmla="*/ 7 h 48"/>
                <a:gd name="T36" fmla="*/ 44 w 45"/>
                <a:gd name="T37" fmla="*/ 19 h 48"/>
                <a:gd name="T38" fmla="*/ 45 w 45"/>
                <a:gd name="T39" fmla="*/ 23 h 48"/>
                <a:gd name="T40" fmla="*/ 44 w 45"/>
                <a:gd name="T41"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 h="48">
                  <a:moveTo>
                    <a:pt x="44" y="24"/>
                  </a:moveTo>
                  <a:cubicBezTo>
                    <a:pt x="44" y="24"/>
                    <a:pt x="44" y="22"/>
                    <a:pt x="43" y="19"/>
                  </a:cubicBezTo>
                  <a:cubicBezTo>
                    <a:pt x="42" y="16"/>
                    <a:pt x="40" y="11"/>
                    <a:pt x="35" y="8"/>
                  </a:cubicBezTo>
                  <a:cubicBezTo>
                    <a:pt x="31" y="4"/>
                    <a:pt x="23" y="2"/>
                    <a:pt x="16" y="5"/>
                  </a:cubicBezTo>
                  <a:cubicBezTo>
                    <a:pt x="8" y="8"/>
                    <a:pt x="2" y="15"/>
                    <a:pt x="2" y="24"/>
                  </a:cubicBezTo>
                  <a:cubicBezTo>
                    <a:pt x="2" y="33"/>
                    <a:pt x="8" y="41"/>
                    <a:pt x="16" y="44"/>
                  </a:cubicBezTo>
                  <a:cubicBezTo>
                    <a:pt x="23" y="47"/>
                    <a:pt x="31" y="45"/>
                    <a:pt x="35" y="41"/>
                  </a:cubicBezTo>
                  <a:cubicBezTo>
                    <a:pt x="40" y="37"/>
                    <a:pt x="42" y="33"/>
                    <a:pt x="43" y="30"/>
                  </a:cubicBezTo>
                  <a:cubicBezTo>
                    <a:pt x="44" y="26"/>
                    <a:pt x="44" y="24"/>
                    <a:pt x="44" y="24"/>
                  </a:cubicBezTo>
                  <a:cubicBezTo>
                    <a:pt x="44" y="24"/>
                    <a:pt x="45" y="25"/>
                    <a:pt x="45" y="26"/>
                  </a:cubicBezTo>
                  <a:cubicBezTo>
                    <a:pt x="45" y="27"/>
                    <a:pt x="44" y="28"/>
                    <a:pt x="44" y="30"/>
                  </a:cubicBezTo>
                  <a:cubicBezTo>
                    <a:pt x="43" y="33"/>
                    <a:pt x="41" y="38"/>
                    <a:pt x="36" y="42"/>
                  </a:cubicBezTo>
                  <a:cubicBezTo>
                    <a:pt x="31" y="46"/>
                    <a:pt x="23" y="48"/>
                    <a:pt x="15" y="46"/>
                  </a:cubicBezTo>
                  <a:cubicBezTo>
                    <a:pt x="11" y="44"/>
                    <a:pt x="7" y="42"/>
                    <a:pt x="5" y="38"/>
                  </a:cubicBezTo>
                  <a:cubicBezTo>
                    <a:pt x="2" y="34"/>
                    <a:pt x="0" y="29"/>
                    <a:pt x="0" y="24"/>
                  </a:cubicBezTo>
                  <a:cubicBezTo>
                    <a:pt x="0" y="19"/>
                    <a:pt x="2" y="15"/>
                    <a:pt x="5" y="11"/>
                  </a:cubicBezTo>
                  <a:cubicBezTo>
                    <a:pt x="7" y="7"/>
                    <a:pt x="11" y="5"/>
                    <a:pt x="15" y="3"/>
                  </a:cubicBezTo>
                  <a:cubicBezTo>
                    <a:pt x="23" y="0"/>
                    <a:pt x="31" y="3"/>
                    <a:pt x="36" y="7"/>
                  </a:cubicBezTo>
                  <a:cubicBezTo>
                    <a:pt x="41" y="11"/>
                    <a:pt x="43" y="16"/>
                    <a:pt x="44" y="19"/>
                  </a:cubicBezTo>
                  <a:cubicBezTo>
                    <a:pt x="44" y="21"/>
                    <a:pt x="45" y="22"/>
                    <a:pt x="45" y="23"/>
                  </a:cubicBezTo>
                  <a:cubicBezTo>
                    <a:pt x="45" y="24"/>
                    <a:pt x="44" y="24"/>
                    <a:pt x="44" y="24"/>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ï$ḷïḓe">
              <a:extLst>
                <a:ext uri="{FF2B5EF4-FFF2-40B4-BE49-F238E27FC236}">
                  <a16:creationId xmlns:a16="http://schemas.microsoft.com/office/drawing/2014/main" id="{4F0702BD-6E96-83C5-3F86-2AA238C9C371}"/>
                </a:ext>
              </a:extLst>
            </p:cNvPr>
            <p:cNvSpPr/>
            <p:nvPr/>
          </p:nvSpPr>
          <p:spPr bwMode="auto">
            <a:xfrm>
              <a:off x="6647625" y="2322259"/>
              <a:ext cx="131763" cy="142875"/>
            </a:xfrm>
            <a:custGeom>
              <a:avLst/>
              <a:gdLst>
                <a:gd name="T0" fmla="*/ 45 w 45"/>
                <a:gd name="T1" fmla="*/ 24 h 49"/>
                <a:gd name="T2" fmla="*/ 44 w 45"/>
                <a:gd name="T3" fmla="*/ 19 h 49"/>
                <a:gd name="T4" fmla="*/ 36 w 45"/>
                <a:gd name="T5" fmla="*/ 8 h 49"/>
                <a:gd name="T6" fmla="*/ 16 w 45"/>
                <a:gd name="T7" fmla="*/ 5 h 49"/>
                <a:gd name="T8" fmla="*/ 3 w 45"/>
                <a:gd name="T9" fmla="*/ 24 h 49"/>
                <a:gd name="T10" fmla="*/ 16 w 45"/>
                <a:gd name="T11" fmla="*/ 44 h 49"/>
                <a:gd name="T12" fmla="*/ 36 w 45"/>
                <a:gd name="T13" fmla="*/ 41 h 49"/>
                <a:gd name="T14" fmla="*/ 44 w 45"/>
                <a:gd name="T15" fmla="*/ 30 h 49"/>
                <a:gd name="T16" fmla="*/ 45 w 45"/>
                <a:gd name="T17" fmla="*/ 24 h 49"/>
                <a:gd name="T18" fmla="*/ 45 w 45"/>
                <a:gd name="T19" fmla="*/ 26 h 49"/>
                <a:gd name="T20" fmla="*/ 44 w 45"/>
                <a:gd name="T21" fmla="*/ 30 h 49"/>
                <a:gd name="T22" fmla="*/ 37 w 45"/>
                <a:gd name="T23" fmla="*/ 42 h 49"/>
                <a:gd name="T24" fmla="*/ 15 w 45"/>
                <a:gd name="T25" fmla="*/ 46 h 49"/>
                <a:gd name="T26" fmla="*/ 5 w 45"/>
                <a:gd name="T27" fmla="*/ 38 h 49"/>
                <a:gd name="T28" fmla="*/ 0 w 45"/>
                <a:gd name="T29" fmla="*/ 24 h 49"/>
                <a:gd name="T30" fmla="*/ 5 w 45"/>
                <a:gd name="T31" fmla="*/ 11 h 49"/>
                <a:gd name="T32" fmla="*/ 15 w 45"/>
                <a:gd name="T33" fmla="*/ 3 h 49"/>
                <a:gd name="T34" fmla="*/ 37 w 45"/>
                <a:gd name="T35" fmla="*/ 7 h 49"/>
                <a:gd name="T36" fmla="*/ 44 w 45"/>
                <a:gd name="T37" fmla="*/ 19 h 49"/>
                <a:gd name="T38" fmla="*/ 45 w 45"/>
                <a:gd name="T39" fmla="*/ 23 h 49"/>
                <a:gd name="T40" fmla="*/ 45 w 45"/>
                <a:gd name="T41"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 h="49">
                  <a:moveTo>
                    <a:pt x="45" y="24"/>
                  </a:moveTo>
                  <a:cubicBezTo>
                    <a:pt x="45" y="24"/>
                    <a:pt x="45" y="22"/>
                    <a:pt x="44" y="19"/>
                  </a:cubicBezTo>
                  <a:cubicBezTo>
                    <a:pt x="43" y="16"/>
                    <a:pt x="41" y="11"/>
                    <a:pt x="36" y="8"/>
                  </a:cubicBezTo>
                  <a:cubicBezTo>
                    <a:pt x="31" y="4"/>
                    <a:pt x="23" y="2"/>
                    <a:pt x="16" y="5"/>
                  </a:cubicBezTo>
                  <a:cubicBezTo>
                    <a:pt x="9" y="8"/>
                    <a:pt x="2" y="15"/>
                    <a:pt x="3" y="24"/>
                  </a:cubicBezTo>
                  <a:cubicBezTo>
                    <a:pt x="2" y="33"/>
                    <a:pt x="9" y="41"/>
                    <a:pt x="16" y="44"/>
                  </a:cubicBezTo>
                  <a:cubicBezTo>
                    <a:pt x="23" y="47"/>
                    <a:pt x="31" y="45"/>
                    <a:pt x="36" y="41"/>
                  </a:cubicBezTo>
                  <a:cubicBezTo>
                    <a:pt x="41" y="37"/>
                    <a:pt x="43" y="33"/>
                    <a:pt x="44" y="30"/>
                  </a:cubicBezTo>
                  <a:cubicBezTo>
                    <a:pt x="45" y="26"/>
                    <a:pt x="45" y="24"/>
                    <a:pt x="45" y="24"/>
                  </a:cubicBezTo>
                  <a:cubicBezTo>
                    <a:pt x="45" y="24"/>
                    <a:pt x="45" y="25"/>
                    <a:pt x="45" y="26"/>
                  </a:cubicBezTo>
                  <a:cubicBezTo>
                    <a:pt x="45" y="27"/>
                    <a:pt x="45" y="28"/>
                    <a:pt x="44" y="30"/>
                  </a:cubicBezTo>
                  <a:cubicBezTo>
                    <a:pt x="44" y="33"/>
                    <a:pt x="42" y="38"/>
                    <a:pt x="37" y="42"/>
                  </a:cubicBezTo>
                  <a:cubicBezTo>
                    <a:pt x="32" y="46"/>
                    <a:pt x="24" y="49"/>
                    <a:pt x="15" y="46"/>
                  </a:cubicBezTo>
                  <a:cubicBezTo>
                    <a:pt x="11" y="44"/>
                    <a:pt x="8" y="42"/>
                    <a:pt x="5" y="38"/>
                  </a:cubicBezTo>
                  <a:cubicBezTo>
                    <a:pt x="2" y="34"/>
                    <a:pt x="1" y="29"/>
                    <a:pt x="0" y="24"/>
                  </a:cubicBezTo>
                  <a:cubicBezTo>
                    <a:pt x="1" y="19"/>
                    <a:pt x="2" y="15"/>
                    <a:pt x="5" y="11"/>
                  </a:cubicBezTo>
                  <a:cubicBezTo>
                    <a:pt x="8" y="7"/>
                    <a:pt x="11" y="5"/>
                    <a:pt x="15" y="3"/>
                  </a:cubicBezTo>
                  <a:cubicBezTo>
                    <a:pt x="24" y="0"/>
                    <a:pt x="32" y="3"/>
                    <a:pt x="37" y="7"/>
                  </a:cubicBezTo>
                  <a:cubicBezTo>
                    <a:pt x="42" y="11"/>
                    <a:pt x="44" y="16"/>
                    <a:pt x="44" y="19"/>
                  </a:cubicBezTo>
                  <a:cubicBezTo>
                    <a:pt x="45" y="21"/>
                    <a:pt x="45" y="22"/>
                    <a:pt x="45" y="23"/>
                  </a:cubicBezTo>
                  <a:cubicBezTo>
                    <a:pt x="45" y="24"/>
                    <a:pt x="45" y="24"/>
                    <a:pt x="45" y="24"/>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íṧḻïḍe">
              <a:extLst>
                <a:ext uri="{FF2B5EF4-FFF2-40B4-BE49-F238E27FC236}">
                  <a16:creationId xmlns:a16="http://schemas.microsoft.com/office/drawing/2014/main" id="{44CCA984-F0F7-C223-7610-204518F3A54B}"/>
                </a:ext>
              </a:extLst>
            </p:cNvPr>
            <p:cNvSpPr/>
            <p:nvPr/>
          </p:nvSpPr>
          <p:spPr bwMode="auto">
            <a:xfrm>
              <a:off x="6446012" y="5541709"/>
              <a:ext cx="192088" cy="225425"/>
            </a:xfrm>
            <a:custGeom>
              <a:avLst/>
              <a:gdLst>
                <a:gd name="T0" fmla="*/ 0 w 121"/>
                <a:gd name="T1" fmla="*/ 0 h 142"/>
                <a:gd name="T2" fmla="*/ 0 w 121"/>
                <a:gd name="T3" fmla="*/ 83 h 142"/>
                <a:gd name="T4" fmla="*/ 22 w 121"/>
                <a:gd name="T5" fmla="*/ 136 h 142"/>
                <a:gd name="T6" fmla="*/ 72 w 121"/>
                <a:gd name="T7" fmla="*/ 142 h 142"/>
                <a:gd name="T8" fmla="*/ 120 w 121"/>
                <a:gd name="T9" fmla="*/ 88 h 142"/>
                <a:gd name="T10" fmla="*/ 121 w 121"/>
                <a:gd name="T11" fmla="*/ 11 h 142"/>
                <a:gd name="T12" fmla="*/ 0 w 121"/>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121" h="142">
                  <a:moveTo>
                    <a:pt x="0" y="0"/>
                  </a:moveTo>
                  <a:lnTo>
                    <a:pt x="0" y="83"/>
                  </a:lnTo>
                  <a:lnTo>
                    <a:pt x="22" y="136"/>
                  </a:lnTo>
                  <a:lnTo>
                    <a:pt x="72" y="142"/>
                  </a:lnTo>
                  <a:lnTo>
                    <a:pt x="120" y="88"/>
                  </a:lnTo>
                  <a:lnTo>
                    <a:pt x="121" y="1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iŝḻïḑé">
              <a:extLst>
                <a:ext uri="{FF2B5EF4-FFF2-40B4-BE49-F238E27FC236}">
                  <a16:creationId xmlns:a16="http://schemas.microsoft.com/office/drawing/2014/main" id="{86A5F946-09C2-CC25-CC27-7B3FFF0F4CAA}"/>
                </a:ext>
              </a:extLst>
            </p:cNvPr>
            <p:cNvSpPr/>
            <p:nvPr/>
          </p:nvSpPr>
          <p:spPr bwMode="auto">
            <a:xfrm>
              <a:off x="6442837" y="5541709"/>
              <a:ext cx="198438" cy="228600"/>
            </a:xfrm>
            <a:custGeom>
              <a:avLst/>
              <a:gdLst>
                <a:gd name="T0" fmla="*/ 1 w 68"/>
                <a:gd name="T1" fmla="*/ 0 h 78"/>
                <a:gd name="T2" fmla="*/ 5 w 68"/>
                <a:gd name="T3" fmla="*/ 1 h 78"/>
                <a:gd name="T4" fmla="*/ 19 w 68"/>
                <a:gd name="T5" fmla="*/ 1 h 78"/>
                <a:gd name="T6" fmla="*/ 67 w 68"/>
                <a:gd name="T7" fmla="*/ 5 h 78"/>
                <a:gd name="T8" fmla="*/ 68 w 68"/>
                <a:gd name="T9" fmla="*/ 6 h 78"/>
                <a:gd name="T10" fmla="*/ 67 w 68"/>
                <a:gd name="T11" fmla="*/ 48 h 78"/>
                <a:gd name="T12" fmla="*/ 67 w 68"/>
                <a:gd name="T13" fmla="*/ 49 h 78"/>
                <a:gd name="T14" fmla="*/ 56 w 68"/>
                <a:gd name="T15" fmla="*/ 62 h 78"/>
                <a:gd name="T16" fmla="*/ 41 w 68"/>
                <a:gd name="T17" fmla="*/ 78 h 78"/>
                <a:gd name="T18" fmla="*/ 40 w 68"/>
                <a:gd name="T19" fmla="*/ 78 h 78"/>
                <a:gd name="T20" fmla="*/ 13 w 68"/>
                <a:gd name="T21" fmla="*/ 75 h 78"/>
                <a:gd name="T22" fmla="*/ 12 w 68"/>
                <a:gd name="T23" fmla="*/ 75 h 78"/>
                <a:gd name="T24" fmla="*/ 0 w 68"/>
                <a:gd name="T25" fmla="*/ 45 h 78"/>
                <a:gd name="T26" fmla="*/ 0 w 68"/>
                <a:gd name="T27" fmla="*/ 45 h 78"/>
                <a:gd name="T28" fmla="*/ 0 w 68"/>
                <a:gd name="T29" fmla="*/ 12 h 78"/>
                <a:gd name="T30" fmla="*/ 1 w 68"/>
                <a:gd name="T31" fmla="*/ 3 h 78"/>
                <a:gd name="T32" fmla="*/ 1 w 68"/>
                <a:gd name="T33" fmla="*/ 0 h 78"/>
                <a:gd name="T34" fmla="*/ 1 w 68"/>
                <a:gd name="T35" fmla="*/ 4 h 78"/>
                <a:gd name="T36" fmla="*/ 1 w 68"/>
                <a:gd name="T37" fmla="*/ 12 h 78"/>
                <a:gd name="T38" fmla="*/ 1 w 68"/>
                <a:gd name="T39" fmla="*/ 45 h 78"/>
                <a:gd name="T40" fmla="*/ 1 w 68"/>
                <a:gd name="T41" fmla="*/ 44 h 78"/>
                <a:gd name="T42" fmla="*/ 13 w 68"/>
                <a:gd name="T43" fmla="*/ 74 h 78"/>
                <a:gd name="T44" fmla="*/ 13 w 68"/>
                <a:gd name="T45" fmla="*/ 73 h 78"/>
                <a:gd name="T46" fmla="*/ 40 w 68"/>
                <a:gd name="T47" fmla="*/ 76 h 78"/>
                <a:gd name="T48" fmla="*/ 39 w 68"/>
                <a:gd name="T49" fmla="*/ 77 h 78"/>
                <a:gd name="T50" fmla="*/ 54 w 68"/>
                <a:gd name="T51" fmla="*/ 60 h 78"/>
                <a:gd name="T52" fmla="*/ 66 w 68"/>
                <a:gd name="T53" fmla="*/ 48 h 78"/>
                <a:gd name="T54" fmla="*/ 65 w 68"/>
                <a:gd name="T55" fmla="*/ 48 h 78"/>
                <a:gd name="T56" fmla="*/ 66 w 68"/>
                <a:gd name="T57" fmla="*/ 6 h 78"/>
                <a:gd name="T58" fmla="*/ 67 w 68"/>
                <a:gd name="T59" fmla="*/ 7 h 78"/>
                <a:gd name="T60" fmla="*/ 19 w 68"/>
                <a:gd name="T61" fmla="*/ 2 h 78"/>
                <a:gd name="T62" fmla="*/ 6 w 68"/>
                <a:gd name="T63" fmla="*/ 1 h 78"/>
                <a:gd name="T64" fmla="*/ 2 w 68"/>
                <a:gd name="T65" fmla="*/ 1 h 78"/>
                <a:gd name="T66" fmla="*/ 1 w 68"/>
                <a:gd name="T6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8" h="78">
                  <a:moveTo>
                    <a:pt x="1" y="0"/>
                  </a:moveTo>
                  <a:cubicBezTo>
                    <a:pt x="1" y="0"/>
                    <a:pt x="2" y="0"/>
                    <a:pt x="5" y="1"/>
                  </a:cubicBezTo>
                  <a:cubicBezTo>
                    <a:pt x="9" y="1"/>
                    <a:pt x="13" y="1"/>
                    <a:pt x="19" y="1"/>
                  </a:cubicBezTo>
                  <a:cubicBezTo>
                    <a:pt x="31" y="2"/>
                    <a:pt x="47" y="4"/>
                    <a:pt x="67" y="5"/>
                  </a:cubicBezTo>
                  <a:cubicBezTo>
                    <a:pt x="67" y="5"/>
                    <a:pt x="68" y="5"/>
                    <a:pt x="68" y="6"/>
                  </a:cubicBezTo>
                  <a:cubicBezTo>
                    <a:pt x="68" y="19"/>
                    <a:pt x="67" y="33"/>
                    <a:pt x="67" y="48"/>
                  </a:cubicBezTo>
                  <a:cubicBezTo>
                    <a:pt x="67" y="48"/>
                    <a:pt x="67" y="49"/>
                    <a:pt x="67" y="49"/>
                  </a:cubicBezTo>
                  <a:cubicBezTo>
                    <a:pt x="63" y="53"/>
                    <a:pt x="60" y="57"/>
                    <a:pt x="56" y="62"/>
                  </a:cubicBezTo>
                  <a:cubicBezTo>
                    <a:pt x="51" y="67"/>
                    <a:pt x="46" y="73"/>
                    <a:pt x="41" y="78"/>
                  </a:cubicBezTo>
                  <a:cubicBezTo>
                    <a:pt x="41" y="78"/>
                    <a:pt x="40" y="78"/>
                    <a:pt x="40" y="78"/>
                  </a:cubicBezTo>
                  <a:cubicBezTo>
                    <a:pt x="30" y="77"/>
                    <a:pt x="21" y="76"/>
                    <a:pt x="13" y="75"/>
                  </a:cubicBezTo>
                  <a:cubicBezTo>
                    <a:pt x="12" y="75"/>
                    <a:pt x="12" y="75"/>
                    <a:pt x="12" y="75"/>
                  </a:cubicBezTo>
                  <a:cubicBezTo>
                    <a:pt x="7" y="64"/>
                    <a:pt x="3" y="54"/>
                    <a:pt x="0" y="45"/>
                  </a:cubicBezTo>
                  <a:cubicBezTo>
                    <a:pt x="0" y="45"/>
                    <a:pt x="0" y="45"/>
                    <a:pt x="0" y="45"/>
                  </a:cubicBezTo>
                  <a:cubicBezTo>
                    <a:pt x="0" y="31"/>
                    <a:pt x="0" y="20"/>
                    <a:pt x="0" y="12"/>
                  </a:cubicBezTo>
                  <a:cubicBezTo>
                    <a:pt x="1" y="8"/>
                    <a:pt x="1" y="5"/>
                    <a:pt x="1" y="3"/>
                  </a:cubicBezTo>
                  <a:cubicBezTo>
                    <a:pt x="1" y="1"/>
                    <a:pt x="1" y="0"/>
                    <a:pt x="1" y="0"/>
                  </a:cubicBezTo>
                  <a:cubicBezTo>
                    <a:pt x="1" y="0"/>
                    <a:pt x="1" y="2"/>
                    <a:pt x="1" y="4"/>
                  </a:cubicBezTo>
                  <a:cubicBezTo>
                    <a:pt x="1" y="6"/>
                    <a:pt x="1" y="9"/>
                    <a:pt x="1" y="12"/>
                  </a:cubicBezTo>
                  <a:cubicBezTo>
                    <a:pt x="1" y="20"/>
                    <a:pt x="1" y="31"/>
                    <a:pt x="1" y="45"/>
                  </a:cubicBezTo>
                  <a:cubicBezTo>
                    <a:pt x="1" y="44"/>
                    <a:pt x="1" y="44"/>
                    <a:pt x="1" y="44"/>
                  </a:cubicBezTo>
                  <a:cubicBezTo>
                    <a:pt x="5" y="53"/>
                    <a:pt x="9" y="63"/>
                    <a:pt x="13" y="74"/>
                  </a:cubicBezTo>
                  <a:cubicBezTo>
                    <a:pt x="13" y="73"/>
                    <a:pt x="13" y="73"/>
                    <a:pt x="13" y="73"/>
                  </a:cubicBezTo>
                  <a:cubicBezTo>
                    <a:pt x="21" y="74"/>
                    <a:pt x="31" y="75"/>
                    <a:pt x="40" y="76"/>
                  </a:cubicBezTo>
                  <a:cubicBezTo>
                    <a:pt x="39" y="77"/>
                    <a:pt x="39" y="77"/>
                    <a:pt x="39" y="77"/>
                  </a:cubicBezTo>
                  <a:cubicBezTo>
                    <a:pt x="44" y="71"/>
                    <a:pt x="49" y="66"/>
                    <a:pt x="54" y="60"/>
                  </a:cubicBezTo>
                  <a:cubicBezTo>
                    <a:pt x="58" y="56"/>
                    <a:pt x="62" y="52"/>
                    <a:pt x="66" y="48"/>
                  </a:cubicBezTo>
                  <a:cubicBezTo>
                    <a:pt x="65" y="48"/>
                    <a:pt x="65" y="48"/>
                    <a:pt x="65" y="48"/>
                  </a:cubicBezTo>
                  <a:cubicBezTo>
                    <a:pt x="66" y="33"/>
                    <a:pt x="66" y="19"/>
                    <a:pt x="66" y="6"/>
                  </a:cubicBezTo>
                  <a:cubicBezTo>
                    <a:pt x="67" y="7"/>
                    <a:pt x="67" y="7"/>
                    <a:pt x="67" y="7"/>
                  </a:cubicBezTo>
                  <a:cubicBezTo>
                    <a:pt x="47" y="5"/>
                    <a:pt x="31" y="3"/>
                    <a:pt x="19" y="2"/>
                  </a:cubicBezTo>
                  <a:cubicBezTo>
                    <a:pt x="14" y="2"/>
                    <a:pt x="9" y="1"/>
                    <a:pt x="6" y="1"/>
                  </a:cubicBezTo>
                  <a:cubicBezTo>
                    <a:pt x="4" y="1"/>
                    <a:pt x="3" y="1"/>
                    <a:pt x="2" y="1"/>
                  </a:cubicBezTo>
                  <a:cubicBezTo>
                    <a:pt x="1" y="0"/>
                    <a:pt x="1" y="0"/>
                    <a:pt x="1" y="0"/>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iṣḷiḋe">
              <a:extLst>
                <a:ext uri="{FF2B5EF4-FFF2-40B4-BE49-F238E27FC236}">
                  <a16:creationId xmlns:a16="http://schemas.microsoft.com/office/drawing/2014/main" id="{7481548D-8687-73BB-61CA-4E1853F5F22A}"/>
                </a:ext>
              </a:extLst>
            </p:cNvPr>
            <p:cNvSpPr/>
            <p:nvPr/>
          </p:nvSpPr>
          <p:spPr bwMode="auto">
            <a:xfrm>
              <a:off x="6103112" y="5643309"/>
              <a:ext cx="569913" cy="263525"/>
            </a:xfrm>
            <a:custGeom>
              <a:avLst/>
              <a:gdLst>
                <a:gd name="T0" fmla="*/ 194 w 195"/>
                <a:gd name="T1" fmla="*/ 90 h 90"/>
                <a:gd name="T2" fmla="*/ 192 w 195"/>
                <a:gd name="T3" fmla="*/ 20 h 90"/>
                <a:gd name="T4" fmla="*/ 188 w 195"/>
                <a:gd name="T5" fmla="*/ 6 h 90"/>
                <a:gd name="T6" fmla="*/ 175 w 195"/>
                <a:gd name="T7" fmla="*/ 8 h 90"/>
                <a:gd name="T8" fmla="*/ 166 w 195"/>
                <a:gd name="T9" fmla="*/ 17 h 90"/>
                <a:gd name="T10" fmla="*/ 136 w 195"/>
                <a:gd name="T11" fmla="*/ 23 h 90"/>
                <a:gd name="T12" fmla="*/ 116 w 195"/>
                <a:gd name="T13" fmla="*/ 0 h 90"/>
                <a:gd name="T14" fmla="*/ 22 w 195"/>
                <a:gd name="T15" fmla="*/ 55 h 90"/>
                <a:gd name="T16" fmla="*/ 5 w 195"/>
                <a:gd name="T17" fmla="*/ 69 h 90"/>
                <a:gd name="T18" fmla="*/ 5 w 195"/>
                <a:gd name="T19" fmla="*/ 90 h 90"/>
                <a:gd name="T20" fmla="*/ 194 w 195"/>
                <a:gd name="T2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5" h="90">
                  <a:moveTo>
                    <a:pt x="194" y="90"/>
                  </a:moveTo>
                  <a:cubicBezTo>
                    <a:pt x="195" y="63"/>
                    <a:pt x="191" y="47"/>
                    <a:pt x="192" y="20"/>
                  </a:cubicBezTo>
                  <a:cubicBezTo>
                    <a:pt x="192" y="15"/>
                    <a:pt x="192" y="9"/>
                    <a:pt x="188" y="6"/>
                  </a:cubicBezTo>
                  <a:cubicBezTo>
                    <a:pt x="184" y="4"/>
                    <a:pt x="179" y="5"/>
                    <a:pt x="175" y="8"/>
                  </a:cubicBezTo>
                  <a:cubicBezTo>
                    <a:pt x="172" y="10"/>
                    <a:pt x="169" y="14"/>
                    <a:pt x="166" y="17"/>
                  </a:cubicBezTo>
                  <a:cubicBezTo>
                    <a:pt x="158" y="24"/>
                    <a:pt x="146" y="27"/>
                    <a:pt x="136" y="23"/>
                  </a:cubicBezTo>
                  <a:cubicBezTo>
                    <a:pt x="126" y="20"/>
                    <a:pt x="118" y="11"/>
                    <a:pt x="116" y="0"/>
                  </a:cubicBezTo>
                  <a:cubicBezTo>
                    <a:pt x="85" y="19"/>
                    <a:pt x="54" y="37"/>
                    <a:pt x="22" y="55"/>
                  </a:cubicBezTo>
                  <a:cubicBezTo>
                    <a:pt x="16" y="59"/>
                    <a:pt x="9" y="63"/>
                    <a:pt x="5" y="69"/>
                  </a:cubicBezTo>
                  <a:cubicBezTo>
                    <a:pt x="1" y="75"/>
                    <a:pt x="0" y="84"/>
                    <a:pt x="5" y="90"/>
                  </a:cubicBezTo>
                  <a:lnTo>
                    <a:pt x="194" y="90"/>
                  </a:ln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íŝľiḑe">
              <a:extLst>
                <a:ext uri="{FF2B5EF4-FFF2-40B4-BE49-F238E27FC236}">
                  <a16:creationId xmlns:a16="http://schemas.microsoft.com/office/drawing/2014/main" id="{82F19ADC-C005-2A64-19B1-5A2A7D52D858}"/>
                </a:ext>
              </a:extLst>
            </p:cNvPr>
            <p:cNvSpPr/>
            <p:nvPr/>
          </p:nvSpPr>
          <p:spPr bwMode="auto">
            <a:xfrm>
              <a:off x="6107875" y="5860797"/>
              <a:ext cx="565150" cy="42863"/>
            </a:xfrm>
            <a:custGeom>
              <a:avLst/>
              <a:gdLst>
                <a:gd name="T0" fmla="*/ 187 w 193"/>
                <a:gd name="T1" fmla="*/ 2 h 15"/>
                <a:gd name="T2" fmla="*/ 1 w 193"/>
                <a:gd name="T3" fmla="*/ 0 h 15"/>
                <a:gd name="T4" fmla="*/ 3 w 193"/>
                <a:gd name="T5" fmla="*/ 14 h 15"/>
                <a:gd name="T6" fmla="*/ 193 w 193"/>
                <a:gd name="T7" fmla="*/ 15 h 15"/>
                <a:gd name="T8" fmla="*/ 193 w 193"/>
                <a:gd name="T9" fmla="*/ 2 h 15"/>
                <a:gd name="T10" fmla="*/ 187 w 193"/>
                <a:gd name="T11" fmla="*/ 2 h 15"/>
              </a:gdLst>
              <a:ahLst/>
              <a:cxnLst>
                <a:cxn ang="0">
                  <a:pos x="T0" y="T1"/>
                </a:cxn>
                <a:cxn ang="0">
                  <a:pos x="T2" y="T3"/>
                </a:cxn>
                <a:cxn ang="0">
                  <a:pos x="T4" y="T5"/>
                </a:cxn>
                <a:cxn ang="0">
                  <a:pos x="T6" y="T7"/>
                </a:cxn>
                <a:cxn ang="0">
                  <a:pos x="T8" y="T9"/>
                </a:cxn>
                <a:cxn ang="0">
                  <a:pos x="T10" y="T11"/>
                </a:cxn>
              </a:cxnLst>
              <a:rect l="0" t="0" r="r" b="b"/>
              <a:pathLst>
                <a:path w="193" h="15">
                  <a:moveTo>
                    <a:pt x="187" y="2"/>
                  </a:moveTo>
                  <a:cubicBezTo>
                    <a:pt x="125" y="1"/>
                    <a:pt x="63" y="1"/>
                    <a:pt x="1" y="0"/>
                  </a:cubicBezTo>
                  <a:cubicBezTo>
                    <a:pt x="0" y="5"/>
                    <a:pt x="0" y="11"/>
                    <a:pt x="3" y="14"/>
                  </a:cubicBezTo>
                  <a:cubicBezTo>
                    <a:pt x="193" y="15"/>
                    <a:pt x="193" y="15"/>
                    <a:pt x="193" y="15"/>
                  </a:cubicBezTo>
                  <a:cubicBezTo>
                    <a:pt x="193" y="10"/>
                    <a:pt x="193" y="6"/>
                    <a:pt x="193" y="2"/>
                  </a:cubicBezTo>
                  <a:lnTo>
                    <a:pt x="187"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iṧḷídè">
              <a:extLst>
                <a:ext uri="{FF2B5EF4-FFF2-40B4-BE49-F238E27FC236}">
                  <a16:creationId xmlns:a16="http://schemas.microsoft.com/office/drawing/2014/main" id="{5CBAF3F6-66B4-6AD4-F10B-64FB9F536EA3}"/>
                </a:ext>
              </a:extLst>
            </p:cNvPr>
            <p:cNvSpPr/>
            <p:nvPr/>
          </p:nvSpPr>
          <p:spPr bwMode="auto">
            <a:xfrm>
              <a:off x="6106287" y="5857622"/>
              <a:ext cx="566738" cy="49213"/>
            </a:xfrm>
            <a:custGeom>
              <a:avLst/>
              <a:gdLst>
                <a:gd name="T0" fmla="*/ 188 w 194"/>
                <a:gd name="T1" fmla="*/ 3 h 17"/>
                <a:gd name="T2" fmla="*/ 190 w 194"/>
                <a:gd name="T3" fmla="*/ 3 h 17"/>
                <a:gd name="T4" fmla="*/ 194 w 194"/>
                <a:gd name="T5" fmla="*/ 3 h 17"/>
                <a:gd name="T6" fmla="*/ 194 w 194"/>
                <a:gd name="T7" fmla="*/ 3 h 17"/>
                <a:gd name="T8" fmla="*/ 194 w 194"/>
                <a:gd name="T9" fmla="*/ 3 h 17"/>
                <a:gd name="T10" fmla="*/ 194 w 194"/>
                <a:gd name="T11" fmla="*/ 16 h 17"/>
                <a:gd name="T12" fmla="*/ 194 w 194"/>
                <a:gd name="T13" fmla="*/ 16 h 17"/>
                <a:gd name="T14" fmla="*/ 194 w 194"/>
                <a:gd name="T15" fmla="*/ 16 h 17"/>
                <a:gd name="T16" fmla="*/ 194 w 194"/>
                <a:gd name="T17" fmla="*/ 16 h 17"/>
                <a:gd name="T18" fmla="*/ 7 w 194"/>
                <a:gd name="T19" fmla="*/ 17 h 17"/>
                <a:gd name="T20" fmla="*/ 4 w 194"/>
                <a:gd name="T21" fmla="*/ 17 h 17"/>
                <a:gd name="T22" fmla="*/ 4 w 194"/>
                <a:gd name="T23" fmla="*/ 16 h 17"/>
                <a:gd name="T24" fmla="*/ 1 w 194"/>
                <a:gd name="T25" fmla="*/ 1 h 17"/>
                <a:gd name="T26" fmla="*/ 2 w 194"/>
                <a:gd name="T27" fmla="*/ 0 h 17"/>
                <a:gd name="T28" fmla="*/ 134 w 194"/>
                <a:gd name="T29" fmla="*/ 2 h 17"/>
                <a:gd name="T30" fmla="*/ 174 w 194"/>
                <a:gd name="T31" fmla="*/ 2 h 17"/>
                <a:gd name="T32" fmla="*/ 185 w 194"/>
                <a:gd name="T33" fmla="*/ 2 h 17"/>
                <a:gd name="T34" fmla="*/ 187 w 194"/>
                <a:gd name="T35" fmla="*/ 3 h 17"/>
                <a:gd name="T36" fmla="*/ 188 w 194"/>
                <a:gd name="T37" fmla="*/ 3 h 17"/>
                <a:gd name="T38" fmla="*/ 187 w 194"/>
                <a:gd name="T39" fmla="*/ 3 h 17"/>
                <a:gd name="T40" fmla="*/ 185 w 194"/>
                <a:gd name="T41" fmla="*/ 3 h 17"/>
                <a:gd name="T42" fmla="*/ 174 w 194"/>
                <a:gd name="T43" fmla="*/ 3 h 17"/>
                <a:gd name="T44" fmla="*/ 134 w 194"/>
                <a:gd name="T45" fmla="*/ 3 h 17"/>
                <a:gd name="T46" fmla="*/ 2 w 194"/>
                <a:gd name="T47" fmla="*/ 3 h 17"/>
                <a:gd name="T48" fmla="*/ 3 w 194"/>
                <a:gd name="T49" fmla="*/ 2 h 17"/>
                <a:gd name="T50" fmla="*/ 5 w 194"/>
                <a:gd name="T51" fmla="*/ 15 h 17"/>
                <a:gd name="T52" fmla="*/ 4 w 194"/>
                <a:gd name="T53" fmla="*/ 14 h 17"/>
                <a:gd name="T54" fmla="*/ 8 w 194"/>
                <a:gd name="T55" fmla="*/ 14 h 17"/>
                <a:gd name="T56" fmla="*/ 194 w 194"/>
                <a:gd name="T57" fmla="*/ 15 h 17"/>
                <a:gd name="T58" fmla="*/ 193 w 194"/>
                <a:gd name="T59" fmla="*/ 16 h 17"/>
                <a:gd name="T60" fmla="*/ 193 w 194"/>
                <a:gd name="T61" fmla="*/ 3 h 17"/>
                <a:gd name="T62" fmla="*/ 194 w 194"/>
                <a:gd name="T63" fmla="*/ 3 h 17"/>
                <a:gd name="T64" fmla="*/ 190 w 194"/>
                <a:gd name="T65" fmla="*/ 3 h 17"/>
                <a:gd name="T66" fmla="*/ 188 w 194"/>
                <a:gd name="T67"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7">
                  <a:moveTo>
                    <a:pt x="188" y="3"/>
                  </a:moveTo>
                  <a:cubicBezTo>
                    <a:pt x="188" y="3"/>
                    <a:pt x="189" y="3"/>
                    <a:pt x="190" y="3"/>
                  </a:cubicBezTo>
                  <a:cubicBezTo>
                    <a:pt x="191" y="3"/>
                    <a:pt x="192" y="3"/>
                    <a:pt x="194" y="3"/>
                  </a:cubicBezTo>
                  <a:cubicBezTo>
                    <a:pt x="194" y="3"/>
                    <a:pt x="194" y="3"/>
                    <a:pt x="194" y="3"/>
                  </a:cubicBezTo>
                  <a:cubicBezTo>
                    <a:pt x="194" y="3"/>
                    <a:pt x="194" y="3"/>
                    <a:pt x="194" y="3"/>
                  </a:cubicBezTo>
                  <a:cubicBezTo>
                    <a:pt x="194" y="6"/>
                    <a:pt x="194" y="10"/>
                    <a:pt x="194" y="16"/>
                  </a:cubicBezTo>
                  <a:cubicBezTo>
                    <a:pt x="194" y="16"/>
                    <a:pt x="194" y="16"/>
                    <a:pt x="194" y="16"/>
                  </a:cubicBezTo>
                  <a:cubicBezTo>
                    <a:pt x="194" y="16"/>
                    <a:pt x="194" y="16"/>
                    <a:pt x="194" y="16"/>
                  </a:cubicBezTo>
                  <a:cubicBezTo>
                    <a:pt x="194" y="16"/>
                    <a:pt x="194" y="16"/>
                    <a:pt x="194" y="16"/>
                  </a:cubicBezTo>
                  <a:cubicBezTo>
                    <a:pt x="162" y="17"/>
                    <a:pt x="90" y="17"/>
                    <a:pt x="7" y="17"/>
                  </a:cubicBezTo>
                  <a:cubicBezTo>
                    <a:pt x="4" y="17"/>
                    <a:pt x="4" y="17"/>
                    <a:pt x="4" y="17"/>
                  </a:cubicBezTo>
                  <a:cubicBezTo>
                    <a:pt x="4" y="17"/>
                    <a:pt x="4" y="16"/>
                    <a:pt x="4" y="16"/>
                  </a:cubicBezTo>
                  <a:cubicBezTo>
                    <a:pt x="0" y="12"/>
                    <a:pt x="0" y="6"/>
                    <a:pt x="1" y="1"/>
                  </a:cubicBezTo>
                  <a:cubicBezTo>
                    <a:pt x="1" y="1"/>
                    <a:pt x="1" y="0"/>
                    <a:pt x="2" y="0"/>
                  </a:cubicBezTo>
                  <a:cubicBezTo>
                    <a:pt x="54" y="1"/>
                    <a:pt x="101" y="1"/>
                    <a:pt x="134" y="2"/>
                  </a:cubicBezTo>
                  <a:cubicBezTo>
                    <a:pt x="151" y="2"/>
                    <a:pt x="164" y="2"/>
                    <a:pt x="174" y="2"/>
                  </a:cubicBezTo>
                  <a:cubicBezTo>
                    <a:pt x="178" y="2"/>
                    <a:pt x="182" y="2"/>
                    <a:pt x="185" y="2"/>
                  </a:cubicBezTo>
                  <a:cubicBezTo>
                    <a:pt x="186" y="3"/>
                    <a:pt x="187" y="3"/>
                    <a:pt x="187" y="3"/>
                  </a:cubicBezTo>
                  <a:cubicBezTo>
                    <a:pt x="188" y="3"/>
                    <a:pt x="188" y="3"/>
                    <a:pt x="188" y="3"/>
                  </a:cubicBezTo>
                  <a:cubicBezTo>
                    <a:pt x="188" y="3"/>
                    <a:pt x="188" y="3"/>
                    <a:pt x="187" y="3"/>
                  </a:cubicBezTo>
                  <a:cubicBezTo>
                    <a:pt x="187" y="3"/>
                    <a:pt x="186" y="3"/>
                    <a:pt x="185" y="3"/>
                  </a:cubicBezTo>
                  <a:cubicBezTo>
                    <a:pt x="182" y="3"/>
                    <a:pt x="178" y="3"/>
                    <a:pt x="174" y="3"/>
                  </a:cubicBezTo>
                  <a:cubicBezTo>
                    <a:pt x="164" y="3"/>
                    <a:pt x="151" y="3"/>
                    <a:pt x="134" y="3"/>
                  </a:cubicBezTo>
                  <a:cubicBezTo>
                    <a:pt x="101" y="3"/>
                    <a:pt x="54" y="3"/>
                    <a:pt x="2" y="3"/>
                  </a:cubicBezTo>
                  <a:cubicBezTo>
                    <a:pt x="3" y="2"/>
                    <a:pt x="3" y="2"/>
                    <a:pt x="3" y="2"/>
                  </a:cubicBezTo>
                  <a:cubicBezTo>
                    <a:pt x="2" y="6"/>
                    <a:pt x="2" y="11"/>
                    <a:pt x="5" y="15"/>
                  </a:cubicBezTo>
                  <a:cubicBezTo>
                    <a:pt x="4" y="14"/>
                    <a:pt x="4" y="14"/>
                    <a:pt x="4" y="14"/>
                  </a:cubicBezTo>
                  <a:cubicBezTo>
                    <a:pt x="8" y="14"/>
                    <a:pt x="8" y="14"/>
                    <a:pt x="8" y="14"/>
                  </a:cubicBezTo>
                  <a:cubicBezTo>
                    <a:pt x="90" y="15"/>
                    <a:pt x="162" y="15"/>
                    <a:pt x="194" y="15"/>
                  </a:cubicBezTo>
                  <a:cubicBezTo>
                    <a:pt x="193" y="16"/>
                    <a:pt x="193" y="16"/>
                    <a:pt x="193" y="16"/>
                  </a:cubicBezTo>
                  <a:cubicBezTo>
                    <a:pt x="193" y="10"/>
                    <a:pt x="193" y="6"/>
                    <a:pt x="193" y="3"/>
                  </a:cubicBezTo>
                  <a:cubicBezTo>
                    <a:pt x="194" y="3"/>
                    <a:pt x="194" y="3"/>
                    <a:pt x="194" y="3"/>
                  </a:cubicBezTo>
                  <a:cubicBezTo>
                    <a:pt x="192" y="3"/>
                    <a:pt x="191" y="3"/>
                    <a:pt x="190" y="3"/>
                  </a:cubicBezTo>
                  <a:cubicBezTo>
                    <a:pt x="189" y="3"/>
                    <a:pt x="188" y="3"/>
                    <a:pt x="188" y="3"/>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ísḻîḋe">
              <a:extLst>
                <a:ext uri="{FF2B5EF4-FFF2-40B4-BE49-F238E27FC236}">
                  <a16:creationId xmlns:a16="http://schemas.microsoft.com/office/drawing/2014/main" id="{A936179F-257A-2479-38ED-852E88AAFCA9}"/>
                </a:ext>
              </a:extLst>
            </p:cNvPr>
            <p:cNvSpPr/>
            <p:nvPr/>
          </p:nvSpPr>
          <p:spPr bwMode="auto">
            <a:xfrm>
              <a:off x="6703187" y="2769934"/>
              <a:ext cx="76200" cy="84138"/>
            </a:xfrm>
            <a:custGeom>
              <a:avLst/>
              <a:gdLst>
                <a:gd name="T0" fmla="*/ 2 w 26"/>
                <a:gd name="T1" fmla="*/ 15 h 29"/>
                <a:gd name="T2" fmla="*/ 8 w 26"/>
                <a:gd name="T3" fmla="*/ 29 h 29"/>
                <a:gd name="T4" fmla="*/ 23 w 26"/>
                <a:gd name="T5" fmla="*/ 28 h 29"/>
                <a:gd name="T6" fmla="*/ 26 w 26"/>
                <a:gd name="T7" fmla="*/ 13 h 29"/>
                <a:gd name="T8" fmla="*/ 17 w 26"/>
                <a:gd name="T9" fmla="*/ 0 h 29"/>
                <a:gd name="T10" fmla="*/ 8 w 26"/>
                <a:gd name="T11" fmla="*/ 2 h 29"/>
                <a:gd name="T12" fmla="*/ 2 w 26"/>
                <a:gd name="T13" fmla="*/ 15 h 29"/>
              </a:gdLst>
              <a:ahLst/>
              <a:cxnLst>
                <a:cxn ang="0">
                  <a:pos x="T0" y="T1"/>
                </a:cxn>
                <a:cxn ang="0">
                  <a:pos x="T2" y="T3"/>
                </a:cxn>
                <a:cxn ang="0">
                  <a:pos x="T4" y="T5"/>
                </a:cxn>
                <a:cxn ang="0">
                  <a:pos x="T6" y="T7"/>
                </a:cxn>
                <a:cxn ang="0">
                  <a:pos x="T8" y="T9"/>
                </a:cxn>
                <a:cxn ang="0">
                  <a:pos x="T10" y="T11"/>
                </a:cxn>
                <a:cxn ang="0">
                  <a:pos x="T12" y="T13"/>
                </a:cxn>
              </a:cxnLst>
              <a:rect l="0" t="0" r="r" b="b"/>
              <a:pathLst>
                <a:path w="26" h="29">
                  <a:moveTo>
                    <a:pt x="2" y="15"/>
                  </a:moveTo>
                  <a:cubicBezTo>
                    <a:pt x="0" y="15"/>
                    <a:pt x="8" y="29"/>
                    <a:pt x="8" y="29"/>
                  </a:cubicBezTo>
                  <a:cubicBezTo>
                    <a:pt x="23" y="28"/>
                    <a:pt x="23" y="28"/>
                    <a:pt x="23" y="28"/>
                  </a:cubicBezTo>
                  <a:cubicBezTo>
                    <a:pt x="26" y="13"/>
                    <a:pt x="26" y="13"/>
                    <a:pt x="26" y="13"/>
                  </a:cubicBezTo>
                  <a:cubicBezTo>
                    <a:pt x="17" y="0"/>
                    <a:pt x="17" y="0"/>
                    <a:pt x="17" y="0"/>
                  </a:cubicBezTo>
                  <a:cubicBezTo>
                    <a:pt x="8" y="2"/>
                    <a:pt x="8" y="2"/>
                    <a:pt x="8" y="2"/>
                  </a:cubicBezTo>
                  <a:lnTo>
                    <a:pt x="2" y="15"/>
                  </a:lnTo>
                  <a:close/>
                </a:path>
              </a:pathLst>
            </a:custGeom>
            <a:solidFill>
              <a:srgbClr val="EEB4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iśḻiḑe">
              <a:extLst>
                <a:ext uri="{FF2B5EF4-FFF2-40B4-BE49-F238E27FC236}">
                  <a16:creationId xmlns:a16="http://schemas.microsoft.com/office/drawing/2014/main" id="{95C0FDE8-8DD4-9F38-2DD7-0FFA5148D907}"/>
                </a:ext>
              </a:extLst>
            </p:cNvPr>
            <p:cNvSpPr/>
            <p:nvPr/>
          </p:nvSpPr>
          <p:spPr bwMode="auto">
            <a:xfrm>
              <a:off x="6911150" y="5541709"/>
              <a:ext cx="193675" cy="225425"/>
            </a:xfrm>
            <a:custGeom>
              <a:avLst/>
              <a:gdLst>
                <a:gd name="T0" fmla="*/ 0 w 122"/>
                <a:gd name="T1" fmla="*/ 0 h 142"/>
                <a:gd name="T2" fmla="*/ 0 w 122"/>
                <a:gd name="T3" fmla="*/ 83 h 142"/>
                <a:gd name="T4" fmla="*/ 22 w 122"/>
                <a:gd name="T5" fmla="*/ 136 h 142"/>
                <a:gd name="T6" fmla="*/ 72 w 122"/>
                <a:gd name="T7" fmla="*/ 142 h 142"/>
                <a:gd name="T8" fmla="*/ 120 w 122"/>
                <a:gd name="T9" fmla="*/ 88 h 142"/>
                <a:gd name="T10" fmla="*/ 122 w 122"/>
                <a:gd name="T11" fmla="*/ 11 h 142"/>
                <a:gd name="T12" fmla="*/ 0 w 122"/>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122" h="142">
                  <a:moveTo>
                    <a:pt x="0" y="0"/>
                  </a:moveTo>
                  <a:lnTo>
                    <a:pt x="0" y="83"/>
                  </a:lnTo>
                  <a:lnTo>
                    <a:pt x="22" y="136"/>
                  </a:lnTo>
                  <a:lnTo>
                    <a:pt x="72" y="142"/>
                  </a:lnTo>
                  <a:lnTo>
                    <a:pt x="120" y="88"/>
                  </a:lnTo>
                  <a:lnTo>
                    <a:pt x="122" y="1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îṩlîḑé">
              <a:extLst>
                <a:ext uri="{FF2B5EF4-FFF2-40B4-BE49-F238E27FC236}">
                  <a16:creationId xmlns:a16="http://schemas.microsoft.com/office/drawing/2014/main" id="{FAEF175E-5755-7176-0CA7-96EBF77B42AA}"/>
                </a:ext>
              </a:extLst>
            </p:cNvPr>
            <p:cNvSpPr/>
            <p:nvPr/>
          </p:nvSpPr>
          <p:spPr bwMode="auto">
            <a:xfrm>
              <a:off x="6907975" y="5541709"/>
              <a:ext cx="200025" cy="228600"/>
            </a:xfrm>
            <a:custGeom>
              <a:avLst/>
              <a:gdLst>
                <a:gd name="T0" fmla="*/ 1 w 68"/>
                <a:gd name="T1" fmla="*/ 0 h 78"/>
                <a:gd name="T2" fmla="*/ 5 w 68"/>
                <a:gd name="T3" fmla="*/ 1 h 78"/>
                <a:gd name="T4" fmla="*/ 19 w 68"/>
                <a:gd name="T5" fmla="*/ 1 h 78"/>
                <a:gd name="T6" fmla="*/ 67 w 68"/>
                <a:gd name="T7" fmla="*/ 5 h 78"/>
                <a:gd name="T8" fmla="*/ 68 w 68"/>
                <a:gd name="T9" fmla="*/ 6 h 78"/>
                <a:gd name="T10" fmla="*/ 67 w 68"/>
                <a:gd name="T11" fmla="*/ 48 h 78"/>
                <a:gd name="T12" fmla="*/ 67 w 68"/>
                <a:gd name="T13" fmla="*/ 49 h 78"/>
                <a:gd name="T14" fmla="*/ 55 w 68"/>
                <a:gd name="T15" fmla="*/ 62 h 78"/>
                <a:gd name="T16" fmla="*/ 41 w 68"/>
                <a:gd name="T17" fmla="*/ 78 h 78"/>
                <a:gd name="T18" fmla="*/ 40 w 68"/>
                <a:gd name="T19" fmla="*/ 78 h 78"/>
                <a:gd name="T20" fmla="*/ 12 w 68"/>
                <a:gd name="T21" fmla="*/ 75 h 78"/>
                <a:gd name="T22" fmla="*/ 12 w 68"/>
                <a:gd name="T23" fmla="*/ 75 h 78"/>
                <a:gd name="T24" fmla="*/ 0 w 68"/>
                <a:gd name="T25" fmla="*/ 45 h 78"/>
                <a:gd name="T26" fmla="*/ 0 w 68"/>
                <a:gd name="T27" fmla="*/ 45 h 78"/>
                <a:gd name="T28" fmla="*/ 0 w 68"/>
                <a:gd name="T29" fmla="*/ 12 h 78"/>
                <a:gd name="T30" fmla="*/ 1 w 68"/>
                <a:gd name="T31" fmla="*/ 3 h 78"/>
                <a:gd name="T32" fmla="*/ 1 w 68"/>
                <a:gd name="T33" fmla="*/ 0 h 78"/>
                <a:gd name="T34" fmla="*/ 1 w 68"/>
                <a:gd name="T35" fmla="*/ 4 h 78"/>
                <a:gd name="T36" fmla="*/ 1 w 68"/>
                <a:gd name="T37" fmla="*/ 12 h 78"/>
                <a:gd name="T38" fmla="*/ 1 w 68"/>
                <a:gd name="T39" fmla="*/ 45 h 78"/>
                <a:gd name="T40" fmla="*/ 1 w 68"/>
                <a:gd name="T41" fmla="*/ 44 h 78"/>
                <a:gd name="T42" fmla="*/ 13 w 68"/>
                <a:gd name="T43" fmla="*/ 74 h 78"/>
                <a:gd name="T44" fmla="*/ 13 w 68"/>
                <a:gd name="T45" fmla="*/ 73 h 78"/>
                <a:gd name="T46" fmla="*/ 40 w 68"/>
                <a:gd name="T47" fmla="*/ 76 h 78"/>
                <a:gd name="T48" fmla="*/ 39 w 68"/>
                <a:gd name="T49" fmla="*/ 77 h 78"/>
                <a:gd name="T50" fmla="*/ 54 w 68"/>
                <a:gd name="T51" fmla="*/ 60 h 78"/>
                <a:gd name="T52" fmla="*/ 66 w 68"/>
                <a:gd name="T53" fmla="*/ 48 h 78"/>
                <a:gd name="T54" fmla="*/ 65 w 68"/>
                <a:gd name="T55" fmla="*/ 48 h 78"/>
                <a:gd name="T56" fmla="*/ 66 w 68"/>
                <a:gd name="T57" fmla="*/ 6 h 78"/>
                <a:gd name="T58" fmla="*/ 67 w 68"/>
                <a:gd name="T59" fmla="*/ 7 h 78"/>
                <a:gd name="T60" fmla="*/ 19 w 68"/>
                <a:gd name="T61" fmla="*/ 2 h 78"/>
                <a:gd name="T62" fmla="*/ 6 w 68"/>
                <a:gd name="T63" fmla="*/ 1 h 78"/>
                <a:gd name="T64" fmla="*/ 2 w 68"/>
                <a:gd name="T65" fmla="*/ 1 h 78"/>
                <a:gd name="T66" fmla="*/ 1 w 68"/>
                <a:gd name="T67"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8" h="78">
                  <a:moveTo>
                    <a:pt x="1" y="0"/>
                  </a:moveTo>
                  <a:cubicBezTo>
                    <a:pt x="1" y="0"/>
                    <a:pt x="2" y="0"/>
                    <a:pt x="5" y="1"/>
                  </a:cubicBezTo>
                  <a:cubicBezTo>
                    <a:pt x="9" y="1"/>
                    <a:pt x="13" y="1"/>
                    <a:pt x="19" y="1"/>
                  </a:cubicBezTo>
                  <a:cubicBezTo>
                    <a:pt x="31" y="2"/>
                    <a:pt x="47" y="4"/>
                    <a:pt x="67" y="5"/>
                  </a:cubicBezTo>
                  <a:cubicBezTo>
                    <a:pt x="67" y="5"/>
                    <a:pt x="68" y="5"/>
                    <a:pt x="68" y="6"/>
                  </a:cubicBezTo>
                  <a:cubicBezTo>
                    <a:pt x="67" y="19"/>
                    <a:pt x="67" y="33"/>
                    <a:pt x="67" y="48"/>
                  </a:cubicBezTo>
                  <a:cubicBezTo>
                    <a:pt x="67" y="48"/>
                    <a:pt x="67" y="49"/>
                    <a:pt x="67" y="49"/>
                  </a:cubicBezTo>
                  <a:cubicBezTo>
                    <a:pt x="63" y="53"/>
                    <a:pt x="59" y="57"/>
                    <a:pt x="55" y="62"/>
                  </a:cubicBezTo>
                  <a:cubicBezTo>
                    <a:pt x="51" y="67"/>
                    <a:pt x="46" y="73"/>
                    <a:pt x="41" y="78"/>
                  </a:cubicBezTo>
                  <a:cubicBezTo>
                    <a:pt x="41" y="78"/>
                    <a:pt x="40" y="78"/>
                    <a:pt x="40" y="78"/>
                  </a:cubicBezTo>
                  <a:cubicBezTo>
                    <a:pt x="30" y="77"/>
                    <a:pt x="21" y="76"/>
                    <a:pt x="12" y="75"/>
                  </a:cubicBezTo>
                  <a:cubicBezTo>
                    <a:pt x="12" y="75"/>
                    <a:pt x="12" y="75"/>
                    <a:pt x="12" y="75"/>
                  </a:cubicBezTo>
                  <a:cubicBezTo>
                    <a:pt x="7" y="64"/>
                    <a:pt x="3" y="54"/>
                    <a:pt x="0" y="45"/>
                  </a:cubicBezTo>
                  <a:cubicBezTo>
                    <a:pt x="0" y="45"/>
                    <a:pt x="0" y="45"/>
                    <a:pt x="0" y="45"/>
                  </a:cubicBezTo>
                  <a:cubicBezTo>
                    <a:pt x="0" y="31"/>
                    <a:pt x="0" y="20"/>
                    <a:pt x="0" y="12"/>
                  </a:cubicBezTo>
                  <a:cubicBezTo>
                    <a:pt x="1" y="8"/>
                    <a:pt x="1" y="5"/>
                    <a:pt x="1" y="3"/>
                  </a:cubicBezTo>
                  <a:cubicBezTo>
                    <a:pt x="1" y="1"/>
                    <a:pt x="1" y="0"/>
                    <a:pt x="1" y="0"/>
                  </a:cubicBezTo>
                  <a:cubicBezTo>
                    <a:pt x="1" y="0"/>
                    <a:pt x="1" y="2"/>
                    <a:pt x="1" y="4"/>
                  </a:cubicBezTo>
                  <a:cubicBezTo>
                    <a:pt x="1" y="6"/>
                    <a:pt x="1" y="9"/>
                    <a:pt x="1" y="12"/>
                  </a:cubicBezTo>
                  <a:cubicBezTo>
                    <a:pt x="1" y="20"/>
                    <a:pt x="1" y="31"/>
                    <a:pt x="1" y="45"/>
                  </a:cubicBezTo>
                  <a:cubicBezTo>
                    <a:pt x="1" y="44"/>
                    <a:pt x="1" y="44"/>
                    <a:pt x="1" y="44"/>
                  </a:cubicBezTo>
                  <a:cubicBezTo>
                    <a:pt x="5" y="53"/>
                    <a:pt x="9" y="63"/>
                    <a:pt x="13" y="74"/>
                  </a:cubicBezTo>
                  <a:cubicBezTo>
                    <a:pt x="13" y="73"/>
                    <a:pt x="13" y="73"/>
                    <a:pt x="13" y="73"/>
                  </a:cubicBezTo>
                  <a:cubicBezTo>
                    <a:pt x="21" y="74"/>
                    <a:pt x="31" y="75"/>
                    <a:pt x="40" y="76"/>
                  </a:cubicBezTo>
                  <a:cubicBezTo>
                    <a:pt x="39" y="77"/>
                    <a:pt x="39" y="77"/>
                    <a:pt x="39" y="77"/>
                  </a:cubicBezTo>
                  <a:cubicBezTo>
                    <a:pt x="44" y="71"/>
                    <a:pt x="49" y="66"/>
                    <a:pt x="54" y="60"/>
                  </a:cubicBezTo>
                  <a:cubicBezTo>
                    <a:pt x="58" y="56"/>
                    <a:pt x="62" y="52"/>
                    <a:pt x="66" y="48"/>
                  </a:cubicBezTo>
                  <a:cubicBezTo>
                    <a:pt x="65" y="48"/>
                    <a:pt x="65" y="48"/>
                    <a:pt x="65" y="48"/>
                  </a:cubicBezTo>
                  <a:cubicBezTo>
                    <a:pt x="65" y="33"/>
                    <a:pt x="66" y="19"/>
                    <a:pt x="66" y="6"/>
                  </a:cubicBezTo>
                  <a:cubicBezTo>
                    <a:pt x="67" y="7"/>
                    <a:pt x="67" y="7"/>
                    <a:pt x="67" y="7"/>
                  </a:cubicBezTo>
                  <a:cubicBezTo>
                    <a:pt x="47" y="5"/>
                    <a:pt x="31" y="3"/>
                    <a:pt x="19" y="2"/>
                  </a:cubicBezTo>
                  <a:cubicBezTo>
                    <a:pt x="14" y="2"/>
                    <a:pt x="9" y="1"/>
                    <a:pt x="6" y="1"/>
                  </a:cubicBezTo>
                  <a:cubicBezTo>
                    <a:pt x="4" y="1"/>
                    <a:pt x="3" y="1"/>
                    <a:pt x="2" y="1"/>
                  </a:cubicBezTo>
                  <a:cubicBezTo>
                    <a:pt x="1" y="0"/>
                    <a:pt x="1" y="0"/>
                    <a:pt x="1" y="0"/>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ïŝḻîḍe">
              <a:extLst>
                <a:ext uri="{FF2B5EF4-FFF2-40B4-BE49-F238E27FC236}">
                  <a16:creationId xmlns:a16="http://schemas.microsoft.com/office/drawing/2014/main" id="{8ECC1495-9B3C-5D53-BFF3-B17850074EA8}"/>
                </a:ext>
              </a:extLst>
            </p:cNvPr>
            <p:cNvSpPr/>
            <p:nvPr/>
          </p:nvSpPr>
          <p:spPr bwMode="auto">
            <a:xfrm>
              <a:off x="6568250" y="5643309"/>
              <a:ext cx="571500" cy="269875"/>
            </a:xfrm>
            <a:custGeom>
              <a:avLst/>
              <a:gdLst>
                <a:gd name="T0" fmla="*/ 194 w 195"/>
                <a:gd name="T1" fmla="*/ 92 h 92"/>
                <a:gd name="T2" fmla="*/ 192 w 195"/>
                <a:gd name="T3" fmla="*/ 20 h 92"/>
                <a:gd name="T4" fmla="*/ 188 w 195"/>
                <a:gd name="T5" fmla="*/ 6 h 92"/>
                <a:gd name="T6" fmla="*/ 175 w 195"/>
                <a:gd name="T7" fmla="*/ 8 h 92"/>
                <a:gd name="T8" fmla="*/ 166 w 195"/>
                <a:gd name="T9" fmla="*/ 17 h 92"/>
                <a:gd name="T10" fmla="*/ 136 w 195"/>
                <a:gd name="T11" fmla="*/ 23 h 92"/>
                <a:gd name="T12" fmla="*/ 116 w 195"/>
                <a:gd name="T13" fmla="*/ 0 h 92"/>
                <a:gd name="T14" fmla="*/ 22 w 195"/>
                <a:gd name="T15" fmla="*/ 55 h 92"/>
                <a:gd name="T16" fmla="*/ 5 w 195"/>
                <a:gd name="T17" fmla="*/ 69 h 92"/>
                <a:gd name="T18" fmla="*/ 5 w 195"/>
                <a:gd name="T19" fmla="*/ 90 h 92"/>
                <a:gd name="T20" fmla="*/ 194 w 195"/>
                <a:gd name="T21"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5" h="92">
                  <a:moveTo>
                    <a:pt x="194" y="92"/>
                  </a:moveTo>
                  <a:cubicBezTo>
                    <a:pt x="195" y="64"/>
                    <a:pt x="191" y="47"/>
                    <a:pt x="192" y="20"/>
                  </a:cubicBezTo>
                  <a:cubicBezTo>
                    <a:pt x="192" y="15"/>
                    <a:pt x="192" y="9"/>
                    <a:pt x="188" y="6"/>
                  </a:cubicBezTo>
                  <a:cubicBezTo>
                    <a:pt x="184" y="4"/>
                    <a:pt x="179" y="5"/>
                    <a:pt x="175" y="8"/>
                  </a:cubicBezTo>
                  <a:cubicBezTo>
                    <a:pt x="172" y="10"/>
                    <a:pt x="169" y="14"/>
                    <a:pt x="166" y="17"/>
                  </a:cubicBezTo>
                  <a:cubicBezTo>
                    <a:pt x="158" y="24"/>
                    <a:pt x="146" y="27"/>
                    <a:pt x="136" y="23"/>
                  </a:cubicBezTo>
                  <a:cubicBezTo>
                    <a:pt x="126" y="20"/>
                    <a:pt x="118" y="11"/>
                    <a:pt x="116" y="0"/>
                  </a:cubicBezTo>
                  <a:cubicBezTo>
                    <a:pt x="85" y="19"/>
                    <a:pt x="54" y="37"/>
                    <a:pt x="22" y="55"/>
                  </a:cubicBezTo>
                  <a:cubicBezTo>
                    <a:pt x="16" y="59"/>
                    <a:pt x="9" y="63"/>
                    <a:pt x="5" y="69"/>
                  </a:cubicBezTo>
                  <a:cubicBezTo>
                    <a:pt x="1" y="75"/>
                    <a:pt x="0" y="84"/>
                    <a:pt x="5" y="90"/>
                  </a:cubicBezTo>
                  <a:lnTo>
                    <a:pt x="194" y="92"/>
                  </a:ln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î$lïďé">
              <a:extLst>
                <a:ext uri="{FF2B5EF4-FFF2-40B4-BE49-F238E27FC236}">
                  <a16:creationId xmlns:a16="http://schemas.microsoft.com/office/drawing/2014/main" id="{EBCC749E-6EBE-CF5F-2371-CD0FDEE6042F}"/>
                </a:ext>
              </a:extLst>
            </p:cNvPr>
            <p:cNvSpPr/>
            <p:nvPr/>
          </p:nvSpPr>
          <p:spPr bwMode="auto">
            <a:xfrm>
              <a:off x="6571425" y="5860797"/>
              <a:ext cx="565150" cy="46038"/>
            </a:xfrm>
            <a:custGeom>
              <a:avLst/>
              <a:gdLst>
                <a:gd name="T0" fmla="*/ 188 w 193"/>
                <a:gd name="T1" fmla="*/ 2 h 16"/>
                <a:gd name="T2" fmla="*/ 1 w 193"/>
                <a:gd name="T3" fmla="*/ 0 h 16"/>
                <a:gd name="T4" fmla="*/ 4 w 193"/>
                <a:gd name="T5" fmla="*/ 14 h 16"/>
                <a:gd name="T6" fmla="*/ 193 w 193"/>
                <a:gd name="T7" fmla="*/ 16 h 16"/>
                <a:gd name="T8" fmla="*/ 193 w 193"/>
                <a:gd name="T9" fmla="*/ 2 h 16"/>
                <a:gd name="T10" fmla="*/ 188 w 193"/>
                <a:gd name="T11" fmla="*/ 2 h 16"/>
              </a:gdLst>
              <a:ahLst/>
              <a:cxnLst>
                <a:cxn ang="0">
                  <a:pos x="T0" y="T1"/>
                </a:cxn>
                <a:cxn ang="0">
                  <a:pos x="T2" y="T3"/>
                </a:cxn>
                <a:cxn ang="0">
                  <a:pos x="T4" y="T5"/>
                </a:cxn>
                <a:cxn ang="0">
                  <a:pos x="T6" y="T7"/>
                </a:cxn>
                <a:cxn ang="0">
                  <a:pos x="T8" y="T9"/>
                </a:cxn>
                <a:cxn ang="0">
                  <a:pos x="T10" y="T11"/>
                </a:cxn>
              </a:cxnLst>
              <a:rect l="0" t="0" r="r" b="b"/>
              <a:pathLst>
                <a:path w="193" h="16">
                  <a:moveTo>
                    <a:pt x="188" y="2"/>
                  </a:moveTo>
                  <a:cubicBezTo>
                    <a:pt x="125" y="1"/>
                    <a:pt x="63" y="1"/>
                    <a:pt x="1" y="0"/>
                  </a:cubicBezTo>
                  <a:cubicBezTo>
                    <a:pt x="0" y="5"/>
                    <a:pt x="0" y="11"/>
                    <a:pt x="4" y="14"/>
                  </a:cubicBezTo>
                  <a:cubicBezTo>
                    <a:pt x="193" y="16"/>
                    <a:pt x="193" y="16"/>
                    <a:pt x="193" y="16"/>
                  </a:cubicBezTo>
                  <a:cubicBezTo>
                    <a:pt x="193" y="11"/>
                    <a:pt x="193" y="6"/>
                    <a:pt x="193" y="2"/>
                  </a:cubicBezTo>
                  <a:lnTo>
                    <a:pt x="188" y="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íšļíḍé">
              <a:extLst>
                <a:ext uri="{FF2B5EF4-FFF2-40B4-BE49-F238E27FC236}">
                  <a16:creationId xmlns:a16="http://schemas.microsoft.com/office/drawing/2014/main" id="{E5FCA95D-027E-EC76-C5B8-2F7DAB8E2719}"/>
                </a:ext>
              </a:extLst>
            </p:cNvPr>
            <p:cNvSpPr/>
            <p:nvPr/>
          </p:nvSpPr>
          <p:spPr bwMode="auto">
            <a:xfrm>
              <a:off x="6568250" y="5857622"/>
              <a:ext cx="568325" cy="52388"/>
            </a:xfrm>
            <a:custGeom>
              <a:avLst/>
              <a:gdLst>
                <a:gd name="T0" fmla="*/ 189 w 194"/>
                <a:gd name="T1" fmla="*/ 3 h 18"/>
                <a:gd name="T2" fmla="*/ 190 w 194"/>
                <a:gd name="T3" fmla="*/ 3 h 18"/>
                <a:gd name="T4" fmla="*/ 194 w 194"/>
                <a:gd name="T5" fmla="*/ 3 h 18"/>
                <a:gd name="T6" fmla="*/ 194 w 194"/>
                <a:gd name="T7" fmla="*/ 3 h 18"/>
                <a:gd name="T8" fmla="*/ 194 w 194"/>
                <a:gd name="T9" fmla="*/ 3 h 18"/>
                <a:gd name="T10" fmla="*/ 194 w 194"/>
                <a:gd name="T11" fmla="*/ 17 h 18"/>
                <a:gd name="T12" fmla="*/ 194 w 194"/>
                <a:gd name="T13" fmla="*/ 18 h 18"/>
                <a:gd name="T14" fmla="*/ 194 w 194"/>
                <a:gd name="T15" fmla="*/ 18 h 18"/>
                <a:gd name="T16" fmla="*/ 194 w 194"/>
                <a:gd name="T17" fmla="*/ 18 h 18"/>
                <a:gd name="T18" fmla="*/ 9 w 194"/>
                <a:gd name="T19" fmla="*/ 17 h 18"/>
                <a:gd name="T20" fmla="*/ 5 w 194"/>
                <a:gd name="T21" fmla="*/ 17 h 18"/>
                <a:gd name="T22" fmla="*/ 4 w 194"/>
                <a:gd name="T23" fmla="*/ 16 h 18"/>
                <a:gd name="T24" fmla="*/ 1 w 194"/>
                <a:gd name="T25" fmla="*/ 1 h 18"/>
                <a:gd name="T26" fmla="*/ 2 w 194"/>
                <a:gd name="T27" fmla="*/ 0 h 18"/>
                <a:gd name="T28" fmla="*/ 135 w 194"/>
                <a:gd name="T29" fmla="*/ 2 h 18"/>
                <a:gd name="T30" fmla="*/ 174 w 194"/>
                <a:gd name="T31" fmla="*/ 2 h 18"/>
                <a:gd name="T32" fmla="*/ 185 w 194"/>
                <a:gd name="T33" fmla="*/ 2 h 18"/>
                <a:gd name="T34" fmla="*/ 188 w 194"/>
                <a:gd name="T35" fmla="*/ 3 h 18"/>
                <a:gd name="T36" fmla="*/ 189 w 194"/>
                <a:gd name="T37" fmla="*/ 3 h 18"/>
                <a:gd name="T38" fmla="*/ 188 w 194"/>
                <a:gd name="T39" fmla="*/ 3 h 18"/>
                <a:gd name="T40" fmla="*/ 185 w 194"/>
                <a:gd name="T41" fmla="*/ 3 h 18"/>
                <a:gd name="T42" fmla="*/ 174 w 194"/>
                <a:gd name="T43" fmla="*/ 3 h 18"/>
                <a:gd name="T44" fmla="*/ 135 w 194"/>
                <a:gd name="T45" fmla="*/ 3 h 18"/>
                <a:gd name="T46" fmla="*/ 2 w 194"/>
                <a:gd name="T47" fmla="*/ 3 h 18"/>
                <a:gd name="T48" fmla="*/ 3 w 194"/>
                <a:gd name="T49" fmla="*/ 2 h 18"/>
                <a:gd name="T50" fmla="*/ 5 w 194"/>
                <a:gd name="T51" fmla="*/ 15 h 18"/>
                <a:gd name="T52" fmla="*/ 5 w 194"/>
                <a:gd name="T53" fmla="*/ 14 h 18"/>
                <a:gd name="T54" fmla="*/ 9 w 194"/>
                <a:gd name="T55" fmla="*/ 14 h 18"/>
                <a:gd name="T56" fmla="*/ 194 w 194"/>
                <a:gd name="T57" fmla="*/ 17 h 18"/>
                <a:gd name="T58" fmla="*/ 194 w 194"/>
                <a:gd name="T59" fmla="*/ 17 h 18"/>
                <a:gd name="T60" fmla="*/ 194 w 194"/>
                <a:gd name="T61" fmla="*/ 3 h 18"/>
                <a:gd name="T62" fmla="*/ 194 w 194"/>
                <a:gd name="T63" fmla="*/ 3 h 18"/>
                <a:gd name="T64" fmla="*/ 190 w 194"/>
                <a:gd name="T65" fmla="*/ 3 h 18"/>
                <a:gd name="T66" fmla="*/ 189 w 194"/>
                <a:gd name="T6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8">
                  <a:moveTo>
                    <a:pt x="189" y="3"/>
                  </a:moveTo>
                  <a:cubicBezTo>
                    <a:pt x="189" y="3"/>
                    <a:pt x="189" y="3"/>
                    <a:pt x="190" y="3"/>
                  </a:cubicBezTo>
                  <a:cubicBezTo>
                    <a:pt x="191" y="3"/>
                    <a:pt x="192" y="3"/>
                    <a:pt x="194" y="3"/>
                  </a:cubicBezTo>
                  <a:cubicBezTo>
                    <a:pt x="194" y="3"/>
                    <a:pt x="194" y="3"/>
                    <a:pt x="194" y="3"/>
                  </a:cubicBezTo>
                  <a:cubicBezTo>
                    <a:pt x="194" y="3"/>
                    <a:pt x="194" y="3"/>
                    <a:pt x="194" y="3"/>
                  </a:cubicBezTo>
                  <a:cubicBezTo>
                    <a:pt x="194" y="6"/>
                    <a:pt x="194" y="11"/>
                    <a:pt x="194" y="17"/>
                  </a:cubicBezTo>
                  <a:cubicBezTo>
                    <a:pt x="194" y="18"/>
                    <a:pt x="194" y="18"/>
                    <a:pt x="194" y="18"/>
                  </a:cubicBezTo>
                  <a:cubicBezTo>
                    <a:pt x="194" y="18"/>
                    <a:pt x="194" y="18"/>
                    <a:pt x="194" y="18"/>
                  </a:cubicBezTo>
                  <a:cubicBezTo>
                    <a:pt x="194" y="18"/>
                    <a:pt x="194" y="18"/>
                    <a:pt x="194" y="18"/>
                  </a:cubicBezTo>
                  <a:cubicBezTo>
                    <a:pt x="162" y="18"/>
                    <a:pt x="91" y="17"/>
                    <a:pt x="9" y="17"/>
                  </a:cubicBezTo>
                  <a:cubicBezTo>
                    <a:pt x="7" y="17"/>
                    <a:pt x="6" y="17"/>
                    <a:pt x="5" y="17"/>
                  </a:cubicBezTo>
                  <a:cubicBezTo>
                    <a:pt x="4" y="17"/>
                    <a:pt x="4" y="16"/>
                    <a:pt x="4" y="16"/>
                  </a:cubicBezTo>
                  <a:cubicBezTo>
                    <a:pt x="0" y="12"/>
                    <a:pt x="0" y="6"/>
                    <a:pt x="1" y="1"/>
                  </a:cubicBezTo>
                  <a:cubicBezTo>
                    <a:pt x="1" y="1"/>
                    <a:pt x="2" y="0"/>
                    <a:pt x="2" y="0"/>
                  </a:cubicBezTo>
                  <a:cubicBezTo>
                    <a:pt x="54" y="1"/>
                    <a:pt x="101" y="1"/>
                    <a:pt x="135" y="2"/>
                  </a:cubicBezTo>
                  <a:cubicBezTo>
                    <a:pt x="151" y="2"/>
                    <a:pt x="165" y="2"/>
                    <a:pt x="174" y="2"/>
                  </a:cubicBezTo>
                  <a:cubicBezTo>
                    <a:pt x="179" y="2"/>
                    <a:pt x="182" y="2"/>
                    <a:pt x="185" y="2"/>
                  </a:cubicBezTo>
                  <a:cubicBezTo>
                    <a:pt x="186" y="3"/>
                    <a:pt x="187" y="3"/>
                    <a:pt x="188" y="3"/>
                  </a:cubicBezTo>
                  <a:cubicBezTo>
                    <a:pt x="188" y="3"/>
                    <a:pt x="189" y="3"/>
                    <a:pt x="189" y="3"/>
                  </a:cubicBezTo>
                  <a:cubicBezTo>
                    <a:pt x="189" y="3"/>
                    <a:pt x="188" y="3"/>
                    <a:pt x="188" y="3"/>
                  </a:cubicBezTo>
                  <a:cubicBezTo>
                    <a:pt x="187" y="3"/>
                    <a:pt x="186" y="3"/>
                    <a:pt x="185" y="3"/>
                  </a:cubicBezTo>
                  <a:cubicBezTo>
                    <a:pt x="182" y="3"/>
                    <a:pt x="179" y="3"/>
                    <a:pt x="174" y="3"/>
                  </a:cubicBezTo>
                  <a:cubicBezTo>
                    <a:pt x="165" y="3"/>
                    <a:pt x="151" y="3"/>
                    <a:pt x="135" y="3"/>
                  </a:cubicBezTo>
                  <a:cubicBezTo>
                    <a:pt x="101" y="3"/>
                    <a:pt x="54" y="3"/>
                    <a:pt x="2" y="3"/>
                  </a:cubicBezTo>
                  <a:cubicBezTo>
                    <a:pt x="3" y="2"/>
                    <a:pt x="3" y="2"/>
                    <a:pt x="3" y="2"/>
                  </a:cubicBezTo>
                  <a:cubicBezTo>
                    <a:pt x="2" y="6"/>
                    <a:pt x="2" y="11"/>
                    <a:pt x="5" y="15"/>
                  </a:cubicBezTo>
                  <a:cubicBezTo>
                    <a:pt x="5" y="14"/>
                    <a:pt x="5" y="14"/>
                    <a:pt x="5" y="14"/>
                  </a:cubicBezTo>
                  <a:cubicBezTo>
                    <a:pt x="6" y="14"/>
                    <a:pt x="7" y="14"/>
                    <a:pt x="9" y="14"/>
                  </a:cubicBezTo>
                  <a:cubicBezTo>
                    <a:pt x="91" y="15"/>
                    <a:pt x="162" y="16"/>
                    <a:pt x="194" y="17"/>
                  </a:cubicBezTo>
                  <a:cubicBezTo>
                    <a:pt x="194" y="17"/>
                    <a:pt x="194" y="17"/>
                    <a:pt x="194" y="17"/>
                  </a:cubicBezTo>
                  <a:cubicBezTo>
                    <a:pt x="194" y="11"/>
                    <a:pt x="194" y="6"/>
                    <a:pt x="194" y="3"/>
                  </a:cubicBezTo>
                  <a:cubicBezTo>
                    <a:pt x="194" y="3"/>
                    <a:pt x="194" y="3"/>
                    <a:pt x="194" y="3"/>
                  </a:cubicBezTo>
                  <a:cubicBezTo>
                    <a:pt x="192" y="3"/>
                    <a:pt x="191" y="3"/>
                    <a:pt x="190" y="3"/>
                  </a:cubicBezTo>
                  <a:cubicBezTo>
                    <a:pt x="189" y="3"/>
                    <a:pt x="189" y="3"/>
                    <a:pt x="189" y="3"/>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ïṥľîďê">
              <a:extLst>
                <a:ext uri="{FF2B5EF4-FFF2-40B4-BE49-F238E27FC236}">
                  <a16:creationId xmlns:a16="http://schemas.microsoft.com/office/drawing/2014/main" id="{EE4B4A19-4DCD-4F4A-E9E3-2CF165D12C46}"/>
                </a:ext>
              </a:extLst>
            </p:cNvPr>
            <p:cNvSpPr/>
            <p:nvPr/>
          </p:nvSpPr>
          <p:spPr bwMode="auto">
            <a:xfrm>
              <a:off x="6357112" y="3636709"/>
              <a:ext cx="863600" cy="1951038"/>
            </a:xfrm>
            <a:custGeom>
              <a:avLst/>
              <a:gdLst>
                <a:gd name="T0" fmla="*/ 25 w 295"/>
                <a:gd name="T1" fmla="*/ 0 h 667"/>
                <a:gd name="T2" fmla="*/ 3 w 295"/>
                <a:gd name="T3" fmla="*/ 350 h 667"/>
                <a:gd name="T4" fmla="*/ 0 w 295"/>
                <a:gd name="T5" fmla="*/ 667 h 667"/>
                <a:gd name="T6" fmla="*/ 120 w 295"/>
                <a:gd name="T7" fmla="*/ 667 h 667"/>
                <a:gd name="T8" fmla="*/ 135 w 295"/>
                <a:gd name="T9" fmla="*/ 267 h 667"/>
                <a:gd name="T10" fmla="*/ 157 w 295"/>
                <a:gd name="T11" fmla="*/ 666 h 667"/>
                <a:gd name="T12" fmla="*/ 295 w 295"/>
                <a:gd name="T13" fmla="*/ 666 h 667"/>
                <a:gd name="T14" fmla="*/ 265 w 295"/>
                <a:gd name="T15" fmla="*/ 163 h 667"/>
                <a:gd name="T16" fmla="*/ 270 w 295"/>
                <a:gd name="T17" fmla="*/ 91 h 667"/>
                <a:gd name="T18" fmla="*/ 249 w 295"/>
                <a:gd name="T19" fmla="*/ 0 h 667"/>
                <a:gd name="T20" fmla="*/ 25 w 295"/>
                <a:gd name="T21" fmla="*/ 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5" h="667">
                  <a:moveTo>
                    <a:pt x="25" y="0"/>
                  </a:moveTo>
                  <a:cubicBezTo>
                    <a:pt x="15" y="0"/>
                    <a:pt x="2" y="299"/>
                    <a:pt x="3" y="350"/>
                  </a:cubicBezTo>
                  <a:cubicBezTo>
                    <a:pt x="4" y="401"/>
                    <a:pt x="0" y="667"/>
                    <a:pt x="0" y="667"/>
                  </a:cubicBezTo>
                  <a:cubicBezTo>
                    <a:pt x="120" y="667"/>
                    <a:pt x="120" y="667"/>
                    <a:pt x="120" y="667"/>
                  </a:cubicBezTo>
                  <a:cubicBezTo>
                    <a:pt x="135" y="267"/>
                    <a:pt x="135" y="267"/>
                    <a:pt x="135" y="267"/>
                  </a:cubicBezTo>
                  <a:cubicBezTo>
                    <a:pt x="157" y="666"/>
                    <a:pt x="157" y="666"/>
                    <a:pt x="157" y="666"/>
                  </a:cubicBezTo>
                  <a:cubicBezTo>
                    <a:pt x="295" y="666"/>
                    <a:pt x="295" y="666"/>
                    <a:pt x="295" y="666"/>
                  </a:cubicBezTo>
                  <a:cubicBezTo>
                    <a:pt x="265" y="163"/>
                    <a:pt x="265" y="163"/>
                    <a:pt x="265" y="163"/>
                  </a:cubicBezTo>
                  <a:cubicBezTo>
                    <a:pt x="265" y="163"/>
                    <a:pt x="274" y="122"/>
                    <a:pt x="270" y="91"/>
                  </a:cubicBezTo>
                  <a:cubicBezTo>
                    <a:pt x="266" y="61"/>
                    <a:pt x="249" y="0"/>
                    <a:pt x="249" y="0"/>
                  </a:cubicBezTo>
                  <a:lnTo>
                    <a:pt x="25" y="0"/>
                  </a:ln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í$1íḍe">
              <a:extLst>
                <a:ext uri="{FF2B5EF4-FFF2-40B4-BE49-F238E27FC236}">
                  <a16:creationId xmlns:a16="http://schemas.microsoft.com/office/drawing/2014/main" id="{D782CF37-69F9-0C0F-0315-CE55DAD42757}"/>
                </a:ext>
              </a:extLst>
            </p:cNvPr>
            <p:cNvSpPr/>
            <p:nvPr/>
          </p:nvSpPr>
          <p:spPr bwMode="auto">
            <a:xfrm>
              <a:off x="6738112" y="4043109"/>
              <a:ext cx="79375" cy="1541463"/>
            </a:xfrm>
            <a:custGeom>
              <a:avLst/>
              <a:gdLst>
                <a:gd name="T0" fmla="*/ 27 w 27"/>
                <a:gd name="T1" fmla="*/ 527 h 527"/>
                <a:gd name="T2" fmla="*/ 27 w 27"/>
                <a:gd name="T3" fmla="*/ 525 h 527"/>
                <a:gd name="T4" fmla="*/ 27 w 27"/>
                <a:gd name="T5" fmla="*/ 521 h 527"/>
                <a:gd name="T6" fmla="*/ 26 w 27"/>
                <a:gd name="T7" fmla="*/ 506 h 527"/>
                <a:gd name="T8" fmla="*/ 23 w 27"/>
                <a:gd name="T9" fmla="*/ 450 h 527"/>
                <a:gd name="T10" fmla="*/ 13 w 27"/>
                <a:gd name="T11" fmla="*/ 264 h 527"/>
                <a:gd name="T12" fmla="*/ 3 w 27"/>
                <a:gd name="T13" fmla="*/ 78 h 527"/>
                <a:gd name="T14" fmla="*/ 1 w 27"/>
                <a:gd name="T15" fmla="*/ 21 h 527"/>
                <a:gd name="T16" fmla="*/ 0 w 27"/>
                <a:gd name="T17" fmla="*/ 6 h 527"/>
                <a:gd name="T18" fmla="*/ 0 w 27"/>
                <a:gd name="T19" fmla="*/ 2 h 527"/>
                <a:gd name="T20" fmla="*/ 0 w 27"/>
                <a:gd name="T21" fmla="*/ 0 h 527"/>
                <a:gd name="T22" fmla="*/ 0 w 27"/>
                <a:gd name="T23" fmla="*/ 2 h 527"/>
                <a:gd name="T24" fmla="*/ 1 w 27"/>
                <a:gd name="T25" fmla="*/ 6 h 527"/>
                <a:gd name="T26" fmla="*/ 2 w 27"/>
                <a:gd name="T27" fmla="*/ 21 h 527"/>
                <a:gd name="T28" fmla="*/ 5 w 27"/>
                <a:gd name="T29" fmla="*/ 78 h 527"/>
                <a:gd name="T30" fmla="*/ 15 w 27"/>
                <a:gd name="T31" fmla="*/ 264 h 527"/>
                <a:gd name="T32" fmla="*/ 24 w 27"/>
                <a:gd name="T33" fmla="*/ 450 h 527"/>
                <a:gd name="T34" fmla="*/ 27 w 27"/>
                <a:gd name="T35" fmla="*/ 506 h 527"/>
                <a:gd name="T36" fmla="*/ 27 w 27"/>
                <a:gd name="T37" fmla="*/ 521 h 527"/>
                <a:gd name="T38" fmla="*/ 27 w 27"/>
                <a:gd name="T39" fmla="*/ 525 h 527"/>
                <a:gd name="T40" fmla="*/ 27 w 27"/>
                <a:gd name="T4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527">
                  <a:moveTo>
                    <a:pt x="27" y="527"/>
                  </a:moveTo>
                  <a:cubicBezTo>
                    <a:pt x="27" y="527"/>
                    <a:pt x="27" y="526"/>
                    <a:pt x="27" y="525"/>
                  </a:cubicBezTo>
                  <a:cubicBezTo>
                    <a:pt x="27" y="524"/>
                    <a:pt x="27" y="523"/>
                    <a:pt x="27" y="521"/>
                  </a:cubicBezTo>
                  <a:cubicBezTo>
                    <a:pt x="27" y="518"/>
                    <a:pt x="26" y="513"/>
                    <a:pt x="26" y="506"/>
                  </a:cubicBezTo>
                  <a:cubicBezTo>
                    <a:pt x="25" y="493"/>
                    <a:pt x="24" y="473"/>
                    <a:pt x="23" y="450"/>
                  </a:cubicBezTo>
                  <a:cubicBezTo>
                    <a:pt x="20" y="402"/>
                    <a:pt x="17" y="336"/>
                    <a:pt x="13" y="264"/>
                  </a:cubicBezTo>
                  <a:cubicBezTo>
                    <a:pt x="9" y="191"/>
                    <a:pt x="6" y="125"/>
                    <a:pt x="3" y="78"/>
                  </a:cubicBezTo>
                  <a:cubicBezTo>
                    <a:pt x="2" y="54"/>
                    <a:pt x="1" y="35"/>
                    <a:pt x="1" y="21"/>
                  </a:cubicBezTo>
                  <a:cubicBezTo>
                    <a:pt x="0" y="15"/>
                    <a:pt x="0" y="9"/>
                    <a:pt x="0" y="6"/>
                  </a:cubicBezTo>
                  <a:cubicBezTo>
                    <a:pt x="0" y="4"/>
                    <a:pt x="0" y="3"/>
                    <a:pt x="0" y="2"/>
                  </a:cubicBezTo>
                  <a:cubicBezTo>
                    <a:pt x="0" y="1"/>
                    <a:pt x="0" y="0"/>
                    <a:pt x="0" y="0"/>
                  </a:cubicBezTo>
                  <a:cubicBezTo>
                    <a:pt x="0" y="0"/>
                    <a:pt x="0" y="1"/>
                    <a:pt x="0" y="2"/>
                  </a:cubicBezTo>
                  <a:cubicBezTo>
                    <a:pt x="0" y="3"/>
                    <a:pt x="0" y="4"/>
                    <a:pt x="1" y="6"/>
                  </a:cubicBezTo>
                  <a:cubicBezTo>
                    <a:pt x="1" y="9"/>
                    <a:pt x="1" y="15"/>
                    <a:pt x="2" y="21"/>
                  </a:cubicBezTo>
                  <a:cubicBezTo>
                    <a:pt x="2" y="35"/>
                    <a:pt x="3" y="54"/>
                    <a:pt x="5" y="78"/>
                  </a:cubicBezTo>
                  <a:cubicBezTo>
                    <a:pt x="7" y="125"/>
                    <a:pt x="11" y="191"/>
                    <a:pt x="15" y="264"/>
                  </a:cubicBezTo>
                  <a:cubicBezTo>
                    <a:pt x="18" y="336"/>
                    <a:pt x="22" y="402"/>
                    <a:pt x="24" y="450"/>
                  </a:cubicBezTo>
                  <a:cubicBezTo>
                    <a:pt x="25" y="473"/>
                    <a:pt x="26" y="493"/>
                    <a:pt x="27" y="506"/>
                  </a:cubicBezTo>
                  <a:cubicBezTo>
                    <a:pt x="27" y="513"/>
                    <a:pt x="27" y="518"/>
                    <a:pt x="27" y="521"/>
                  </a:cubicBezTo>
                  <a:cubicBezTo>
                    <a:pt x="27" y="523"/>
                    <a:pt x="27" y="524"/>
                    <a:pt x="27" y="525"/>
                  </a:cubicBezTo>
                  <a:cubicBezTo>
                    <a:pt x="27" y="526"/>
                    <a:pt x="27" y="527"/>
                    <a:pt x="27" y="5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ïṩlïḍè">
              <a:extLst>
                <a:ext uri="{FF2B5EF4-FFF2-40B4-BE49-F238E27FC236}">
                  <a16:creationId xmlns:a16="http://schemas.microsoft.com/office/drawing/2014/main" id="{44B3AAC9-AE05-9BCC-AF22-6D1175E7BA6E}"/>
                </a:ext>
              </a:extLst>
            </p:cNvPr>
            <p:cNvSpPr/>
            <p:nvPr/>
          </p:nvSpPr>
          <p:spPr bwMode="auto">
            <a:xfrm>
              <a:off x="6676200" y="3665284"/>
              <a:ext cx="15875" cy="266700"/>
            </a:xfrm>
            <a:custGeom>
              <a:avLst/>
              <a:gdLst>
                <a:gd name="T0" fmla="*/ 5 w 5"/>
                <a:gd name="T1" fmla="*/ 91 h 91"/>
                <a:gd name="T2" fmla="*/ 3 w 5"/>
                <a:gd name="T3" fmla="*/ 78 h 91"/>
                <a:gd name="T4" fmla="*/ 0 w 5"/>
                <a:gd name="T5" fmla="*/ 46 h 91"/>
                <a:gd name="T6" fmla="*/ 0 w 5"/>
                <a:gd name="T7" fmla="*/ 13 h 91"/>
                <a:gd name="T8" fmla="*/ 1 w 5"/>
                <a:gd name="T9" fmla="*/ 0 h 91"/>
                <a:gd name="T10" fmla="*/ 1 w 5"/>
                <a:gd name="T11" fmla="*/ 13 h 91"/>
                <a:gd name="T12" fmla="*/ 2 w 5"/>
                <a:gd name="T13" fmla="*/ 45 h 91"/>
                <a:gd name="T14" fmla="*/ 4 w 5"/>
                <a:gd name="T15" fmla="*/ 77 h 91"/>
                <a:gd name="T16" fmla="*/ 5 w 5"/>
                <a:gd name="T17"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91">
                  <a:moveTo>
                    <a:pt x="5" y="91"/>
                  </a:moveTo>
                  <a:cubicBezTo>
                    <a:pt x="5" y="91"/>
                    <a:pt x="4" y="86"/>
                    <a:pt x="3" y="78"/>
                  </a:cubicBezTo>
                  <a:cubicBezTo>
                    <a:pt x="2" y="69"/>
                    <a:pt x="1" y="58"/>
                    <a:pt x="0" y="46"/>
                  </a:cubicBezTo>
                  <a:cubicBezTo>
                    <a:pt x="0" y="33"/>
                    <a:pt x="0" y="22"/>
                    <a:pt x="0" y="13"/>
                  </a:cubicBezTo>
                  <a:cubicBezTo>
                    <a:pt x="0" y="5"/>
                    <a:pt x="1" y="0"/>
                    <a:pt x="1" y="0"/>
                  </a:cubicBezTo>
                  <a:cubicBezTo>
                    <a:pt x="1" y="0"/>
                    <a:pt x="1" y="5"/>
                    <a:pt x="1" y="13"/>
                  </a:cubicBezTo>
                  <a:cubicBezTo>
                    <a:pt x="1" y="22"/>
                    <a:pt x="2" y="33"/>
                    <a:pt x="2" y="45"/>
                  </a:cubicBezTo>
                  <a:cubicBezTo>
                    <a:pt x="3" y="58"/>
                    <a:pt x="4" y="69"/>
                    <a:pt x="4" y="77"/>
                  </a:cubicBezTo>
                  <a:cubicBezTo>
                    <a:pt x="5" y="86"/>
                    <a:pt x="5" y="91"/>
                    <a:pt x="5" y="9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íṧḷïde">
              <a:extLst>
                <a:ext uri="{FF2B5EF4-FFF2-40B4-BE49-F238E27FC236}">
                  <a16:creationId xmlns:a16="http://schemas.microsoft.com/office/drawing/2014/main" id="{A5C19C7B-99EE-6BCD-343C-2F07B8EC6D47}"/>
                </a:ext>
              </a:extLst>
            </p:cNvPr>
            <p:cNvSpPr/>
            <p:nvPr/>
          </p:nvSpPr>
          <p:spPr bwMode="auto">
            <a:xfrm>
              <a:off x="6700012" y="3671634"/>
              <a:ext cx="52388" cy="52388"/>
            </a:xfrm>
            <a:custGeom>
              <a:avLst/>
              <a:gdLst>
                <a:gd name="T0" fmla="*/ 7 w 18"/>
                <a:gd name="T1" fmla="*/ 1 h 18"/>
                <a:gd name="T2" fmla="*/ 9 w 18"/>
                <a:gd name="T3" fmla="*/ 0 h 18"/>
                <a:gd name="T4" fmla="*/ 14 w 18"/>
                <a:gd name="T5" fmla="*/ 2 h 18"/>
                <a:gd name="T6" fmla="*/ 18 w 18"/>
                <a:gd name="T7" fmla="*/ 9 h 18"/>
                <a:gd name="T8" fmla="*/ 12 w 18"/>
                <a:gd name="T9" fmla="*/ 17 h 18"/>
                <a:gd name="T10" fmla="*/ 2 w 18"/>
                <a:gd name="T11" fmla="*/ 14 h 18"/>
                <a:gd name="T12" fmla="*/ 1 w 18"/>
                <a:gd name="T13" fmla="*/ 6 h 18"/>
                <a:gd name="T14" fmla="*/ 5 w 18"/>
                <a:gd name="T15" fmla="*/ 1 h 18"/>
                <a:gd name="T16" fmla="*/ 7 w 18"/>
                <a:gd name="T17" fmla="*/ 1 h 18"/>
                <a:gd name="T18" fmla="*/ 3 w 18"/>
                <a:gd name="T19" fmla="*/ 6 h 18"/>
                <a:gd name="T20" fmla="*/ 4 w 18"/>
                <a:gd name="T21" fmla="*/ 13 h 18"/>
                <a:gd name="T22" fmla="*/ 11 w 18"/>
                <a:gd name="T23" fmla="*/ 15 h 18"/>
                <a:gd name="T24" fmla="*/ 16 w 18"/>
                <a:gd name="T25" fmla="*/ 9 h 18"/>
                <a:gd name="T26" fmla="*/ 14 w 18"/>
                <a:gd name="T27" fmla="*/ 3 h 18"/>
                <a:gd name="T28" fmla="*/ 7 w 18"/>
                <a:gd name="T29" fmla="*/ 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18">
                  <a:moveTo>
                    <a:pt x="7" y="1"/>
                  </a:moveTo>
                  <a:cubicBezTo>
                    <a:pt x="7" y="1"/>
                    <a:pt x="8" y="0"/>
                    <a:pt x="9" y="0"/>
                  </a:cubicBezTo>
                  <a:cubicBezTo>
                    <a:pt x="11" y="0"/>
                    <a:pt x="13" y="0"/>
                    <a:pt x="14" y="2"/>
                  </a:cubicBezTo>
                  <a:cubicBezTo>
                    <a:pt x="16" y="3"/>
                    <a:pt x="18" y="5"/>
                    <a:pt x="18" y="9"/>
                  </a:cubicBezTo>
                  <a:cubicBezTo>
                    <a:pt x="18" y="12"/>
                    <a:pt x="16" y="16"/>
                    <a:pt x="12" y="17"/>
                  </a:cubicBezTo>
                  <a:cubicBezTo>
                    <a:pt x="9" y="18"/>
                    <a:pt x="4" y="17"/>
                    <a:pt x="2" y="14"/>
                  </a:cubicBezTo>
                  <a:cubicBezTo>
                    <a:pt x="0" y="11"/>
                    <a:pt x="1" y="8"/>
                    <a:pt x="1" y="6"/>
                  </a:cubicBezTo>
                  <a:cubicBezTo>
                    <a:pt x="2" y="4"/>
                    <a:pt x="4" y="2"/>
                    <a:pt x="5" y="1"/>
                  </a:cubicBezTo>
                  <a:cubicBezTo>
                    <a:pt x="6" y="1"/>
                    <a:pt x="7" y="1"/>
                    <a:pt x="7" y="1"/>
                  </a:cubicBezTo>
                  <a:cubicBezTo>
                    <a:pt x="7" y="1"/>
                    <a:pt x="4" y="2"/>
                    <a:pt x="3" y="6"/>
                  </a:cubicBezTo>
                  <a:cubicBezTo>
                    <a:pt x="2" y="8"/>
                    <a:pt x="2" y="11"/>
                    <a:pt x="4" y="13"/>
                  </a:cubicBezTo>
                  <a:cubicBezTo>
                    <a:pt x="5" y="15"/>
                    <a:pt x="9" y="16"/>
                    <a:pt x="11" y="15"/>
                  </a:cubicBezTo>
                  <a:cubicBezTo>
                    <a:pt x="14" y="14"/>
                    <a:pt x="16" y="11"/>
                    <a:pt x="16" y="9"/>
                  </a:cubicBezTo>
                  <a:cubicBezTo>
                    <a:pt x="17" y="6"/>
                    <a:pt x="15" y="4"/>
                    <a:pt x="14" y="3"/>
                  </a:cubicBezTo>
                  <a:cubicBezTo>
                    <a:pt x="10" y="0"/>
                    <a:pt x="7" y="1"/>
                    <a:pt x="7"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ï$ľiḓé">
              <a:extLst>
                <a:ext uri="{FF2B5EF4-FFF2-40B4-BE49-F238E27FC236}">
                  <a16:creationId xmlns:a16="http://schemas.microsoft.com/office/drawing/2014/main" id="{3A3A4CA0-A16A-EDF4-67F3-006E258A0BAD}"/>
                </a:ext>
              </a:extLst>
            </p:cNvPr>
            <p:cNvSpPr/>
            <p:nvPr/>
          </p:nvSpPr>
          <p:spPr bwMode="auto">
            <a:xfrm>
              <a:off x="6887337" y="3662109"/>
              <a:ext cx="12700" cy="90488"/>
            </a:xfrm>
            <a:custGeom>
              <a:avLst/>
              <a:gdLst>
                <a:gd name="T0" fmla="*/ 4 w 4"/>
                <a:gd name="T1" fmla="*/ 31 h 31"/>
                <a:gd name="T2" fmla="*/ 1 w 4"/>
                <a:gd name="T3" fmla="*/ 16 h 31"/>
                <a:gd name="T4" fmla="*/ 1 w 4"/>
                <a:gd name="T5" fmla="*/ 0 h 31"/>
                <a:gd name="T6" fmla="*/ 3 w 4"/>
                <a:gd name="T7" fmla="*/ 15 h 31"/>
                <a:gd name="T8" fmla="*/ 4 w 4"/>
                <a:gd name="T9" fmla="*/ 31 h 31"/>
              </a:gdLst>
              <a:ahLst/>
              <a:cxnLst>
                <a:cxn ang="0">
                  <a:pos x="T0" y="T1"/>
                </a:cxn>
                <a:cxn ang="0">
                  <a:pos x="T2" y="T3"/>
                </a:cxn>
                <a:cxn ang="0">
                  <a:pos x="T4" y="T5"/>
                </a:cxn>
                <a:cxn ang="0">
                  <a:pos x="T6" y="T7"/>
                </a:cxn>
                <a:cxn ang="0">
                  <a:pos x="T8" y="T9"/>
                </a:cxn>
              </a:cxnLst>
              <a:rect l="0" t="0" r="r" b="b"/>
              <a:pathLst>
                <a:path w="4" h="31">
                  <a:moveTo>
                    <a:pt x="4" y="31"/>
                  </a:moveTo>
                  <a:cubicBezTo>
                    <a:pt x="3" y="31"/>
                    <a:pt x="2" y="24"/>
                    <a:pt x="1" y="16"/>
                  </a:cubicBezTo>
                  <a:cubicBezTo>
                    <a:pt x="0" y="7"/>
                    <a:pt x="0" y="0"/>
                    <a:pt x="1" y="0"/>
                  </a:cubicBezTo>
                  <a:cubicBezTo>
                    <a:pt x="1" y="0"/>
                    <a:pt x="2" y="7"/>
                    <a:pt x="3" y="15"/>
                  </a:cubicBezTo>
                  <a:cubicBezTo>
                    <a:pt x="4" y="24"/>
                    <a:pt x="4" y="31"/>
                    <a:pt x="4"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î$1îḓe">
              <a:extLst>
                <a:ext uri="{FF2B5EF4-FFF2-40B4-BE49-F238E27FC236}">
                  <a16:creationId xmlns:a16="http://schemas.microsoft.com/office/drawing/2014/main" id="{E40BEB0C-1EE5-C230-0F7A-65A9B7EA84A6}"/>
                </a:ext>
              </a:extLst>
            </p:cNvPr>
            <p:cNvSpPr/>
            <p:nvPr/>
          </p:nvSpPr>
          <p:spPr bwMode="auto">
            <a:xfrm>
              <a:off x="6931787" y="3668459"/>
              <a:ext cx="11113" cy="73025"/>
            </a:xfrm>
            <a:custGeom>
              <a:avLst/>
              <a:gdLst>
                <a:gd name="T0" fmla="*/ 3 w 4"/>
                <a:gd name="T1" fmla="*/ 25 h 25"/>
                <a:gd name="T2" fmla="*/ 1 w 4"/>
                <a:gd name="T3" fmla="*/ 13 h 25"/>
                <a:gd name="T4" fmla="*/ 0 w 4"/>
                <a:gd name="T5" fmla="*/ 0 h 25"/>
                <a:gd name="T6" fmla="*/ 3 w 4"/>
                <a:gd name="T7" fmla="*/ 12 h 25"/>
                <a:gd name="T8" fmla="*/ 3 w 4"/>
                <a:gd name="T9" fmla="*/ 25 h 25"/>
              </a:gdLst>
              <a:ahLst/>
              <a:cxnLst>
                <a:cxn ang="0">
                  <a:pos x="T0" y="T1"/>
                </a:cxn>
                <a:cxn ang="0">
                  <a:pos x="T2" y="T3"/>
                </a:cxn>
                <a:cxn ang="0">
                  <a:pos x="T4" y="T5"/>
                </a:cxn>
                <a:cxn ang="0">
                  <a:pos x="T6" y="T7"/>
                </a:cxn>
                <a:cxn ang="0">
                  <a:pos x="T8" y="T9"/>
                </a:cxn>
              </a:cxnLst>
              <a:rect l="0" t="0" r="r" b="b"/>
              <a:pathLst>
                <a:path w="4" h="25">
                  <a:moveTo>
                    <a:pt x="3" y="25"/>
                  </a:moveTo>
                  <a:cubicBezTo>
                    <a:pt x="3" y="25"/>
                    <a:pt x="2" y="20"/>
                    <a:pt x="1" y="13"/>
                  </a:cubicBezTo>
                  <a:cubicBezTo>
                    <a:pt x="0" y="6"/>
                    <a:pt x="0" y="0"/>
                    <a:pt x="0" y="0"/>
                  </a:cubicBezTo>
                  <a:cubicBezTo>
                    <a:pt x="1" y="0"/>
                    <a:pt x="2" y="5"/>
                    <a:pt x="3" y="12"/>
                  </a:cubicBezTo>
                  <a:cubicBezTo>
                    <a:pt x="4" y="19"/>
                    <a:pt x="4" y="25"/>
                    <a:pt x="3" y="2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íśḷiḋe">
              <a:extLst>
                <a:ext uri="{FF2B5EF4-FFF2-40B4-BE49-F238E27FC236}">
                  <a16:creationId xmlns:a16="http://schemas.microsoft.com/office/drawing/2014/main" id="{9B382A77-6553-85EA-1490-2840E2DDCD59}"/>
                </a:ext>
              </a:extLst>
            </p:cNvPr>
            <p:cNvSpPr/>
            <p:nvPr/>
          </p:nvSpPr>
          <p:spPr bwMode="auto">
            <a:xfrm>
              <a:off x="6492050" y="3662109"/>
              <a:ext cx="14288" cy="85725"/>
            </a:xfrm>
            <a:custGeom>
              <a:avLst/>
              <a:gdLst>
                <a:gd name="T0" fmla="*/ 5 w 5"/>
                <a:gd name="T1" fmla="*/ 29 h 29"/>
                <a:gd name="T2" fmla="*/ 2 w 5"/>
                <a:gd name="T3" fmla="*/ 15 h 29"/>
                <a:gd name="T4" fmla="*/ 1 w 5"/>
                <a:gd name="T5" fmla="*/ 0 h 29"/>
                <a:gd name="T6" fmla="*/ 4 w 5"/>
                <a:gd name="T7" fmla="*/ 15 h 29"/>
                <a:gd name="T8" fmla="*/ 5 w 5"/>
                <a:gd name="T9" fmla="*/ 29 h 29"/>
              </a:gdLst>
              <a:ahLst/>
              <a:cxnLst>
                <a:cxn ang="0">
                  <a:pos x="T0" y="T1"/>
                </a:cxn>
                <a:cxn ang="0">
                  <a:pos x="T2" y="T3"/>
                </a:cxn>
                <a:cxn ang="0">
                  <a:pos x="T4" y="T5"/>
                </a:cxn>
                <a:cxn ang="0">
                  <a:pos x="T6" y="T7"/>
                </a:cxn>
                <a:cxn ang="0">
                  <a:pos x="T8" y="T9"/>
                </a:cxn>
              </a:cxnLst>
              <a:rect l="0" t="0" r="r" b="b"/>
              <a:pathLst>
                <a:path w="5" h="29">
                  <a:moveTo>
                    <a:pt x="5" y="29"/>
                  </a:moveTo>
                  <a:cubicBezTo>
                    <a:pt x="4" y="29"/>
                    <a:pt x="3" y="23"/>
                    <a:pt x="2" y="15"/>
                  </a:cubicBezTo>
                  <a:cubicBezTo>
                    <a:pt x="1" y="7"/>
                    <a:pt x="0" y="0"/>
                    <a:pt x="1" y="0"/>
                  </a:cubicBezTo>
                  <a:cubicBezTo>
                    <a:pt x="1" y="0"/>
                    <a:pt x="3" y="7"/>
                    <a:pt x="4" y="15"/>
                  </a:cubicBezTo>
                  <a:cubicBezTo>
                    <a:pt x="5" y="23"/>
                    <a:pt x="5" y="29"/>
                    <a:pt x="5"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ïśḷídè">
              <a:extLst>
                <a:ext uri="{FF2B5EF4-FFF2-40B4-BE49-F238E27FC236}">
                  <a16:creationId xmlns:a16="http://schemas.microsoft.com/office/drawing/2014/main" id="{6F8AC701-F55A-6278-4CC6-E16ECD94AA07}"/>
                </a:ext>
              </a:extLst>
            </p:cNvPr>
            <p:cNvSpPr/>
            <p:nvPr/>
          </p:nvSpPr>
          <p:spPr bwMode="auto">
            <a:xfrm>
              <a:off x="6539675" y="3668459"/>
              <a:ext cx="14288" cy="80963"/>
            </a:xfrm>
            <a:custGeom>
              <a:avLst/>
              <a:gdLst>
                <a:gd name="T0" fmla="*/ 4 w 5"/>
                <a:gd name="T1" fmla="*/ 28 h 28"/>
                <a:gd name="T2" fmla="*/ 1 w 5"/>
                <a:gd name="T3" fmla="*/ 14 h 28"/>
                <a:gd name="T4" fmla="*/ 2 w 5"/>
                <a:gd name="T5" fmla="*/ 0 h 28"/>
                <a:gd name="T6" fmla="*/ 3 w 5"/>
                <a:gd name="T7" fmla="*/ 14 h 28"/>
                <a:gd name="T8" fmla="*/ 4 w 5"/>
                <a:gd name="T9" fmla="*/ 28 h 28"/>
              </a:gdLst>
              <a:ahLst/>
              <a:cxnLst>
                <a:cxn ang="0">
                  <a:pos x="T0" y="T1"/>
                </a:cxn>
                <a:cxn ang="0">
                  <a:pos x="T2" y="T3"/>
                </a:cxn>
                <a:cxn ang="0">
                  <a:pos x="T4" y="T5"/>
                </a:cxn>
                <a:cxn ang="0">
                  <a:pos x="T6" y="T7"/>
                </a:cxn>
                <a:cxn ang="0">
                  <a:pos x="T8" y="T9"/>
                </a:cxn>
              </a:cxnLst>
              <a:rect l="0" t="0" r="r" b="b"/>
              <a:pathLst>
                <a:path w="5" h="28">
                  <a:moveTo>
                    <a:pt x="4" y="28"/>
                  </a:moveTo>
                  <a:cubicBezTo>
                    <a:pt x="3" y="28"/>
                    <a:pt x="2" y="22"/>
                    <a:pt x="1" y="14"/>
                  </a:cubicBezTo>
                  <a:cubicBezTo>
                    <a:pt x="0" y="7"/>
                    <a:pt x="1" y="0"/>
                    <a:pt x="2" y="0"/>
                  </a:cubicBezTo>
                  <a:cubicBezTo>
                    <a:pt x="2" y="0"/>
                    <a:pt x="3" y="7"/>
                    <a:pt x="3" y="14"/>
                  </a:cubicBezTo>
                  <a:cubicBezTo>
                    <a:pt x="4" y="22"/>
                    <a:pt x="5" y="28"/>
                    <a:pt x="4" y="2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íṥľídé">
              <a:extLst>
                <a:ext uri="{FF2B5EF4-FFF2-40B4-BE49-F238E27FC236}">
                  <a16:creationId xmlns:a16="http://schemas.microsoft.com/office/drawing/2014/main" id="{22BFDAAB-D176-7829-C367-0BE55B9242A8}"/>
                </a:ext>
              </a:extLst>
            </p:cNvPr>
            <p:cNvSpPr/>
            <p:nvPr/>
          </p:nvSpPr>
          <p:spPr bwMode="auto">
            <a:xfrm>
              <a:off x="6453950" y="4233609"/>
              <a:ext cx="141288" cy="1228725"/>
            </a:xfrm>
            <a:custGeom>
              <a:avLst/>
              <a:gdLst>
                <a:gd name="T0" fmla="*/ 20 w 48"/>
                <a:gd name="T1" fmla="*/ 420 h 420"/>
                <a:gd name="T2" fmla="*/ 20 w 48"/>
                <a:gd name="T3" fmla="*/ 419 h 420"/>
                <a:gd name="T4" fmla="*/ 19 w 48"/>
                <a:gd name="T5" fmla="*/ 415 h 420"/>
                <a:gd name="T6" fmla="*/ 19 w 48"/>
                <a:gd name="T7" fmla="*/ 402 h 420"/>
                <a:gd name="T8" fmla="*/ 20 w 48"/>
                <a:gd name="T9" fmla="*/ 354 h 420"/>
                <a:gd name="T10" fmla="*/ 29 w 48"/>
                <a:gd name="T11" fmla="*/ 283 h 420"/>
                <a:gd name="T12" fmla="*/ 38 w 48"/>
                <a:gd name="T13" fmla="*/ 241 h 420"/>
                <a:gd name="T14" fmla="*/ 43 w 48"/>
                <a:gd name="T15" fmla="*/ 220 h 420"/>
                <a:gd name="T16" fmla="*/ 43 w 48"/>
                <a:gd name="T17" fmla="*/ 198 h 420"/>
                <a:gd name="T18" fmla="*/ 36 w 48"/>
                <a:gd name="T19" fmla="*/ 190 h 420"/>
                <a:gd name="T20" fmla="*/ 26 w 48"/>
                <a:gd name="T21" fmla="*/ 187 h 420"/>
                <a:gd name="T22" fmla="*/ 14 w 48"/>
                <a:gd name="T23" fmla="*/ 184 h 420"/>
                <a:gd name="T24" fmla="*/ 6 w 48"/>
                <a:gd name="T25" fmla="*/ 176 h 420"/>
                <a:gd name="T26" fmla="*/ 0 w 48"/>
                <a:gd name="T27" fmla="*/ 155 h 420"/>
                <a:gd name="T28" fmla="*/ 2 w 48"/>
                <a:gd name="T29" fmla="*/ 134 h 420"/>
                <a:gd name="T30" fmla="*/ 13 w 48"/>
                <a:gd name="T31" fmla="*/ 63 h 420"/>
                <a:gd name="T32" fmla="*/ 25 w 48"/>
                <a:gd name="T33" fmla="*/ 17 h 420"/>
                <a:gd name="T34" fmla="*/ 29 w 48"/>
                <a:gd name="T35" fmla="*/ 4 h 420"/>
                <a:gd name="T36" fmla="*/ 30 w 48"/>
                <a:gd name="T37" fmla="*/ 1 h 420"/>
                <a:gd name="T38" fmla="*/ 31 w 48"/>
                <a:gd name="T39" fmla="*/ 0 h 420"/>
                <a:gd name="T40" fmla="*/ 30 w 48"/>
                <a:gd name="T41" fmla="*/ 1 h 420"/>
                <a:gd name="T42" fmla="*/ 30 w 48"/>
                <a:gd name="T43" fmla="*/ 4 h 420"/>
                <a:gd name="T44" fmla="*/ 26 w 48"/>
                <a:gd name="T45" fmla="*/ 17 h 420"/>
                <a:gd name="T46" fmla="*/ 15 w 48"/>
                <a:gd name="T47" fmla="*/ 64 h 420"/>
                <a:gd name="T48" fmla="*/ 4 w 48"/>
                <a:gd name="T49" fmla="*/ 134 h 420"/>
                <a:gd name="T50" fmla="*/ 2 w 48"/>
                <a:gd name="T51" fmla="*/ 155 h 420"/>
                <a:gd name="T52" fmla="*/ 8 w 48"/>
                <a:gd name="T53" fmla="*/ 175 h 420"/>
                <a:gd name="T54" fmla="*/ 16 w 48"/>
                <a:gd name="T55" fmla="*/ 182 h 420"/>
                <a:gd name="T56" fmla="*/ 26 w 48"/>
                <a:gd name="T57" fmla="*/ 185 h 420"/>
                <a:gd name="T58" fmla="*/ 37 w 48"/>
                <a:gd name="T59" fmla="*/ 188 h 420"/>
                <a:gd name="T60" fmla="*/ 45 w 48"/>
                <a:gd name="T61" fmla="*/ 197 h 420"/>
                <a:gd name="T62" fmla="*/ 45 w 48"/>
                <a:gd name="T63" fmla="*/ 220 h 420"/>
                <a:gd name="T64" fmla="*/ 40 w 48"/>
                <a:gd name="T65" fmla="*/ 242 h 420"/>
                <a:gd name="T66" fmla="*/ 30 w 48"/>
                <a:gd name="T67" fmla="*/ 283 h 420"/>
                <a:gd name="T68" fmla="*/ 21 w 48"/>
                <a:gd name="T69" fmla="*/ 354 h 420"/>
                <a:gd name="T70" fmla="*/ 20 w 48"/>
                <a:gd name="T71" fmla="*/ 402 h 420"/>
                <a:gd name="T72" fmla="*/ 20 w 48"/>
                <a:gd name="T73" fmla="*/ 415 h 420"/>
                <a:gd name="T74" fmla="*/ 20 w 48"/>
                <a:gd name="T75" fmla="*/ 419 h 420"/>
                <a:gd name="T76" fmla="*/ 20 w 48"/>
                <a:gd name="T77" fmla="*/ 420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 h="420">
                  <a:moveTo>
                    <a:pt x="20" y="420"/>
                  </a:moveTo>
                  <a:cubicBezTo>
                    <a:pt x="20" y="420"/>
                    <a:pt x="20" y="419"/>
                    <a:pt x="20" y="419"/>
                  </a:cubicBezTo>
                  <a:cubicBezTo>
                    <a:pt x="20" y="418"/>
                    <a:pt x="20" y="417"/>
                    <a:pt x="19" y="415"/>
                  </a:cubicBezTo>
                  <a:cubicBezTo>
                    <a:pt x="19" y="412"/>
                    <a:pt x="19" y="408"/>
                    <a:pt x="19" y="402"/>
                  </a:cubicBezTo>
                  <a:cubicBezTo>
                    <a:pt x="19" y="391"/>
                    <a:pt x="19" y="374"/>
                    <a:pt x="20" y="354"/>
                  </a:cubicBezTo>
                  <a:cubicBezTo>
                    <a:pt x="21" y="334"/>
                    <a:pt x="24" y="309"/>
                    <a:pt x="29" y="283"/>
                  </a:cubicBezTo>
                  <a:cubicBezTo>
                    <a:pt x="31" y="269"/>
                    <a:pt x="34" y="256"/>
                    <a:pt x="38" y="241"/>
                  </a:cubicBezTo>
                  <a:cubicBezTo>
                    <a:pt x="39" y="234"/>
                    <a:pt x="42" y="227"/>
                    <a:pt x="43" y="220"/>
                  </a:cubicBezTo>
                  <a:cubicBezTo>
                    <a:pt x="45" y="213"/>
                    <a:pt x="46" y="205"/>
                    <a:pt x="43" y="198"/>
                  </a:cubicBezTo>
                  <a:cubicBezTo>
                    <a:pt x="42" y="194"/>
                    <a:pt x="40" y="191"/>
                    <a:pt x="36" y="190"/>
                  </a:cubicBezTo>
                  <a:cubicBezTo>
                    <a:pt x="33" y="188"/>
                    <a:pt x="29" y="188"/>
                    <a:pt x="26" y="187"/>
                  </a:cubicBezTo>
                  <a:cubicBezTo>
                    <a:pt x="22" y="187"/>
                    <a:pt x="18" y="186"/>
                    <a:pt x="14" y="184"/>
                  </a:cubicBezTo>
                  <a:cubicBezTo>
                    <a:pt x="11" y="182"/>
                    <a:pt x="8" y="179"/>
                    <a:pt x="6" y="176"/>
                  </a:cubicBezTo>
                  <a:cubicBezTo>
                    <a:pt x="2" y="170"/>
                    <a:pt x="0" y="162"/>
                    <a:pt x="0" y="155"/>
                  </a:cubicBezTo>
                  <a:cubicBezTo>
                    <a:pt x="0" y="148"/>
                    <a:pt x="1" y="141"/>
                    <a:pt x="2" y="134"/>
                  </a:cubicBezTo>
                  <a:cubicBezTo>
                    <a:pt x="5" y="107"/>
                    <a:pt x="9" y="83"/>
                    <a:pt x="13" y="63"/>
                  </a:cubicBezTo>
                  <a:cubicBezTo>
                    <a:pt x="18" y="43"/>
                    <a:pt x="22" y="28"/>
                    <a:pt x="25" y="17"/>
                  </a:cubicBezTo>
                  <a:cubicBezTo>
                    <a:pt x="27" y="11"/>
                    <a:pt x="28" y="7"/>
                    <a:pt x="29" y="4"/>
                  </a:cubicBezTo>
                  <a:cubicBezTo>
                    <a:pt x="30" y="3"/>
                    <a:pt x="30" y="2"/>
                    <a:pt x="30" y="1"/>
                  </a:cubicBezTo>
                  <a:cubicBezTo>
                    <a:pt x="30" y="0"/>
                    <a:pt x="31" y="0"/>
                    <a:pt x="31" y="0"/>
                  </a:cubicBezTo>
                  <a:cubicBezTo>
                    <a:pt x="31" y="0"/>
                    <a:pt x="31" y="0"/>
                    <a:pt x="30" y="1"/>
                  </a:cubicBezTo>
                  <a:cubicBezTo>
                    <a:pt x="30" y="2"/>
                    <a:pt x="30" y="3"/>
                    <a:pt x="30" y="4"/>
                  </a:cubicBezTo>
                  <a:cubicBezTo>
                    <a:pt x="29" y="7"/>
                    <a:pt x="28" y="11"/>
                    <a:pt x="26" y="17"/>
                  </a:cubicBezTo>
                  <a:cubicBezTo>
                    <a:pt x="23" y="28"/>
                    <a:pt x="19" y="44"/>
                    <a:pt x="15" y="64"/>
                  </a:cubicBezTo>
                  <a:cubicBezTo>
                    <a:pt x="11" y="84"/>
                    <a:pt x="7" y="108"/>
                    <a:pt x="4" y="134"/>
                  </a:cubicBezTo>
                  <a:cubicBezTo>
                    <a:pt x="3" y="141"/>
                    <a:pt x="2" y="148"/>
                    <a:pt x="2" y="155"/>
                  </a:cubicBezTo>
                  <a:cubicBezTo>
                    <a:pt x="2" y="162"/>
                    <a:pt x="4" y="169"/>
                    <a:pt x="8" y="175"/>
                  </a:cubicBezTo>
                  <a:cubicBezTo>
                    <a:pt x="10" y="178"/>
                    <a:pt x="13" y="180"/>
                    <a:pt x="16" y="182"/>
                  </a:cubicBezTo>
                  <a:cubicBezTo>
                    <a:pt x="19" y="184"/>
                    <a:pt x="22" y="185"/>
                    <a:pt x="26" y="185"/>
                  </a:cubicBezTo>
                  <a:cubicBezTo>
                    <a:pt x="29" y="186"/>
                    <a:pt x="34" y="186"/>
                    <a:pt x="37" y="188"/>
                  </a:cubicBezTo>
                  <a:cubicBezTo>
                    <a:pt x="41" y="190"/>
                    <a:pt x="44" y="193"/>
                    <a:pt x="45" y="197"/>
                  </a:cubicBezTo>
                  <a:cubicBezTo>
                    <a:pt x="48" y="205"/>
                    <a:pt x="47" y="213"/>
                    <a:pt x="45" y="220"/>
                  </a:cubicBezTo>
                  <a:cubicBezTo>
                    <a:pt x="44" y="228"/>
                    <a:pt x="41" y="235"/>
                    <a:pt x="40" y="242"/>
                  </a:cubicBezTo>
                  <a:cubicBezTo>
                    <a:pt x="36" y="256"/>
                    <a:pt x="33" y="270"/>
                    <a:pt x="30" y="283"/>
                  </a:cubicBezTo>
                  <a:cubicBezTo>
                    <a:pt x="25" y="310"/>
                    <a:pt x="23" y="334"/>
                    <a:pt x="21" y="354"/>
                  </a:cubicBezTo>
                  <a:cubicBezTo>
                    <a:pt x="20" y="374"/>
                    <a:pt x="20" y="391"/>
                    <a:pt x="20" y="402"/>
                  </a:cubicBezTo>
                  <a:cubicBezTo>
                    <a:pt x="20" y="408"/>
                    <a:pt x="20" y="412"/>
                    <a:pt x="20" y="415"/>
                  </a:cubicBezTo>
                  <a:cubicBezTo>
                    <a:pt x="20" y="417"/>
                    <a:pt x="20" y="418"/>
                    <a:pt x="20" y="419"/>
                  </a:cubicBezTo>
                  <a:cubicBezTo>
                    <a:pt x="20" y="419"/>
                    <a:pt x="20" y="420"/>
                    <a:pt x="20" y="4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ïSľíḓê">
              <a:extLst>
                <a:ext uri="{FF2B5EF4-FFF2-40B4-BE49-F238E27FC236}">
                  <a16:creationId xmlns:a16="http://schemas.microsoft.com/office/drawing/2014/main" id="{D0E7307E-BE1F-9068-3FF8-BAD5F99B7529}"/>
                </a:ext>
              </a:extLst>
            </p:cNvPr>
            <p:cNvSpPr/>
            <p:nvPr/>
          </p:nvSpPr>
          <p:spPr bwMode="auto">
            <a:xfrm>
              <a:off x="5337937" y="2569909"/>
              <a:ext cx="409575" cy="322263"/>
            </a:xfrm>
            <a:custGeom>
              <a:avLst/>
              <a:gdLst>
                <a:gd name="T0" fmla="*/ 75 w 140"/>
                <a:gd name="T1" fmla="*/ 4 h 110"/>
                <a:gd name="T2" fmla="*/ 85 w 140"/>
                <a:gd name="T3" fmla="*/ 3 h 110"/>
                <a:gd name="T4" fmla="*/ 120 w 140"/>
                <a:gd name="T5" fmla="*/ 38 h 110"/>
                <a:gd name="T6" fmla="*/ 133 w 140"/>
                <a:gd name="T7" fmla="*/ 73 h 110"/>
                <a:gd name="T8" fmla="*/ 104 w 140"/>
                <a:gd name="T9" fmla="*/ 110 h 110"/>
                <a:gd name="T10" fmla="*/ 25 w 140"/>
                <a:gd name="T11" fmla="*/ 63 h 110"/>
                <a:gd name="T12" fmla="*/ 2 w 140"/>
                <a:gd name="T13" fmla="*/ 30 h 110"/>
                <a:gd name="T14" fmla="*/ 12 w 140"/>
                <a:gd name="T15" fmla="*/ 28 h 110"/>
                <a:gd name="T16" fmla="*/ 13 w 140"/>
                <a:gd name="T17" fmla="*/ 16 h 110"/>
                <a:gd name="T18" fmla="*/ 27 w 140"/>
                <a:gd name="T19" fmla="*/ 21 h 110"/>
                <a:gd name="T20" fmla="*/ 33 w 140"/>
                <a:gd name="T21" fmla="*/ 9 h 110"/>
                <a:gd name="T22" fmla="*/ 73 w 140"/>
                <a:gd name="T23" fmla="*/ 36 h 110"/>
                <a:gd name="T24" fmla="*/ 89 w 140"/>
                <a:gd name="T25" fmla="*/ 34 h 110"/>
                <a:gd name="T26" fmla="*/ 74 w 140"/>
                <a:gd name="T27" fmla="*/ 11 h 110"/>
                <a:gd name="T28" fmla="*/ 75 w 140"/>
                <a:gd name="T29"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0" h="110">
                  <a:moveTo>
                    <a:pt x="75" y="4"/>
                  </a:moveTo>
                  <a:cubicBezTo>
                    <a:pt x="77" y="0"/>
                    <a:pt x="82" y="0"/>
                    <a:pt x="85" y="3"/>
                  </a:cubicBezTo>
                  <a:cubicBezTo>
                    <a:pt x="91" y="10"/>
                    <a:pt x="105" y="26"/>
                    <a:pt x="120" y="38"/>
                  </a:cubicBezTo>
                  <a:cubicBezTo>
                    <a:pt x="140" y="55"/>
                    <a:pt x="133" y="73"/>
                    <a:pt x="133" y="73"/>
                  </a:cubicBezTo>
                  <a:cubicBezTo>
                    <a:pt x="104" y="110"/>
                    <a:pt x="104" y="110"/>
                    <a:pt x="104" y="110"/>
                  </a:cubicBezTo>
                  <a:cubicBezTo>
                    <a:pt x="104" y="110"/>
                    <a:pt x="47" y="88"/>
                    <a:pt x="25" y="63"/>
                  </a:cubicBezTo>
                  <a:cubicBezTo>
                    <a:pt x="10" y="45"/>
                    <a:pt x="0" y="34"/>
                    <a:pt x="2" y="30"/>
                  </a:cubicBezTo>
                  <a:cubicBezTo>
                    <a:pt x="4" y="26"/>
                    <a:pt x="12" y="28"/>
                    <a:pt x="12" y="28"/>
                  </a:cubicBezTo>
                  <a:cubicBezTo>
                    <a:pt x="12" y="28"/>
                    <a:pt x="8" y="21"/>
                    <a:pt x="13" y="16"/>
                  </a:cubicBezTo>
                  <a:cubicBezTo>
                    <a:pt x="17" y="11"/>
                    <a:pt x="27" y="21"/>
                    <a:pt x="27" y="21"/>
                  </a:cubicBezTo>
                  <a:cubicBezTo>
                    <a:pt x="27" y="21"/>
                    <a:pt x="24" y="10"/>
                    <a:pt x="33" y="9"/>
                  </a:cubicBezTo>
                  <a:cubicBezTo>
                    <a:pt x="42" y="9"/>
                    <a:pt x="54" y="28"/>
                    <a:pt x="73" y="36"/>
                  </a:cubicBezTo>
                  <a:cubicBezTo>
                    <a:pt x="92" y="44"/>
                    <a:pt x="89" y="34"/>
                    <a:pt x="89" y="34"/>
                  </a:cubicBezTo>
                  <a:cubicBezTo>
                    <a:pt x="89" y="34"/>
                    <a:pt x="76" y="21"/>
                    <a:pt x="74" y="11"/>
                  </a:cubicBezTo>
                  <a:cubicBezTo>
                    <a:pt x="73" y="8"/>
                    <a:pt x="74" y="6"/>
                    <a:pt x="75"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îsľíďè">
              <a:extLst>
                <a:ext uri="{FF2B5EF4-FFF2-40B4-BE49-F238E27FC236}">
                  <a16:creationId xmlns:a16="http://schemas.microsoft.com/office/drawing/2014/main" id="{1BB26044-5DC3-55BB-51B8-22426A8CC7F0}"/>
                </a:ext>
              </a:extLst>
            </p:cNvPr>
            <p:cNvSpPr/>
            <p:nvPr/>
          </p:nvSpPr>
          <p:spPr bwMode="auto">
            <a:xfrm>
              <a:off x="5337937" y="2569909"/>
              <a:ext cx="398463" cy="325438"/>
            </a:xfrm>
            <a:custGeom>
              <a:avLst/>
              <a:gdLst>
                <a:gd name="T0" fmla="*/ 74 w 136"/>
                <a:gd name="T1" fmla="*/ 6 h 111"/>
                <a:gd name="T2" fmla="*/ 90 w 136"/>
                <a:gd name="T3" fmla="*/ 33 h 111"/>
                <a:gd name="T4" fmla="*/ 90 w 136"/>
                <a:gd name="T5" fmla="*/ 34 h 111"/>
                <a:gd name="T6" fmla="*/ 85 w 136"/>
                <a:gd name="T7" fmla="*/ 39 h 111"/>
                <a:gd name="T8" fmla="*/ 58 w 136"/>
                <a:gd name="T9" fmla="*/ 28 h 111"/>
                <a:gd name="T10" fmla="*/ 31 w 136"/>
                <a:gd name="T11" fmla="*/ 11 h 111"/>
                <a:gd name="T12" fmla="*/ 27 w 136"/>
                <a:gd name="T13" fmla="*/ 22 h 111"/>
                <a:gd name="T14" fmla="*/ 21 w 136"/>
                <a:gd name="T15" fmla="*/ 17 h 111"/>
                <a:gd name="T16" fmla="*/ 11 w 136"/>
                <a:gd name="T17" fmla="*/ 21 h 111"/>
                <a:gd name="T18" fmla="*/ 12 w 136"/>
                <a:gd name="T19" fmla="*/ 29 h 111"/>
                <a:gd name="T20" fmla="*/ 4 w 136"/>
                <a:gd name="T21" fmla="*/ 30 h 111"/>
                <a:gd name="T22" fmla="*/ 4 w 136"/>
                <a:gd name="T23" fmla="*/ 36 h 111"/>
                <a:gd name="T24" fmla="*/ 27 w 136"/>
                <a:gd name="T25" fmla="*/ 63 h 111"/>
                <a:gd name="T26" fmla="*/ 72 w 136"/>
                <a:gd name="T27" fmla="*/ 94 h 111"/>
                <a:gd name="T28" fmla="*/ 103 w 136"/>
                <a:gd name="T29" fmla="*/ 109 h 111"/>
                <a:gd name="T30" fmla="*/ 133 w 136"/>
                <a:gd name="T31" fmla="*/ 73 h 111"/>
                <a:gd name="T32" fmla="*/ 118 w 136"/>
                <a:gd name="T33" fmla="*/ 38 h 111"/>
                <a:gd name="T34" fmla="*/ 87 w 136"/>
                <a:gd name="T35" fmla="*/ 6 h 111"/>
                <a:gd name="T36" fmla="*/ 81 w 136"/>
                <a:gd name="T37" fmla="*/ 1 h 111"/>
                <a:gd name="T38" fmla="*/ 75 w 136"/>
                <a:gd name="T39" fmla="*/ 4 h 111"/>
                <a:gd name="T40" fmla="*/ 81 w 136"/>
                <a:gd name="T41" fmla="*/ 1 h 111"/>
                <a:gd name="T42" fmla="*/ 88 w 136"/>
                <a:gd name="T43" fmla="*/ 6 h 111"/>
                <a:gd name="T44" fmla="*/ 119 w 136"/>
                <a:gd name="T45" fmla="*/ 37 h 111"/>
                <a:gd name="T46" fmla="*/ 134 w 136"/>
                <a:gd name="T47" fmla="*/ 74 h 111"/>
                <a:gd name="T48" fmla="*/ 134 w 136"/>
                <a:gd name="T49" fmla="*/ 74 h 111"/>
                <a:gd name="T50" fmla="*/ 103 w 136"/>
                <a:gd name="T51" fmla="*/ 111 h 111"/>
                <a:gd name="T52" fmla="*/ 39 w 136"/>
                <a:gd name="T53" fmla="*/ 77 h 111"/>
                <a:gd name="T54" fmla="*/ 13 w 136"/>
                <a:gd name="T55" fmla="*/ 51 h 111"/>
                <a:gd name="T56" fmla="*/ 1 w 136"/>
                <a:gd name="T57" fmla="*/ 32 h 111"/>
                <a:gd name="T58" fmla="*/ 12 w 136"/>
                <a:gd name="T59" fmla="*/ 27 h 111"/>
                <a:gd name="T60" fmla="*/ 10 w 136"/>
                <a:gd name="T61" fmla="*/ 21 h 111"/>
                <a:gd name="T62" fmla="*/ 14 w 136"/>
                <a:gd name="T63" fmla="*/ 14 h 111"/>
                <a:gd name="T64" fmla="*/ 28 w 136"/>
                <a:gd name="T65" fmla="*/ 20 h 111"/>
                <a:gd name="T66" fmla="*/ 26 w 136"/>
                <a:gd name="T67" fmla="*/ 14 h 111"/>
                <a:gd name="T68" fmla="*/ 37 w 136"/>
                <a:gd name="T69" fmla="*/ 9 h 111"/>
                <a:gd name="T70" fmla="*/ 59 w 136"/>
                <a:gd name="T71" fmla="*/ 27 h 111"/>
                <a:gd name="T72" fmla="*/ 85 w 136"/>
                <a:gd name="T73" fmla="*/ 38 h 111"/>
                <a:gd name="T74" fmla="*/ 89 w 136"/>
                <a:gd name="T75" fmla="*/ 34 h 111"/>
                <a:gd name="T76" fmla="*/ 74 w 136"/>
                <a:gd name="T77" fmla="*/ 13 h 111"/>
                <a:gd name="T78" fmla="*/ 75 w 136"/>
                <a:gd name="T79" fmla="*/ 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6" h="111">
                  <a:moveTo>
                    <a:pt x="75" y="4"/>
                  </a:moveTo>
                  <a:cubicBezTo>
                    <a:pt x="75" y="4"/>
                    <a:pt x="74" y="5"/>
                    <a:pt x="74" y="6"/>
                  </a:cubicBezTo>
                  <a:cubicBezTo>
                    <a:pt x="74" y="7"/>
                    <a:pt x="74" y="10"/>
                    <a:pt x="75" y="13"/>
                  </a:cubicBezTo>
                  <a:cubicBezTo>
                    <a:pt x="77" y="18"/>
                    <a:pt x="82" y="25"/>
                    <a:pt x="90" y="33"/>
                  </a:cubicBezTo>
                  <a:cubicBezTo>
                    <a:pt x="90" y="33"/>
                    <a:pt x="90" y="33"/>
                    <a:pt x="90" y="33"/>
                  </a:cubicBezTo>
                  <a:cubicBezTo>
                    <a:pt x="90" y="33"/>
                    <a:pt x="90" y="33"/>
                    <a:pt x="90" y="34"/>
                  </a:cubicBezTo>
                  <a:cubicBezTo>
                    <a:pt x="90" y="35"/>
                    <a:pt x="90" y="37"/>
                    <a:pt x="89" y="38"/>
                  </a:cubicBezTo>
                  <a:cubicBezTo>
                    <a:pt x="88" y="39"/>
                    <a:pt x="86" y="39"/>
                    <a:pt x="85" y="39"/>
                  </a:cubicBezTo>
                  <a:cubicBezTo>
                    <a:pt x="82" y="39"/>
                    <a:pt x="79" y="39"/>
                    <a:pt x="76" y="38"/>
                  </a:cubicBezTo>
                  <a:cubicBezTo>
                    <a:pt x="70" y="36"/>
                    <a:pt x="64" y="32"/>
                    <a:pt x="58" y="28"/>
                  </a:cubicBezTo>
                  <a:cubicBezTo>
                    <a:pt x="53" y="24"/>
                    <a:pt x="47" y="18"/>
                    <a:pt x="41" y="14"/>
                  </a:cubicBezTo>
                  <a:cubicBezTo>
                    <a:pt x="38" y="11"/>
                    <a:pt x="34" y="9"/>
                    <a:pt x="31" y="11"/>
                  </a:cubicBezTo>
                  <a:cubicBezTo>
                    <a:pt x="27" y="12"/>
                    <a:pt x="27" y="17"/>
                    <a:pt x="28" y="20"/>
                  </a:cubicBezTo>
                  <a:cubicBezTo>
                    <a:pt x="28" y="21"/>
                    <a:pt x="28" y="21"/>
                    <a:pt x="27" y="22"/>
                  </a:cubicBezTo>
                  <a:cubicBezTo>
                    <a:pt x="27" y="22"/>
                    <a:pt x="27" y="22"/>
                    <a:pt x="26" y="21"/>
                  </a:cubicBezTo>
                  <a:cubicBezTo>
                    <a:pt x="25" y="20"/>
                    <a:pt x="23" y="18"/>
                    <a:pt x="21" y="17"/>
                  </a:cubicBezTo>
                  <a:cubicBezTo>
                    <a:pt x="19" y="16"/>
                    <a:pt x="17" y="15"/>
                    <a:pt x="15" y="15"/>
                  </a:cubicBezTo>
                  <a:cubicBezTo>
                    <a:pt x="13" y="16"/>
                    <a:pt x="12" y="19"/>
                    <a:pt x="11" y="21"/>
                  </a:cubicBezTo>
                  <a:cubicBezTo>
                    <a:pt x="11" y="23"/>
                    <a:pt x="12" y="25"/>
                    <a:pt x="13" y="28"/>
                  </a:cubicBezTo>
                  <a:cubicBezTo>
                    <a:pt x="13" y="28"/>
                    <a:pt x="13" y="29"/>
                    <a:pt x="12" y="29"/>
                  </a:cubicBezTo>
                  <a:cubicBezTo>
                    <a:pt x="12" y="29"/>
                    <a:pt x="12" y="29"/>
                    <a:pt x="12" y="29"/>
                  </a:cubicBezTo>
                  <a:cubicBezTo>
                    <a:pt x="9" y="29"/>
                    <a:pt x="6" y="28"/>
                    <a:pt x="4" y="30"/>
                  </a:cubicBezTo>
                  <a:cubicBezTo>
                    <a:pt x="3" y="30"/>
                    <a:pt x="2" y="31"/>
                    <a:pt x="3" y="32"/>
                  </a:cubicBezTo>
                  <a:cubicBezTo>
                    <a:pt x="3" y="33"/>
                    <a:pt x="3" y="34"/>
                    <a:pt x="4" y="36"/>
                  </a:cubicBezTo>
                  <a:cubicBezTo>
                    <a:pt x="7" y="40"/>
                    <a:pt x="11" y="45"/>
                    <a:pt x="15" y="49"/>
                  </a:cubicBezTo>
                  <a:cubicBezTo>
                    <a:pt x="19" y="54"/>
                    <a:pt x="23" y="58"/>
                    <a:pt x="27" y="63"/>
                  </a:cubicBezTo>
                  <a:cubicBezTo>
                    <a:pt x="31" y="68"/>
                    <a:pt x="36" y="72"/>
                    <a:pt x="41" y="75"/>
                  </a:cubicBezTo>
                  <a:cubicBezTo>
                    <a:pt x="51" y="83"/>
                    <a:pt x="61" y="89"/>
                    <a:pt x="72" y="94"/>
                  </a:cubicBezTo>
                  <a:cubicBezTo>
                    <a:pt x="83" y="100"/>
                    <a:pt x="94" y="105"/>
                    <a:pt x="104" y="109"/>
                  </a:cubicBezTo>
                  <a:cubicBezTo>
                    <a:pt x="103" y="109"/>
                    <a:pt x="103" y="109"/>
                    <a:pt x="103" y="109"/>
                  </a:cubicBezTo>
                  <a:cubicBezTo>
                    <a:pt x="113" y="96"/>
                    <a:pt x="123" y="84"/>
                    <a:pt x="133" y="73"/>
                  </a:cubicBezTo>
                  <a:cubicBezTo>
                    <a:pt x="133" y="73"/>
                    <a:pt x="133" y="73"/>
                    <a:pt x="133" y="73"/>
                  </a:cubicBezTo>
                  <a:cubicBezTo>
                    <a:pt x="134" y="66"/>
                    <a:pt x="133" y="58"/>
                    <a:pt x="130" y="52"/>
                  </a:cubicBezTo>
                  <a:cubicBezTo>
                    <a:pt x="127" y="46"/>
                    <a:pt x="123" y="42"/>
                    <a:pt x="118" y="38"/>
                  </a:cubicBezTo>
                  <a:cubicBezTo>
                    <a:pt x="109" y="30"/>
                    <a:pt x="101" y="22"/>
                    <a:pt x="95" y="15"/>
                  </a:cubicBezTo>
                  <a:cubicBezTo>
                    <a:pt x="92" y="12"/>
                    <a:pt x="90" y="9"/>
                    <a:pt x="87" y="6"/>
                  </a:cubicBezTo>
                  <a:cubicBezTo>
                    <a:pt x="86" y="5"/>
                    <a:pt x="85" y="4"/>
                    <a:pt x="84" y="3"/>
                  </a:cubicBezTo>
                  <a:cubicBezTo>
                    <a:pt x="83" y="2"/>
                    <a:pt x="82" y="1"/>
                    <a:pt x="81" y="1"/>
                  </a:cubicBezTo>
                  <a:cubicBezTo>
                    <a:pt x="79" y="1"/>
                    <a:pt x="77" y="2"/>
                    <a:pt x="76" y="2"/>
                  </a:cubicBezTo>
                  <a:cubicBezTo>
                    <a:pt x="75" y="3"/>
                    <a:pt x="75" y="4"/>
                    <a:pt x="75" y="4"/>
                  </a:cubicBezTo>
                  <a:cubicBezTo>
                    <a:pt x="75" y="4"/>
                    <a:pt x="75" y="3"/>
                    <a:pt x="76" y="2"/>
                  </a:cubicBezTo>
                  <a:cubicBezTo>
                    <a:pt x="77" y="1"/>
                    <a:pt x="79" y="0"/>
                    <a:pt x="81" y="1"/>
                  </a:cubicBezTo>
                  <a:cubicBezTo>
                    <a:pt x="82" y="1"/>
                    <a:pt x="84" y="1"/>
                    <a:pt x="85" y="2"/>
                  </a:cubicBezTo>
                  <a:cubicBezTo>
                    <a:pt x="86" y="3"/>
                    <a:pt x="87" y="5"/>
                    <a:pt x="88" y="6"/>
                  </a:cubicBezTo>
                  <a:cubicBezTo>
                    <a:pt x="90" y="8"/>
                    <a:pt x="93" y="11"/>
                    <a:pt x="96" y="15"/>
                  </a:cubicBezTo>
                  <a:cubicBezTo>
                    <a:pt x="102" y="21"/>
                    <a:pt x="110" y="29"/>
                    <a:pt x="119" y="37"/>
                  </a:cubicBezTo>
                  <a:cubicBezTo>
                    <a:pt x="124" y="40"/>
                    <a:pt x="129" y="45"/>
                    <a:pt x="132" y="52"/>
                  </a:cubicBezTo>
                  <a:cubicBezTo>
                    <a:pt x="135" y="58"/>
                    <a:pt x="136" y="66"/>
                    <a:pt x="134" y="74"/>
                  </a:cubicBezTo>
                  <a:cubicBezTo>
                    <a:pt x="134" y="74"/>
                    <a:pt x="134" y="74"/>
                    <a:pt x="134" y="74"/>
                  </a:cubicBezTo>
                  <a:cubicBezTo>
                    <a:pt x="134" y="74"/>
                    <a:pt x="134" y="74"/>
                    <a:pt x="134" y="74"/>
                  </a:cubicBezTo>
                  <a:cubicBezTo>
                    <a:pt x="125" y="85"/>
                    <a:pt x="115" y="97"/>
                    <a:pt x="104" y="110"/>
                  </a:cubicBezTo>
                  <a:cubicBezTo>
                    <a:pt x="104" y="111"/>
                    <a:pt x="104" y="111"/>
                    <a:pt x="103" y="111"/>
                  </a:cubicBezTo>
                  <a:cubicBezTo>
                    <a:pt x="93" y="106"/>
                    <a:pt x="82" y="102"/>
                    <a:pt x="71" y="96"/>
                  </a:cubicBezTo>
                  <a:cubicBezTo>
                    <a:pt x="60" y="91"/>
                    <a:pt x="50" y="85"/>
                    <a:pt x="39" y="77"/>
                  </a:cubicBezTo>
                  <a:cubicBezTo>
                    <a:pt x="34" y="73"/>
                    <a:pt x="29" y="69"/>
                    <a:pt x="25" y="64"/>
                  </a:cubicBezTo>
                  <a:cubicBezTo>
                    <a:pt x="21" y="60"/>
                    <a:pt x="17" y="55"/>
                    <a:pt x="13" y="51"/>
                  </a:cubicBezTo>
                  <a:cubicBezTo>
                    <a:pt x="9" y="46"/>
                    <a:pt x="5" y="42"/>
                    <a:pt x="2" y="37"/>
                  </a:cubicBezTo>
                  <a:cubicBezTo>
                    <a:pt x="2" y="35"/>
                    <a:pt x="1" y="34"/>
                    <a:pt x="1" y="32"/>
                  </a:cubicBezTo>
                  <a:cubicBezTo>
                    <a:pt x="0" y="30"/>
                    <a:pt x="2" y="28"/>
                    <a:pt x="3" y="28"/>
                  </a:cubicBezTo>
                  <a:cubicBezTo>
                    <a:pt x="6" y="26"/>
                    <a:pt x="9" y="27"/>
                    <a:pt x="12" y="27"/>
                  </a:cubicBezTo>
                  <a:cubicBezTo>
                    <a:pt x="11" y="29"/>
                    <a:pt x="11" y="29"/>
                    <a:pt x="11" y="29"/>
                  </a:cubicBezTo>
                  <a:cubicBezTo>
                    <a:pt x="10" y="26"/>
                    <a:pt x="9" y="23"/>
                    <a:pt x="10" y="21"/>
                  </a:cubicBezTo>
                  <a:cubicBezTo>
                    <a:pt x="10" y="19"/>
                    <a:pt x="10" y="18"/>
                    <a:pt x="11" y="17"/>
                  </a:cubicBezTo>
                  <a:cubicBezTo>
                    <a:pt x="12" y="15"/>
                    <a:pt x="13" y="14"/>
                    <a:pt x="14" y="14"/>
                  </a:cubicBezTo>
                  <a:cubicBezTo>
                    <a:pt x="17" y="13"/>
                    <a:pt x="20" y="14"/>
                    <a:pt x="22" y="15"/>
                  </a:cubicBezTo>
                  <a:cubicBezTo>
                    <a:pt x="24" y="17"/>
                    <a:pt x="26" y="18"/>
                    <a:pt x="28" y="20"/>
                  </a:cubicBezTo>
                  <a:cubicBezTo>
                    <a:pt x="26" y="21"/>
                    <a:pt x="26" y="21"/>
                    <a:pt x="26" y="21"/>
                  </a:cubicBezTo>
                  <a:cubicBezTo>
                    <a:pt x="26" y="19"/>
                    <a:pt x="25" y="16"/>
                    <a:pt x="26" y="14"/>
                  </a:cubicBezTo>
                  <a:cubicBezTo>
                    <a:pt x="26" y="12"/>
                    <a:pt x="28" y="10"/>
                    <a:pt x="30" y="9"/>
                  </a:cubicBezTo>
                  <a:cubicBezTo>
                    <a:pt x="32" y="8"/>
                    <a:pt x="35" y="8"/>
                    <a:pt x="37" y="9"/>
                  </a:cubicBezTo>
                  <a:cubicBezTo>
                    <a:pt x="39" y="10"/>
                    <a:pt x="41" y="11"/>
                    <a:pt x="42" y="12"/>
                  </a:cubicBezTo>
                  <a:cubicBezTo>
                    <a:pt x="48" y="17"/>
                    <a:pt x="54" y="23"/>
                    <a:pt x="59" y="27"/>
                  </a:cubicBezTo>
                  <a:cubicBezTo>
                    <a:pt x="65" y="31"/>
                    <a:pt x="71" y="34"/>
                    <a:pt x="76" y="36"/>
                  </a:cubicBezTo>
                  <a:cubicBezTo>
                    <a:pt x="79" y="37"/>
                    <a:pt x="82" y="38"/>
                    <a:pt x="85" y="38"/>
                  </a:cubicBezTo>
                  <a:cubicBezTo>
                    <a:pt x="86" y="38"/>
                    <a:pt x="87" y="38"/>
                    <a:pt x="88" y="37"/>
                  </a:cubicBezTo>
                  <a:cubicBezTo>
                    <a:pt x="89" y="36"/>
                    <a:pt x="89" y="35"/>
                    <a:pt x="89" y="34"/>
                  </a:cubicBezTo>
                  <a:cubicBezTo>
                    <a:pt x="89" y="34"/>
                    <a:pt x="89" y="34"/>
                    <a:pt x="89" y="34"/>
                  </a:cubicBezTo>
                  <a:cubicBezTo>
                    <a:pt x="81" y="26"/>
                    <a:pt x="76" y="19"/>
                    <a:pt x="74" y="13"/>
                  </a:cubicBezTo>
                  <a:cubicBezTo>
                    <a:pt x="73" y="10"/>
                    <a:pt x="73" y="7"/>
                    <a:pt x="74" y="6"/>
                  </a:cubicBezTo>
                  <a:cubicBezTo>
                    <a:pt x="74" y="4"/>
                    <a:pt x="75" y="4"/>
                    <a:pt x="75" y="4"/>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isḷiḑe">
              <a:extLst>
                <a:ext uri="{FF2B5EF4-FFF2-40B4-BE49-F238E27FC236}">
                  <a16:creationId xmlns:a16="http://schemas.microsoft.com/office/drawing/2014/main" id="{D6388CE6-310F-C0ED-756C-A260EF4967AA}"/>
                </a:ext>
              </a:extLst>
            </p:cNvPr>
            <p:cNvSpPr/>
            <p:nvPr/>
          </p:nvSpPr>
          <p:spPr bwMode="auto">
            <a:xfrm>
              <a:off x="5372862" y="2652459"/>
              <a:ext cx="287338" cy="180975"/>
            </a:xfrm>
            <a:custGeom>
              <a:avLst/>
              <a:gdLst>
                <a:gd name="T0" fmla="*/ 0 w 98"/>
                <a:gd name="T1" fmla="*/ 0 h 62"/>
                <a:gd name="T2" fmla="*/ 38 w 98"/>
                <a:gd name="T3" fmla="*/ 32 h 62"/>
                <a:gd name="T4" fmla="*/ 98 w 98"/>
                <a:gd name="T5" fmla="*/ 62 h 62"/>
              </a:gdLst>
              <a:ahLst/>
              <a:cxnLst>
                <a:cxn ang="0">
                  <a:pos x="T0" y="T1"/>
                </a:cxn>
                <a:cxn ang="0">
                  <a:pos x="T2" y="T3"/>
                </a:cxn>
                <a:cxn ang="0">
                  <a:pos x="T4" y="T5"/>
                </a:cxn>
              </a:cxnLst>
              <a:rect l="0" t="0" r="r" b="b"/>
              <a:pathLst>
                <a:path w="98" h="62">
                  <a:moveTo>
                    <a:pt x="0" y="0"/>
                  </a:moveTo>
                  <a:cubicBezTo>
                    <a:pt x="38" y="32"/>
                    <a:pt x="38" y="32"/>
                    <a:pt x="38" y="32"/>
                  </a:cubicBezTo>
                  <a:cubicBezTo>
                    <a:pt x="38" y="32"/>
                    <a:pt x="86" y="25"/>
                    <a:pt x="98" y="6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îṡļîďê">
              <a:extLst>
                <a:ext uri="{FF2B5EF4-FFF2-40B4-BE49-F238E27FC236}">
                  <a16:creationId xmlns:a16="http://schemas.microsoft.com/office/drawing/2014/main" id="{9B14E896-D4A3-5712-3242-8F24169FB2B3}"/>
                </a:ext>
              </a:extLst>
            </p:cNvPr>
            <p:cNvSpPr/>
            <p:nvPr/>
          </p:nvSpPr>
          <p:spPr bwMode="auto">
            <a:xfrm>
              <a:off x="5372862" y="2652459"/>
              <a:ext cx="287338" cy="180975"/>
            </a:xfrm>
            <a:custGeom>
              <a:avLst/>
              <a:gdLst>
                <a:gd name="T0" fmla="*/ 98 w 98"/>
                <a:gd name="T1" fmla="*/ 62 h 62"/>
                <a:gd name="T2" fmla="*/ 96 w 98"/>
                <a:gd name="T3" fmla="*/ 58 h 62"/>
                <a:gd name="T4" fmla="*/ 95 w 98"/>
                <a:gd name="T5" fmla="*/ 55 h 62"/>
                <a:gd name="T6" fmla="*/ 93 w 98"/>
                <a:gd name="T7" fmla="*/ 53 h 62"/>
                <a:gd name="T8" fmla="*/ 91 w 98"/>
                <a:gd name="T9" fmla="*/ 50 h 62"/>
                <a:gd name="T10" fmla="*/ 89 w 98"/>
                <a:gd name="T11" fmla="*/ 47 h 62"/>
                <a:gd name="T12" fmla="*/ 73 w 98"/>
                <a:gd name="T13" fmla="*/ 37 h 62"/>
                <a:gd name="T14" fmla="*/ 50 w 98"/>
                <a:gd name="T15" fmla="*/ 33 h 62"/>
                <a:gd name="T16" fmla="*/ 38 w 98"/>
                <a:gd name="T17" fmla="*/ 33 h 62"/>
                <a:gd name="T18" fmla="*/ 38 w 98"/>
                <a:gd name="T19" fmla="*/ 33 h 62"/>
                <a:gd name="T20" fmla="*/ 37 w 98"/>
                <a:gd name="T21" fmla="*/ 33 h 62"/>
                <a:gd name="T22" fmla="*/ 10 w 98"/>
                <a:gd name="T23" fmla="*/ 10 h 62"/>
                <a:gd name="T24" fmla="*/ 3 w 98"/>
                <a:gd name="T25" fmla="*/ 3 h 62"/>
                <a:gd name="T26" fmla="*/ 0 w 98"/>
                <a:gd name="T27" fmla="*/ 0 h 62"/>
                <a:gd name="T28" fmla="*/ 3 w 98"/>
                <a:gd name="T29" fmla="*/ 2 h 62"/>
                <a:gd name="T30" fmla="*/ 11 w 98"/>
                <a:gd name="T31" fmla="*/ 9 h 62"/>
                <a:gd name="T32" fmla="*/ 39 w 98"/>
                <a:gd name="T33" fmla="*/ 31 h 62"/>
                <a:gd name="T34" fmla="*/ 38 w 98"/>
                <a:gd name="T35" fmla="*/ 31 h 62"/>
                <a:gd name="T36" fmla="*/ 50 w 98"/>
                <a:gd name="T37" fmla="*/ 30 h 62"/>
                <a:gd name="T38" fmla="*/ 73 w 98"/>
                <a:gd name="T39" fmla="*/ 35 h 62"/>
                <a:gd name="T40" fmla="*/ 90 w 98"/>
                <a:gd name="T41" fmla="*/ 46 h 62"/>
                <a:gd name="T42" fmla="*/ 92 w 98"/>
                <a:gd name="T43" fmla="*/ 49 h 62"/>
                <a:gd name="T44" fmla="*/ 94 w 98"/>
                <a:gd name="T45" fmla="*/ 52 h 62"/>
                <a:gd name="T46" fmla="*/ 96 w 98"/>
                <a:gd name="T47" fmla="*/ 55 h 62"/>
                <a:gd name="T48" fmla="*/ 97 w 98"/>
                <a:gd name="T49" fmla="*/ 57 h 62"/>
                <a:gd name="T50" fmla="*/ 98 w 98"/>
                <a:gd name="T51"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 h="62">
                  <a:moveTo>
                    <a:pt x="98" y="62"/>
                  </a:moveTo>
                  <a:cubicBezTo>
                    <a:pt x="98" y="62"/>
                    <a:pt x="97" y="60"/>
                    <a:pt x="96" y="58"/>
                  </a:cubicBezTo>
                  <a:cubicBezTo>
                    <a:pt x="96" y="57"/>
                    <a:pt x="95" y="56"/>
                    <a:pt x="95" y="55"/>
                  </a:cubicBezTo>
                  <a:cubicBezTo>
                    <a:pt x="94" y="54"/>
                    <a:pt x="94" y="54"/>
                    <a:pt x="93" y="53"/>
                  </a:cubicBezTo>
                  <a:cubicBezTo>
                    <a:pt x="93" y="52"/>
                    <a:pt x="92" y="51"/>
                    <a:pt x="91" y="50"/>
                  </a:cubicBezTo>
                  <a:cubicBezTo>
                    <a:pt x="90" y="49"/>
                    <a:pt x="90" y="48"/>
                    <a:pt x="89" y="47"/>
                  </a:cubicBezTo>
                  <a:cubicBezTo>
                    <a:pt x="85" y="43"/>
                    <a:pt x="79" y="39"/>
                    <a:pt x="73" y="37"/>
                  </a:cubicBezTo>
                  <a:cubicBezTo>
                    <a:pt x="66" y="34"/>
                    <a:pt x="58" y="33"/>
                    <a:pt x="50" y="33"/>
                  </a:cubicBezTo>
                  <a:cubicBezTo>
                    <a:pt x="46" y="33"/>
                    <a:pt x="42" y="33"/>
                    <a:pt x="38" y="33"/>
                  </a:cubicBezTo>
                  <a:cubicBezTo>
                    <a:pt x="38" y="33"/>
                    <a:pt x="38" y="33"/>
                    <a:pt x="38" y="33"/>
                  </a:cubicBezTo>
                  <a:cubicBezTo>
                    <a:pt x="38" y="33"/>
                    <a:pt x="38" y="33"/>
                    <a:pt x="37" y="33"/>
                  </a:cubicBezTo>
                  <a:cubicBezTo>
                    <a:pt x="27" y="24"/>
                    <a:pt x="17" y="16"/>
                    <a:pt x="10" y="10"/>
                  </a:cubicBezTo>
                  <a:cubicBezTo>
                    <a:pt x="7" y="7"/>
                    <a:pt x="5" y="5"/>
                    <a:pt x="3" y="3"/>
                  </a:cubicBezTo>
                  <a:cubicBezTo>
                    <a:pt x="1" y="1"/>
                    <a:pt x="0" y="0"/>
                    <a:pt x="0" y="0"/>
                  </a:cubicBezTo>
                  <a:cubicBezTo>
                    <a:pt x="0" y="0"/>
                    <a:pt x="1" y="1"/>
                    <a:pt x="3" y="2"/>
                  </a:cubicBezTo>
                  <a:cubicBezTo>
                    <a:pt x="5" y="4"/>
                    <a:pt x="8" y="6"/>
                    <a:pt x="11" y="9"/>
                  </a:cubicBezTo>
                  <a:cubicBezTo>
                    <a:pt x="18" y="14"/>
                    <a:pt x="28" y="22"/>
                    <a:pt x="39" y="31"/>
                  </a:cubicBezTo>
                  <a:cubicBezTo>
                    <a:pt x="38" y="31"/>
                    <a:pt x="38" y="31"/>
                    <a:pt x="38" y="31"/>
                  </a:cubicBezTo>
                  <a:cubicBezTo>
                    <a:pt x="42" y="31"/>
                    <a:pt x="46" y="30"/>
                    <a:pt x="50" y="30"/>
                  </a:cubicBezTo>
                  <a:cubicBezTo>
                    <a:pt x="58" y="31"/>
                    <a:pt x="66" y="32"/>
                    <a:pt x="73" y="35"/>
                  </a:cubicBezTo>
                  <a:cubicBezTo>
                    <a:pt x="80" y="38"/>
                    <a:pt x="86" y="42"/>
                    <a:pt x="90" y="46"/>
                  </a:cubicBezTo>
                  <a:cubicBezTo>
                    <a:pt x="91" y="47"/>
                    <a:pt x="91" y="48"/>
                    <a:pt x="92" y="49"/>
                  </a:cubicBezTo>
                  <a:cubicBezTo>
                    <a:pt x="93" y="50"/>
                    <a:pt x="94" y="51"/>
                    <a:pt x="94" y="52"/>
                  </a:cubicBezTo>
                  <a:cubicBezTo>
                    <a:pt x="95" y="53"/>
                    <a:pt x="95" y="54"/>
                    <a:pt x="96" y="55"/>
                  </a:cubicBezTo>
                  <a:cubicBezTo>
                    <a:pt x="96" y="56"/>
                    <a:pt x="96" y="57"/>
                    <a:pt x="97" y="57"/>
                  </a:cubicBezTo>
                  <a:cubicBezTo>
                    <a:pt x="98" y="60"/>
                    <a:pt x="98" y="62"/>
                    <a:pt x="98" y="62"/>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íṥ1iḓe">
              <a:extLst>
                <a:ext uri="{FF2B5EF4-FFF2-40B4-BE49-F238E27FC236}">
                  <a16:creationId xmlns:a16="http://schemas.microsoft.com/office/drawing/2014/main" id="{D5A7DFA0-1F44-B61E-BB06-54A490CF69C0}"/>
                </a:ext>
              </a:extLst>
            </p:cNvPr>
            <p:cNvSpPr/>
            <p:nvPr/>
          </p:nvSpPr>
          <p:spPr bwMode="auto">
            <a:xfrm>
              <a:off x="5417312" y="2631822"/>
              <a:ext cx="103188" cy="76200"/>
            </a:xfrm>
            <a:custGeom>
              <a:avLst/>
              <a:gdLst>
                <a:gd name="T0" fmla="*/ 0 w 35"/>
                <a:gd name="T1" fmla="*/ 0 h 26"/>
                <a:gd name="T2" fmla="*/ 35 w 35"/>
                <a:gd name="T3" fmla="*/ 26 h 26"/>
              </a:gdLst>
              <a:ahLst/>
              <a:cxnLst>
                <a:cxn ang="0">
                  <a:pos x="T0" y="T1"/>
                </a:cxn>
                <a:cxn ang="0">
                  <a:pos x="T2" y="T3"/>
                </a:cxn>
              </a:cxnLst>
              <a:rect l="0" t="0" r="r" b="b"/>
              <a:pathLst>
                <a:path w="35" h="26">
                  <a:moveTo>
                    <a:pt x="0" y="0"/>
                  </a:moveTo>
                  <a:cubicBezTo>
                    <a:pt x="2" y="1"/>
                    <a:pt x="35" y="26"/>
                    <a:pt x="35" y="2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i$líďé">
              <a:extLst>
                <a:ext uri="{FF2B5EF4-FFF2-40B4-BE49-F238E27FC236}">
                  <a16:creationId xmlns:a16="http://schemas.microsoft.com/office/drawing/2014/main" id="{261DD1B8-9900-9179-9933-C1B45DBC569B}"/>
                </a:ext>
              </a:extLst>
            </p:cNvPr>
            <p:cNvSpPr/>
            <p:nvPr/>
          </p:nvSpPr>
          <p:spPr bwMode="auto">
            <a:xfrm>
              <a:off x="5417312" y="2628647"/>
              <a:ext cx="103188" cy="82550"/>
            </a:xfrm>
            <a:custGeom>
              <a:avLst/>
              <a:gdLst>
                <a:gd name="T0" fmla="*/ 35 w 35"/>
                <a:gd name="T1" fmla="*/ 27 h 28"/>
                <a:gd name="T2" fmla="*/ 17 w 35"/>
                <a:gd name="T3" fmla="*/ 15 h 28"/>
                <a:gd name="T4" fmla="*/ 0 w 35"/>
                <a:gd name="T5" fmla="*/ 1 h 28"/>
                <a:gd name="T6" fmla="*/ 18 w 35"/>
                <a:gd name="T7" fmla="*/ 13 h 28"/>
                <a:gd name="T8" fmla="*/ 35 w 35"/>
                <a:gd name="T9" fmla="*/ 27 h 28"/>
              </a:gdLst>
              <a:ahLst/>
              <a:cxnLst>
                <a:cxn ang="0">
                  <a:pos x="T0" y="T1"/>
                </a:cxn>
                <a:cxn ang="0">
                  <a:pos x="T2" y="T3"/>
                </a:cxn>
                <a:cxn ang="0">
                  <a:pos x="T4" y="T5"/>
                </a:cxn>
                <a:cxn ang="0">
                  <a:pos x="T6" y="T7"/>
                </a:cxn>
                <a:cxn ang="0">
                  <a:pos x="T8" y="T9"/>
                </a:cxn>
              </a:cxnLst>
              <a:rect l="0" t="0" r="r" b="b"/>
              <a:pathLst>
                <a:path w="35" h="28">
                  <a:moveTo>
                    <a:pt x="35" y="27"/>
                  </a:moveTo>
                  <a:cubicBezTo>
                    <a:pt x="34" y="28"/>
                    <a:pt x="26" y="22"/>
                    <a:pt x="17" y="15"/>
                  </a:cubicBezTo>
                  <a:cubicBezTo>
                    <a:pt x="7" y="8"/>
                    <a:pt x="0" y="1"/>
                    <a:pt x="0" y="1"/>
                  </a:cubicBezTo>
                  <a:cubicBezTo>
                    <a:pt x="0" y="0"/>
                    <a:pt x="8" y="6"/>
                    <a:pt x="18" y="13"/>
                  </a:cubicBezTo>
                  <a:cubicBezTo>
                    <a:pt x="28" y="21"/>
                    <a:pt x="35" y="27"/>
                    <a:pt x="35" y="27"/>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îSļïḑe">
              <a:extLst>
                <a:ext uri="{FF2B5EF4-FFF2-40B4-BE49-F238E27FC236}">
                  <a16:creationId xmlns:a16="http://schemas.microsoft.com/office/drawing/2014/main" id="{7AA46BF3-ECBF-8BDC-1B48-68820B8DD4D9}"/>
                </a:ext>
              </a:extLst>
            </p:cNvPr>
            <p:cNvSpPr/>
            <p:nvPr/>
          </p:nvSpPr>
          <p:spPr bwMode="auto">
            <a:xfrm>
              <a:off x="5604637" y="2669922"/>
              <a:ext cx="2041525" cy="968375"/>
            </a:xfrm>
            <a:custGeom>
              <a:avLst/>
              <a:gdLst>
                <a:gd name="T0" fmla="*/ 644 w 697"/>
                <a:gd name="T1" fmla="*/ 127 h 331"/>
                <a:gd name="T2" fmla="*/ 539 w 697"/>
                <a:gd name="T3" fmla="*/ 47 h 331"/>
                <a:gd name="T4" fmla="*/ 514 w 697"/>
                <a:gd name="T5" fmla="*/ 35 h 331"/>
                <a:gd name="T6" fmla="*/ 435 w 697"/>
                <a:gd name="T7" fmla="*/ 14 h 331"/>
                <a:gd name="T8" fmla="*/ 425 w 697"/>
                <a:gd name="T9" fmla="*/ 0 h 331"/>
                <a:gd name="T10" fmla="*/ 388 w 697"/>
                <a:gd name="T11" fmla="*/ 28 h 331"/>
                <a:gd name="T12" fmla="*/ 353 w 697"/>
                <a:gd name="T13" fmla="*/ 6 h 331"/>
                <a:gd name="T14" fmla="*/ 333 w 697"/>
                <a:gd name="T15" fmla="*/ 23 h 331"/>
                <a:gd name="T16" fmla="*/ 256 w 697"/>
                <a:gd name="T17" fmla="*/ 43 h 331"/>
                <a:gd name="T18" fmla="*/ 160 w 697"/>
                <a:gd name="T19" fmla="*/ 104 h 331"/>
                <a:gd name="T20" fmla="*/ 50 w 697"/>
                <a:gd name="T21" fmla="*/ 21 h 331"/>
                <a:gd name="T22" fmla="*/ 0 w 697"/>
                <a:gd name="T23" fmla="*/ 83 h 331"/>
                <a:gd name="T24" fmla="*/ 138 w 697"/>
                <a:gd name="T25" fmla="*/ 193 h 331"/>
                <a:gd name="T26" fmla="*/ 193 w 697"/>
                <a:gd name="T27" fmla="*/ 196 h 331"/>
                <a:gd name="T28" fmla="*/ 272 w 697"/>
                <a:gd name="T29" fmla="*/ 147 h 331"/>
                <a:gd name="T30" fmla="*/ 283 w 697"/>
                <a:gd name="T31" fmla="*/ 221 h 331"/>
                <a:gd name="T32" fmla="*/ 277 w 697"/>
                <a:gd name="T33" fmla="*/ 312 h 331"/>
                <a:gd name="T34" fmla="*/ 282 w 697"/>
                <a:gd name="T35" fmla="*/ 330 h 331"/>
                <a:gd name="T36" fmla="*/ 505 w 697"/>
                <a:gd name="T37" fmla="*/ 331 h 331"/>
                <a:gd name="T38" fmla="*/ 508 w 697"/>
                <a:gd name="T39" fmla="*/ 311 h 331"/>
                <a:gd name="T40" fmla="*/ 497 w 697"/>
                <a:gd name="T41" fmla="*/ 204 h 331"/>
                <a:gd name="T42" fmla="*/ 507 w 697"/>
                <a:gd name="T43" fmla="*/ 150 h 331"/>
                <a:gd name="T44" fmla="*/ 595 w 697"/>
                <a:gd name="T45" fmla="*/ 192 h 331"/>
                <a:gd name="T46" fmla="*/ 552 w 697"/>
                <a:gd name="T47" fmla="*/ 237 h 331"/>
                <a:gd name="T48" fmla="*/ 526 w 697"/>
                <a:gd name="T49" fmla="*/ 261 h 331"/>
                <a:gd name="T50" fmla="*/ 560 w 697"/>
                <a:gd name="T51" fmla="*/ 317 h 331"/>
                <a:gd name="T52" fmla="*/ 588 w 697"/>
                <a:gd name="T53" fmla="*/ 300 h 331"/>
                <a:gd name="T54" fmla="*/ 667 w 697"/>
                <a:gd name="T55" fmla="*/ 226 h 331"/>
                <a:gd name="T56" fmla="*/ 644 w 697"/>
                <a:gd name="T57" fmla="*/ 127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7" h="331">
                  <a:moveTo>
                    <a:pt x="644" y="127"/>
                  </a:moveTo>
                  <a:cubicBezTo>
                    <a:pt x="539" y="47"/>
                    <a:pt x="539" y="47"/>
                    <a:pt x="539" y="47"/>
                  </a:cubicBezTo>
                  <a:cubicBezTo>
                    <a:pt x="531" y="41"/>
                    <a:pt x="523" y="37"/>
                    <a:pt x="514" y="35"/>
                  </a:cubicBezTo>
                  <a:cubicBezTo>
                    <a:pt x="435" y="14"/>
                    <a:pt x="435" y="14"/>
                    <a:pt x="435" y="14"/>
                  </a:cubicBezTo>
                  <a:cubicBezTo>
                    <a:pt x="425" y="0"/>
                    <a:pt x="425" y="0"/>
                    <a:pt x="425" y="0"/>
                  </a:cubicBezTo>
                  <a:cubicBezTo>
                    <a:pt x="388" y="28"/>
                    <a:pt x="388" y="28"/>
                    <a:pt x="388" y="28"/>
                  </a:cubicBezTo>
                  <a:cubicBezTo>
                    <a:pt x="353" y="6"/>
                    <a:pt x="353" y="6"/>
                    <a:pt x="353" y="6"/>
                  </a:cubicBezTo>
                  <a:cubicBezTo>
                    <a:pt x="333" y="23"/>
                    <a:pt x="333" y="23"/>
                    <a:pt x="333" y="23"/>
                  </a:cubicBezTo>
                  <a:cubicBezTo>
                    <a:pt x="256" y="43"/>
                    <a:pt x="256" y="43"/>
                    <a:pt x="256" y="43"/>
                  </a:cubicBezTo>
                  <a:cubicBezTo>
                    <a:pt x="160" y="104"/>
                    <a:pt x="160" y="104"/>
                    <a:pt x="160" y="104"/>
                  </a:cubicBezTo>
                  <a:cubicBezTo>
                    <a:pt x="50" y="21"/>
                    <a:pt x="50" y="21"/>
                    <a:pt x="50" y="21"/>
                  </a:cubicBezTo>
                  <a:cubicBezTo>
                    <a:pt x="0" y="83"/>
                    <a:pt x="0" y="83"/>
                    <a:pt x="0" y="83"/>
                  </a:cubicBezTo>
                  <a:cubicBezTo>
                    <a:pt x="138" y="193"/>
                    <a:pt x="138" y="193"/>
                    <a:pt x="138" y="193"/>
                  </a:cubicBezTo>
                  <a:cubicBezTo>
                    <a:pt x="154" y="206"/>
                    <a:pt x="176" y="207"/>
                    <a:pt x="193" y="196"/>
                  </a:cubicBezTo>
                  <a:cubicBezTo>
                    <a:pt x="272" y="147"/>
                    <a:pt x="272" y="147"/>
                    <a:pt x="272" y="147"/>
                  </a:cubicBezTo>
                  <a:cubicBezTo>
                    <a:pt x="283" y="221"/>
                    <a:pt x="283" y="221"/>
                    <a:pt x="283" y="221"/>
                  </a:cubicBezTo>
                  <a:cubicBezTo>
                    <a:pt x="277" y="312"/>
                    <a:pt x="277" y="312"/>
                    <a:pt x="277" y="312"/>
                  </a:cubicBezTo>
                  <a:cubicBezTo>
                    <a:pt x="276" y="318"/>
                    <a:pt x="276" y="330"/>
                    <a:pt x="282" y="330"/>
                  </a:cubicBezTo>
                  <a:cubicBezTo>
                    <a:pt x="505" y="331"/>
                    <a:pt x="505" y="331"/>
                    <a:pt x="505" y="331"/>
                  </a:cubicBezTo>
                  <a:cubicBezTo>
                    <a:pt x="512" y="331"/>
                    <a:pt x="509" y="317"/>
                    <a:pt x="508" y="311"/>
                  </a:cubicBezTo>
                  <a:cubicBezTo>
                    <a:pt x="497" y="204"/>
                    <a:pt x="497" y="204"/>
                    <a:pt x="497" y="204"/>
                  </a:cubicBezTo>
                  <a:cubicBezTo>
                    <a:pt x="507" y="150"/>
                    <a:pt x="507" y="150"/>
                    <a:pt x="507" y="150"/>
                  </a:cubicBezTo>
                  <a:cubicBezTo>
                    <a:pt x="595" y="192"/>
                    <a:pt x="595" y="192"/>
                    <a:pt x="595" y="192"/>
                  </a:cubicBezTo>
                  <a:cubicBezTo>
                    <a:pt x="552" y="237"/>
                    <a:pt x="552" y="237"/>
                    <a:pt x="552" y="237"/>
                  </a:cubicBezTo>
                  <a:cubicBezTo>
                    <a:pt x="526" y="261"/>
                    <a:pt x="526" y="261"/>
                    <a:pt x="526" y="261"/>
                  </a:cubicBezTo>
                  <a:cubicBezTo>
                    <a:pt x="560" y="317"/>
                    <a:pt x="560" y="317"/>
                    <a:pt x="560" y="317"/>
                  </a:cubicBezTo>
                  <a:cubicBezTo>
                    <a:pt x="588" y="300"/>
                    <a:pt x="588" y="300"/>
                    <a:pt x="588" y="300"/>
                  </a:cubicBezTo>
                  <a:cubicBezTo>
                    <a:pt x="667" y="226"/>
                    <a:pt x="667" y="226"/>
                    <a:pt x="667" y="226"/>
                  </a:cubicBezTo>
                  <a:cubicBezTo>
                    <a:pt x="697" y="192"/>
                    <a:pt x="680" y="155"/>
                    <a:pt x="644" y="1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îṡľíḋe">
              <a:extLst>
                <a:ext uri="{FF2B5EF4-FFF2-40B4-BE49-F238E27FC236}">
                  <a16:creationId xmlns:a16="http://schemas.microsoft.com/office/drawing/2014/main" id="{ABAF938A-4B39-818D-439C-E8BFC41CA49E}"/>
                </a:ext>
              </a:extLst>
            </p:cNvPr>
            <p:cNvSpPr/>
            <p:nvPr/>
          </p:nvSpPr>
          <p:spPr bwMode="auto">
            <a:xfrm>
              <a:off x="5601462" y="2669922"/>
              <a:ext cx="2003425" cy="971550"/>
            </a:xfrm>
            <a:custGeom>
              <a:avLst/>
              <a:gdLst>
                <a:gd name="T0" fmla="*/ 666 w 684"/>
                <a:gd name="T1" fmla="*/ 148 h 332"/>
                <a:gd name="T2" fmla="*/ 668 w 684"/>
                <a:gd name="T3" fmla="*/ 227 h 332"/>
                <a:gd name="T4" fmla="*/ 589 w 684"/>
                <a:gd name="T5" fmla="*/ 301 h 332"/>
                <a:gd name="T6" fmla="*/ 561 w 684"/>
                <a:gd name="T7" fmla="*/ 318 h 332"/>
                <a:gd name="T8" fmla="*/ 553 w 684"/>
                <a:gd name="T9" fmla="*/ 236 h 332"/>
                <a:gd name="T10" fmla="*/ 595 w 684"/>
                <a:gd name="T11" fmla="*/ 193 h 332"/>
                <a:gd name="T12" fmla="*/ 499 w 684"/>
                <a:gd name="T13" fmla="*/ 204 h 332"/>
                <a:gd name="T14" fmla="*/ 511 w 684"/>
                <a:gd name="T15" fmla="*/ 324 h 332"/>
                <a:gd name="T16" fmla="*/ 502 w 684"/>
                <a:gd name="T17" fmla="*/ 332 h 332"/>
                <a:gd name="T18" fmla="*/ 296 w 684"/>
                <a:gd name="T19" fmla="*/ 331 h 332"/>
                <a:gd name="T20" fmla="*/ 280 w 684"/>
                <a:gd name="T21" fmla="*/ 330 h 332"/>
                <a:gd name="T22" fmla="*/ 279 w 684"/>
                <a:gd name="T23" fmla="*/ 283 h 332"/>
                <a:gd name="T24" fmla="*/ 272 w 684"/>
                <a:gd name="T25" fmla="*/ 149 h 332"/>
                <a:gd name="T26" fmla="*/ 201 w 684"/>
                <a:gd name="T27" fmla="*/ 193 h 332"/>
                <a:gd name="T28" fmla="*/ 161 w 684"/>
                <a:gd name="T29" fmla="*/ 204 h 332"/>
                <a:gd name="T30" fmla="*/ 125 w 684"/>
                <a:gd name="T31" fmla="*/ 184 h 332"/>
                <a:gd name="T32" fmla="*/ 0 w 684"/>
                <a:gd name="T33" fmla="*/ 82 h 332"/>
                <a:gd name="T34" fmla="*/ 161 w 684"/>
                <a:gd name="T35" fmla="*/ 103 h 332"/>
                <a:gd name="T36" fmla="*/ 257 w 684"/>
                <a:gd name="T37" fmla="*/ 42 h 332"/>
                <a:gd name="T38" fmla="*/ 353 w 684"/>
                <a:gd name="T39" fmla="*/ 6 h 332"/>
                <a:gd name="T40" fmla="*/ 389 w 684"/>
                <a:gd name="T41" fmla="*/ 27 h 332"/>
                <a:gd name="T42" fmla="*/ 426 w 684"/>
                <a:gd name="T43" fmla="*/ 0 h 332"/>
                <a:gd name="T44" fmla="*/ 488 w 684"/>
                <a:gd name="T45" fmla="*/ 27 h 332"/>
                <a:gd name="T46" fmla="*/ 594 w 684"/>
                <a:gd name="T47" fmla="*/ 88 h 332"/>
                <a:gd name="T48" fmla="*/ 645 w 684"/>
                <a:gd name="T49" fmla="*/ 127 h 332"/>
                <a:gd name="T50" fmla="*/ 594 w 684"/>
                <a:gd name="T51" fmla="*/ 89 h 332"/>
                <a:gd name="T52" fmla="*/ 488 w 684"/>
                <a:gd name="T53" fmla="*/ 28 h 332"/>
                <a:gd name="T54" fmla="*/ 425 w 684"/>
                <a:gd name="T55" fmla="*/ 1 h 332"/>
                <a:gd name="T56" fmla="*/ 389 w 684"/>
                <a:gd name="T57" fmla="*/ 29 h 332"/>
                <a:gd name="T58" fmla="*/ 335 w 684"/>
                <a:gd name="T59" fmla="*/ 24 h 332"/>
                <a:gd name="T60" fmla="*/ 257 w 684"/>
                <a:gd name="T61" fmla="*/ 44 h 332"/>
                <a:gd name="T62" fmla="*/ 51 w 684"/>
                <a:gd name="T63" fmla="*/ 22 h 332"/>
                <a:gd name="T64" fmla="*/ 2 w 684"/>
                <a:gd name="T65" fmla="*/ 82 h 332"/>
                <a:gd name="T66" fmla="*/ 162 w 684"/>
                <a:gd name="T67" fmla="*/ 202 h 332"/>
                <a:gd name="T68" fmla="*/ 200 w 684"/>
                <a:gd name="T69" fmla="*/ 191 h 332"/>
                <a:gd name="T70" fmla="*/ 274 w 684"/>
                <a:gd name="T71" fmla="*/ 147 h 332"/>
                <a:gd name="T72" fmla="*/ 285 w 684"/>
                <a:gd name="T73" fmla="*/ 221 h 332"/>
                <a:gd name="T74" fmla="*/ 279 w 684"/>
                <a:gd name="T75" fmla="*/ 322 h 332"/>
                <a:gd name="T76" fmla="*/ 288 w 684"/>
                <a:gd name="T77" fmla="*/ 329 h 332"/>
                <a:gd name="T78" fmla="*/ 473 w 684"/>
                <a:gd name="T79" fmla="*/ 330 h 332"/>
                <a:gd name="T80" fmla="*/ 508 w 684"/>
                <a:gd name="T81" fmla="*/ 330 h 332"/>
                <a:gd name="T82" fmla="*/ 497 w 684"/>
                <a:gd name="T83" fmla="*/ 204 h 332"/>
                <a:gd name="T84" fmla="*/ 508 w 684"/>
                <a:gd name="T85" fmla="*/ 149 h 332"/>
                <a:gd name="T86" fmla="*/ 596 w 684"/>
                <a:gd name="T87" fmla="*/ 193 h 332"/>
                <a:gd name="T88" fmla="*/ 554 w 684"/>
                <a:gd name="T89" fmla="*/ 237 h 332"/>
                <a:gd name="T90" fmla="*/ 562 w 684"/>
                <a:gd name="T91" fmla="*/ 317 h 332"/>
                <a:gd name="T92" fmla="*/ 588 w 684"/>
                <a:gd name="T93" fmla="*/ 300 h 332"/>
                <a:gd name="T94" fmla="*/ 681 w 684"/>
                <a:gd name="T95" fmla="*/ 203 h 332"/>
                <a:gd name="T96" fmla="*/ 650 w 684"/>
                <a:gd name="T97" fmla="*/ 1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4" h="332">
                  <a:moveTo>
                    <a:pt x="645" y="127"/>
                  </a:moveTo>
                  <a:cubicBezTo>
                    <a:pt x="645" y="127"/>
                    <a:pt x="647" y="128"/>
                    <a:pt x="651" y="131"/>
                  </a:cubicBezTo>
                  <a:cubicBezTo>
                    <a:pt x="654" y="135"/>
                    <a:pt x="660" y="140"/>
                    <a:pt x="666" y="148"/>
                  </a:cubicBezTo>
                  <a:cubicBezTo>
                    <a:pt x="673" y="155"/>
                    <a:pt x="680" y="166"/>
                    <a:pt x="683" y="180"/>
                  </a:cubicBezTo>
                  <a:cubicBezTo>
                    <a:pt x="684" y="187"/>
                    <a:pt x="684" y="196"/>
                    <a:pt x="682" y="204"/>
                  </a:cubicBezTo>
                  <a:cubicBezTo>
                    <a:pt x="679" y="212"/>
                    <a:pt x="674" y="220"/>
                    <a:pt x="668" y="227"/>
                  </a:cubicBezTo>
                  <a:cubicBezTo>
                    <a:pt x="668" y="227"/>
                    <a:pt x="668" y="227"/>
                    <a:pt x="668" y="227"/>
                  </a:cubicBezTo>
                  <a:cubicBezTo>
                    <a:pt x="646" y="247"/>
                    <a:pt x="620" y="272"/>
                    <a:pt x="589" y="300"/>
                  </a:cubicBezTo>
                  <a:cubicBezTo>
                    <a:pt x="589" y="301"/>
                    <a:pt x="589" y="301"/>
                    <a:pt x="589" y="301"/>
                  </a:cubicBezTo>
                  <a:cubicBezTo>
                    <a:pt x="581" y="306"/>
                    <a:pt x="571" y="312"/>
                    <a:pt x="562" y="318"/>
                  </a:cubicBezTo>
                  <a:cubicBezTo>
                    <a:pt x="561" y="318"/>
                    <a:pt x="561" y="318"/>
                    <a:pt x="561" y="318"/>
                  </a:cubicBezTo>
                  <a:cubicBezTo>
                    <a:pt x="561" y="318"/>
                    <a:pt x="561" y="318"/>
                    <a:pt x="561" y="318"/>
                  </a:cubicBezTo>
                  <a:cubicBezTo>
                    <a:pt x="550" y="300"/>
                    <a:pt x="538" y="281"/>
                    <a:pt x="526" y="261"/>
                  </a:cubicBezTo>
                  <a:cubicBezTo>
                    <a:pt x="526" y="261"/>
                    <a:pt x="526" y="260"/>
                    <a:pt x="526" y="260"/>
                  </a:cubicBezTo>
                  <a:cubicBezTo>
                    <a:pt x="534" y="253"/>
                    <a:pt x="544" y="245"/>
                    <a:pt x="553" y="236"/>
                  </a:cubicBezTo>
                  <a:cubicBezTo>
                    <a:pt x="553" y="236"/>
                    <a:pt x="553" y="236"/>
                    <a:pt x="553" y="236"/>
                  </a:cubicBezTo>
                  <a:cubicBezTo>
                    <a:pt x="566" y="223"/>
                    <a:pt x="580" y="207"/>
                    <a:pt x="595" y="192"/>
                  </a:cubicBezTo>
                  <a:cubicBezTo>
                    <a:pt x="595" y="193"/>
                    <a:pt x="595" y="193"/>
                    <a:pt x="595" y="193"/>
                  </a:cubicBezTo>
                  <a:cubicBezTo>
                    <a:pt x="568" y="180"/>
                    <a:pt x="538" y="166"/>
                    <a:pt x="507" y="151"/>
                  </a:cubicBezTo>
                  <a:cubicBezTo>
                    <a:pt x="509" y="150"/>
                    <a:pt x="509" y="150"/>
                    <a:pt x="509" y="150"/>
                  </a:cubicBezTo>
                  <a:cubicBezTo>
                    <a:pt x="506" y="167"/>
                    <a:pt x="502" y="185"/>
                    <a:pt x="499" y="204"/>
                  </a:cubicBezTo>
                  <a:cubicBezTo>
                    <a:pt x="499" y="204"/>
                    <a:pt x="499" y="204"/>
                    <a:pt x="499" y="204"/>
                  </a:cubicBezTo>
                  <a:cubicBezTo>
                    <a:pt x="502" y="238"/>
                    <a:pt x="506" y="274"/>
                    <a:pt x="510" y="310"/>
                  </a:cubicBezTo>
                  <a:cubicBezTo>
                    <a:pt x="511" y="315"/>
                    <a:pt x="511" y="319"/>
                    <a:pt x="511" y="324"/>
                  </a:cubicBezTo>
                  <a:cubicBezTo>
                    <a:pt x="511" y="326"/>
                    <a:pt x="511" y="329"/>
                    <a:pt x="509" y="331"/>
                  </a:cubicBezTo>
                  <a:cubicBezTo>
                    <a:pt x="508" y="332"/>
                    <a:pt x="506" y="332"/>
                    <a:pt x="505" y="332"/>
                  </a:cubicBezTo>
                  <a:cubicBezTo>
                    <a:pt x="502" y="332"/>
                    <a:pt x="502" y="332"/>
                    <a:pt x="502" y="332"/>
                  </a:cubicBezTo>
                  <a:cubicBezTo>
                    <a:pt x="492" y="332"/>
                    <a:pt x="483" y="332"/>
                    <a:pt x="473" y="332"/>
                  </a:cubicBezTo>
                  <a:cubicBezTo>
                    <a:pt x="454" y="332"/>
                    <a:pt x="435" y="332"/>
                    <a:pt x="416" y="332"/>
                  </a:cubicBezTo>
                  <a:cubicBezTo>
                    <a:pt x="377" y="331"/>
                    <a:pt x="337" y="331"/>
                    <a:pt x="296" y="331"/>
                  </a:cubicBezTo>
                  <a:cubicBezTo>
                    <a:pt x="288" y="331"/>
                    <a:pt x="288" y="331"/>
                    <a:pt x="288" y="331"/>
                  </a:cubicBezTo>
                  <a:cubicBezTo>
                    <a:pt x="285" y="331"/>
                    <a:pt x="285" y="331"/>
                    <a:pt x="285" y="331"/>
                  </a:cubicBezTo>
                  <a:cubicBezTo>
                    <a:pt x="283" y="331"/>
                    <a:pt x="282" y="331"/>
                    <a:pt x="280" y="330"/>
                  </a:cubicBezTo>
                  <a:cubicBezTo>
                    <a:pt x="278" y="328"/>
                    <a:pt x="277" y="325"/>
                    <a:pt x="277" y="322"/>
                  </a:cubicBezTo>
                  <a:cubicBezTo>
                    <a:pt x="276" y="320"/>
                    <a:pt x="276" y="317"/>
                    <a:pt x="276" y="314"/>
                  </a:cubicBezTo>
                  <a:cubicBezTo>
                    <a:pt x="277" y="304"/>
                    <a:pt x="278" y="294"/>
                    <a:pt x="279" y="283"/>
                  </a:cubicBezTo>
                  <a:cubicBezTo>
                    <a:pt x="280" y="263"/>
                    <a:pt x="282" y="242"/>
                    <a:pt x="283" y="221"/>
                  </a:cubicBezTo>
                  <a:cubicBezTo>
                    <a:pt x="283" y="221"/>
                    <a:pt x="283" y="221"/>
                    <a:pt x="283" y="221"/>
                  </a:cubicBezTo>
                  <a:cubicBezTo>
                    <a:pt x="280" y="198"/>
                    <a:pt x="276" y="174"/>
                    <a:pt x="272" y="149"/>
                  </a:cubicBezTo>
                  <a:cubicBezTo>
                    <a:pt x="272" y="147"/>
                    <a:pt x="272" y="147"/>
                    <a:pt x="272" y="147"/>
                  </a:cubicBezTo>
                  <a:cubicBezTo>
                    <a:pt x="273" y="148"/>
                    <a:pt x="273" y="148"/>
                    <a:pt x="273" y="148"/>
                  </a:cubicBezTo>
                  <a:cubicBezTo>
                    <a:pt x="249" y="163"/>
                    <a:pt x="225" y="178"/>
                    <a:pt x="201" y="193"/>
                  </a:cubicBezTo>
                  <a:cubicBezTo>
                    <a:pt x="198" y="195"/>
                    <a:pt x="195" y="197"/>
                    <a:pt x="192" y="199"/>
                  </a:cubicBezTo>
                  <a:cubicBezTo>
                    <a:pt x="189" y="200"/>
                    <a:pt x="186" y="202"/>
                    <a:pt x="182" y="203"/>
                  </a:cubicBezTo>
                  <a:cubicBezTo>
                    <a:pt x="176" y="205"/>
                    <a:pt x="168" y="205"/>
                    <a:pt x="161" y="204"/>
                  </a:cubicBezTo>
                  <a:cubicBezTo>
                    <a:pt x="154" y="203"/>
                    <a:pt x="147" y="200"/>
                    <a:pt x="142" y="196"/>
                  </a:cubicBezTo>
                  <a:cubicBezTo>
                    <a:pt x="139" y="194"/>
                    <a:pt x="136" y="192"/>
                    <a:pt x="133" y="190"/>
                  </a:cubicBezTo>
                  <a:cubicBezTo>
                    <a:pt x="125" y="184"/>
                    <a:pt x="125" y="184"/>
                    <a:pt x="125" y="184"/>
                  </a:cubicBezTo>
                  <a:cubicBezTo>
                    <a:pt x="82" y="149"/>
                    <a:pt x="41" y="116"/>
                    <a:pt x="0" y="84"/>
                  </a:cubicBezTo>
                  <a:cubicBezTo>
                    <a:pt x="0" y="83"/>
                    <a:pt x="0" y="83"/>
                    <a:pt x="0" y="82"/>
                  </a:cubicBezTo>
                  <a:cubicBezTo>
                    <a:pt x="0" y="82"/>
                    <a:pt x="0" y="82"/>
                    <a:pt x="0" y="82"/>
                  </a:cubicBezTo>
                  <a:cubicBezTo>
                    <a:pt x="17" y="61"/>
                    <a:pt x="34" y="41"/>
                    <a:pt x="51" y="21"/>
                  </a:cubicBezTo>
                  <a:cubicBezTo>
                    <a:pt x="51" y="20"/>
                    <a:pt x="52" y="20"/>
                    <a:pt x="52" y="20"/>
                  </a:cubicBezTo>
                  <a:cubicBezTo>
                    <a:pt x="90" y="49"/>
                    <a:pt x="126" y="77"/>
                    <a:pt x="161" y="103"/>
                  </a:cubicBezTo>
                  <a:cubicBezTo>
                    <a:pt x="160" y="103"/>
                    <a:pt x="160" y="103"/>
                    <a:pt x="160" y="103"/>
                  </a:cubicBezTo>
                  <a:cubicBezTo>
                    <a:pt x="194" y="82"/>
                    <a:pt x="226" y="62"/>
                    <a:pt x="257" y="43"/>
                  </a:cubicBezTo>
                  <a:cubicBezTo>
                    <a:pt x="257" y="42"/>
                    <a:pt x="257" y="42"/>
                    <a:pt x="257" y="42"/>
                  </a:cubicBezTo>
                  <a:cubicBezTo>
                    <a:pt x="284" y="35"/>
                    <a:pt x="310" y="29"/>
                    <a:pt x="334" y="23"/>
                  </a:cubicBezTo>
                  <a:cubicBezTo>
                    <a:pt x="334" y="23"/>
                    <a:pt x="334" y="23"/>
                    <a:pt x="334" y="23"/>
                  </a:cubicBezTo>
                  <a:cubicBezTo>
                    <a:pt x="341" y="17"/>
                    <a:pt x="347" y="11"/>
                    <a:pt x="353" y="6"/>
                  </a:cubicBezTo>
                  <a:cubicBezTo>
                    <a:pt x="353" y="6"/>
                    <a:pt x="354" y="6"/>
                    <a:pt x="354" y="6"/>
                  </a:cubicBezTo>
                  <a:cubicBezTo>
                    <a:pt x="367" y="13"/>
                    <a:pt x="378" y="20"/>
                    <a:pt x="389" y="27"/>
                  </a:cubicBezTo>
                  <a:cubicBezTo>
                    <a:pt x="389" y="27"/>
                    <a:pt x="389" y="27"/>
                    <a:pt x="389" y="27"/>
                  </a:cubicBezTo>
                  <a:cubicBezTo>
                    <a:pt x="402" y="17"/>
                    <a:pt x="414" y="9"/>
                    <a:pt x="425" y="0"/>
                  </a:cubicBezTo>
                  <a:cubicBezTo>
                    <a:pt x="426" y="0"/>
                    <a:pt x="426" y="0"/>
                    <a:pt x="426" y="0"/>
                  </a:cubicBezTo>
                  <a:cubicBezTo>
                    <a:pt x="426" y="0"/>
                    <a:pt x="426" y="0"/>
                    <a:pt x="426" y="0"/>
                  </a:cubicBezTo>
                  <a:cubicBezTo>
                    <a:pt x="430" y="5"/>
                    <a:pt x="433" y="10"/>
                    <a:pt x="436" y="14"/>
                  </a:cubicBezTo>
                  <a:cubicBezTo>
                    <a:pt x="436" y="14"/>
                    <a:pt x="436" y="14"/>
                    <a:pt x="436" y="14"/>
                  </a:cubicBezTo>
                  <a:cubicBezTo>
                    <a:pt x="455" y="18"/>
                    <a:pt x="472" y="23"/>
                    <a:pt x="488" y="27"/>
                  </a:cubicBezTo>
                  <a:cubicBezTo>
                    <a:pt x="497" y="29"/>
                    <a:pt x="505" y="32"/>
                    <a:pt x="512" y="34"/>
                  </a:cubicBezTo>
                  <a:cubicBezTo>
                    <a:pt x="520" y="35"/>
                    <a:pt x="528" y="38"/>
                    <a:pt x="534" y="42"/>
                  </a:cubicBezTo>
                  <a:cubicBezTo>
                    <a:pt x="558" y="60"/>
                    <a:pt x="578" y="76"/>
                    <a:pt x="594" y="88"/>
                  </a:cubicBezTo>
                  <a:cubicBezTo>
                    <a:pt x="611" y="100"/>
                    <a:pt x="623" y="110"/>
                    <a:pt x="632" y="117"/>
                  </a:cubicBezTo>
                  <a:cubicBezTo>
                    <a:pt x="636" y="120"/>
                    <a:pt x="639" y="122"/>
                    <a:pt x="641" y="124"/>
                  </a:cubicBezTo>
                  <a:cubicBezTo>
                    <a:pt x="644" y="126"/>
                    <a:pt x="645" y="127"/>
                    <a:pt x="645" y="127"/>
                  </a:cubicBezTo>
                  <a:cubicBezTo>
                    <a:pt x="645" y="127"/>
                    <a:pt x="644" y="126"/>
                    <a:pt x="641" y="124"/>
                  </a:cubicBezTo>
                  <a:cubicBezTo>
                    <a:pt x="639" y="122"/>
                    <a:pt x="636" y="120"/>
                    <a:pt x="632" y="117"/>
                  </a:cubicBezTo>
                  <a:cubicBezTo>
                    <a:pt x="623" y="110"/>
                    <a:pt x="610" y="101"/>
                    <a:pt x="594" y="89"/>
                  </a:cubicBezTo>
                  <a:cubicBezTo>
                    <a:pt x="577" y="76"/>
                    <a:pt x="557" y="61"/>
                    <a:pt x="533" y="43"/>
                  </a:cubicBezTo>
                  <a:cubicBezTo>
                    <a:pt x="527" y="39"/>
                    <a:pt x="520" y="36"/>
                    <a:pt x="512" y="35"/>
                  </a:cubicBezTo>
                  <a:cubicBezTo>
                    <a:pt x="504" y="33"/>
                    <a:pt x="496" y="31"/>
                    <a:pt x="488" y="28"/>
                  </a:cubicBezTo>
                  <a:cubicBezTo>
                    <a:pt x="472" y="24"/>
                    <a:pt x="454" y="20"/>
                    <a:pt x="436" y="15"/>
                  </a:cubicBezTo>
                  <a:cubicBezTo>
                    <a:pt x="436" y="15"/>
                    <a:pt x="436" y="15"/>
                    <a:pt x="435" y="15"/>
                  </a:cubicBezTo>
                  <a:cubicBezTo>
                    <a:pt x="432" y="10"/>
                    <a:pt x="429" y="6"/>
                    <a:pt x="425" y="1"/>
                  </a:cubicBezTo>
                  <a:cubicBezTo>
                    <a:pt x="426" y="1"/>
                    <a:pt x="426" y="1"/>
                    <a:pt x="426" y="1"/>
                  </a:cubicBezTo>
                  <a:cubicBezTo>
                    <a:pt x="415" y="10"/>
                    <a:pt x="403" y="19"/>
                    <a:pt x="389" y="28"/>
                  </a:cubicBezTo>
                  <a:cubicBezTo>
                    <a:pt x="389" y="29"/>
                    <a:pt x="389" y="29"/>
                    <a:pt x="389" y="29"/>
                  </a:cubicBezTo>
                  <a:cubicBezTo>
                    <a:pt x="377" y="22"/>
                    <a:pt x="366" y="15"/>
                    <a:pt x="353" y="7"/>
                  </a:cubicBezTo>
                  <a:cubicBezTo>
                    <a:pt x="354" y="7"/>
                    <a:pt x="354" y="7"/>
                    <a:pt x="354" y="7"/>
                  </a:cubicBezTo>
                  <a:cubicBezTo>
                    <a:pt x="348" y="12"/>
                    <a:pt x="342" y="18"/>
                    <a:pt x="335" y="24"/>
                  </a:cubicBezTo>
                  <a:cubicBezTo>
                    <a:pt x="335" y="24"/>
                    <a:pt x="335" y="24"/>
                    <a:pt x="334" y="24"/>
                  </a:cubicBezTo>
                  <a:cubicBezTo>
                    <a:pt x="310" y="30"/>
                    <a:pt x="284" y="37"/>
                    <a:pt x="257" y="44"/>
                  </a:cubicBezTo>
                  <a:cubicBezTo>
                    <a:pt x="257" y="44"/>
                    <a:pt x="257" y="44"/>
                    <a:pt x="257" y="44"/>
                  </a:cubicBezTo>
                  <a:cubicBezTo>
                    <a:pt x="227" y="63"/>
                    <a:pt x="195" y="83"/>
                    <a:pt x="161" y="104"/>
                  </a:cubicBezTo>
                  <a:cubicBezTo>
                    <a:pt x="161" y="105"/>
                    <a:pt x="160" y="105"/>
                    <a:pt x="160" y="104"/>
                  </a:cubicBezTo>
                  <a:cubicBezTo>
                    <a:pt x="125" y="78"/>
                    <a:pt x="89" y="51"/>
                    <a:pt x="51" y="22"/>
                  </a:cubicBezTo>
                  <a:cubicBezTo>
                    <a:pt x="52" y="22"/>
                    <a:pt x="52" y="22"/>
                    <a:pt x="52" y="22"/>
                  </a:cubicBezTo>
                  <a:cubicBezTo>
                    <a:pt x="36" y="42"/>
                    <a:pt x="19" y="63"/>
                    <a:pt x="2" y="84"/>
                  </a:cubicBezTo>
                  <a:cubicBezTo>
                    <a:pt x="2" y="82"/>
                    <a:pt x="2" y="82"/>
                    <a:pt x="2" y="82"/>
                  </a:cubicBezTo>
                  <a:cubicBezTo>
                    <a:pt x="42" y="114"/>
                    <a:pt x="84" y="148"/>
                    <a:pt x="127" y="182"/>
                  </a:cubicBezTo>
                  <a:cubicBezTo>
                    <a:pt x="132" y="186"/>
                    <a:pt x="137" y="191"/>
                    <a:pt x="143" y="195"/>
                  </a:cubicBezTo>
                  <a:cubicBezTo>
                    <a:pt x="148" y="198"/>
                    <a:pt x="155" y="201"/>
                    <a:pt x="162" y="202"/>
                  </a:cubicBezTo>
                  <a:cubicBezTo>
                    <a:pt x="168" y="203"/>
                    <a:pt x="175" y="203"/>
                    <a:pt x="182" y="201"/>
                  </a:cubicBezTo>
                  <a:cubicBezTo>
                    <a:pt x="185" y="200"/>
                    <a:pt x="188" y="198"/>
                    <a:pt x="191" y="197"/>
                  </a:cubicBezTo>
                  <a:cubicBezTo>
                    <a:pt x="194" y="195"/>
                    <a:pt x="197" y="193"/>
                    <a:pt x="200" y="191"/>
                  </a:cubicBezTo>
                  <a:cubicBezTo>
                    <a:pt x="224" y="176"/>
                    <a:pt x="248" y="161"/>
                    <a:pt x="272" y="146"/>
                  </a:cubicBezTo>
                  <a:cubicBezTo>
                    <a:pt x="273" y="146"/>
                    <a:pt x="273" y="146"/>
                    <a:pt x="274" y="147"/>
                  </a:cubicBezTo>
                  <a:cubicBezTo>
                    <a:pt x="274" y="147"/>
                    <a:pt x="274" y="147"/>
                    <a:pt x="274" y="147"/>
                  </a:cubicBezTo>
                  <a:cubicBezTo>
                    <a:pt x="274" y="149"/>
                    <a:pt x="274" y="149"/>
                    <a:pt x="274" y="149"/>
                  </a:cubicBezTo>
                  <a:cubicBezTo>
                    <a:pt x="278" y="173"/>
                    <a:pt x="282" y="198"/>
                    <a:pt x="285" y="221"/>
                  </a:cubicBezTo>
                  <a:cubicBezTo>
                    <a:pt x="285" y="221"/>
                    <a:pt x="285" y="221"/>
                    <a:pt x="285" y="221"/>
                  </a:cubicBezTo>
                  <a:cubicBezTo>
                    <a:pt x="284" y="242"/>
                    <a:pt x="282" y="263"/>
                    <a:pt x="281" y="284"/>
                  </a:cubicBezTo>
                  <a:cubicBezTo>
                    <a:pt x="280" y="294"/>
                    <a:pt x="279" y="304"/>
                    <a:pt x="279" y="315"/>
                  </a:cubicBezTo>
                  <a:cubicBezTo>
                    <a:pt x="278" y="317"/>
                    <a:pt x="278" y="320"/>
                    <a:pt x="279" y="322"/>
                  </a:cubicBezTo>
                  <a:cubicBezTo>
                    <a:pt x="279" y="324"/>
                    <a:pt x="280" y="327"/>
                    <a:pt x="281" y="328"/>
                  </a:cubicBezTo>
                  <a:cubicBezTo>
                    <a:pt x="282" y="329"/>
                    <a:pt x="283" y="329"/>
                    <a:pt x="285" y="329"/>
                  </a:cubicBezTo>
                  <a:cubicBezTo>
                    <a:pt x="288" y="329"/>
                    <a:pt x="288" y="329"/>
                    <a:pt x="288" y="329"/>
                  </a:cubicBezTo>
                  <a:cubicBezTo>
                    <a:pt x="296" y="329"/>
                    <a:pt x="296" y="329"/>
                    <a:pt x="296" y="329"/>
                  </a:cubicBezTo>
                  <a:cubicBezTo>
                    <a:pt x="337" y="329"/>
                    <a:pt x="377" y="329"/>
                    <a:pt x="416" y="330"/>
                  </a:cubicBezTo>
                  <a:cubicBezTo>
                    <a:pt x="435" y="330"/>
                    <a:pt x="454" y="330"/>
                    <a:pt x="473" y="330"/>
                  </a:cubicBezTo>
                  <a:cubicBezTo>
                    <a:pt x="483" y="330"/>
                    <a:pt x="492" y="330"/>
                    <a:pt x="502" y="330"/>
                  </a:cubicBezTo>
                  <a:cubicBezTo>
                    <a:pt x="505" y="330"/>
                    <a:pt x="505" y="330"/>
                    <a:pt x="505" y="330"/>
                  </a:cubicBezTo>
                  <a:cubicBezTo>
                    <a:pt x="506" y="330"/>
                    <a:pt x="507" y="330"/>
                    <a:pt x="508" y="330"/>
                  </a:cubicBezTo>
                  <a:cubicBezTo>
                    <a:pt x="509" y="329"/>
                    <a:pt x="509" y="326"/>
                    <a:pt x="509" y="324"/>
                  </a:cubicBezTo>
                  <a:cubicBezTo>
                    <a:pt x="510" y="320"/>
                    <a:pt x="509" y="315"/>
                    <a:pt x="508" y="310"/>
                  </a:cubicBezTo>
                  <a:cubicBezTo>
                    <a:pt x="504" y="274"/>
                    <a:pt x="501" y="238"/>
                    <a:pt x="497" y="204"/>
                  </a:cubicBezTo>
                  <a:cubicBezTo>
                    <a:pt x="497" y="204"/>
                    <a:pt x="497" y="204"/>
                    <a:pt x="497" y="204"/>
                  </a:cubicBezTo>
                  <a:cubicBezTo>
                    <a:pt x="500" y="185"/>
                    <a:pt x="504" y="167"/>
                    <a:pt x="507" y="150"/>
                  </a:cubicBezTo>
                  <a:cubicBezTo>
                    <a:pt x="507" y="149"/>
                    <a:pt x="507" y="149"/>
                    <a:pt x="508" y="149"/>
                  </a:cubicBezTo>
                  <a:cubicBezTo>
                    <a:pt x="508" y="149"/>
                    <a:pt x="508" y="149"/>
                    <a:pt x="508" y="149"/>
                  </a:cubicBezTo>
                  <a:cubicBezTo>
                    <a:pt x="539" y="164"/>
                    <a:pt x="568" y="178"/>
                    <a:pt x="596" y="192"/>
                  </a:cubicBezTo>
                  <a:cubicBezTo>
                    <a:pt x="596" y="192"/>
                    <a:pt x="597" y="192"/>
                    <a:pt x="596" y="193"/>
                  </a:cubicBezTo>
                  <a:cubicBezTo>
                    <a:pt x="596" y="193"/>
                    <a:pt x="596" y="193"/>
                    <a:pt x="596" y="193"/>
                  </a:cubicBezTo>
                  <a:cubicBezTo>
                    <a:pt x="581" y="208"/>
                    <a:pt x="567" y="224"/>
                    <a:pt x="554" y="237"/>
                  </a:cubicBezTo>
                  <a:cubicBezTo>
                    <a:pt x="554" y="237"/>
                    <a:pt x="554" y="237"/>
                    <a:pt x="554" y="237"/>
                  </a:cubicBezTo>
                  <a:cubicBezTo>
                    <a:pt x="545" y="246"/>
                    <a:pt x="535" y="254"/>
                    <a:pt x="527" y="261"/>
                  </a:cubicBezTo>
                  <a:cubicBezTo>
                    <a:pt x="527" y="260"/>
                    <a:pt x="527" y="260"/>
                    <a:pt x="527" y="260"/>
                  </a:cubicBezTo>
                  <a:cubicBezTo>
                    <a:pt x="539" y="280"/>
                    <a:pt x="551" y="299"/>
                    <a:pt x="562" y="317"/>
                  </a:cubicBezTo>
                  <a:cubicBezTo>
                    <a:pt x="561" y="317"/>
                    <a:pt x="561" y="317"/>
                    <a:pt x="561" y="317"/>
                  </a:cubicBezTo>
                  <a:cubicBezTo>
                    <a:pt x="571" y="311"/>
                    <a:pt x="580" y="305"/>
                    <a:pt x="589" y="300"/>
                  </a:cubicBezTo>
                  <a:cubicBezTo>
                    <a:pt x="588" y="300"/>
                    <a:pt x="588" y="300"/>
                    <a:pt x="588" y="300"/>
                  </a:cubicBezTo>
                  <a:cubicBezTo>
                    <a:pt x="619" y="271"/>
                    <a:pt x="645" y="247"/>
                    <a:pt x="667" y="226"/>
                  </a:cubicBezTo>
                  <a:cubicBezTo>
                    <a:pt x="667" y="226"/>
                    <a:pt x="667" y="226"/>
                    <a:pt x="667" y="226"/>
                  </a:cubicBezTo>
                  <a:cubicBezTo>
                    <a:pt x="674" y="219"/>
                    <a:pt x="678" y="211"/>
                    <a:pt x="681" y="203"/>
                  </a:cubicBezTo>
                  <a:cubicBezTo>
                    <a:pt x="683" y="195"/>
                    <a:pt x="683" y="187"/>
                    <a:pt x="682" y="180"/>
                  </a:cubicBezTo>
                  <a:cubicBezTo>
                    <a:pt x="679" y="166"/>
                    <a:pt x="672" y="156"/>
                    <a:pt x="666" y="148"/>
                  </a:cubicBezTo>
                  <a:cubicBezTo>
                    <a:pt x="660" y="140"/>
                    <a:pt x="654" y="135"/>
                    <a:pt x="650" y="132"/>
                  </a:cubicBezTo>
                  <a:cubicBezTo>
                    <a:pt x="647" y="128"/>
                    <a:pt x="645" y="127"/>
                    <a:pt x="645" y="127"/>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îṡḻiḑé">
              <a:extLst>
                <a:ext uri="{FF2B5EF4-FFF2-40B4-BE49-F238E27FC236}">
                  <a16:creationId xmlns:a16="http://schemas.microsoft.com/office/drawing/2014/main" id="{0FFC6663-7FAA-945D-33EF-D4EA5C5C4EF5}"/>
                </a:ext>
              </a:extLst>
            </p:cNvPr>
            <p:cNvSpPr/>
            <p:nvPr/>
          </p:nvSpPr>
          <p:spPr bwMode="auto">
            <a:xfrm>
              <a:off x="6658737" y="2849309"/>
              <a:ext cx="173038" cy="733425"/>
            </a:xfrm>
            <a:custGeom>
              <a:avLst/>
              <a:gdLst>
                <a:gd name="T0" fmla="*/ 39 w 109"/>
                <a:gd name="T1" fmla="*/ 0 h 462"/>
                <a:gd name="T2" fmla="*/ 0 w 109"/>
                <a:gd name="T3" fmla="*/ 390 h 462"/>
                <a:gd name="T4" fmla="*/ 61 w 109"/>
                <a:gd name="T5" fmla="*/ 462 h 462"/>
                <a:gd name="T6" fmla="*/ 109 w 109"/>
                <a:gd name="T7" fmla="*/ 390 h 462"/>
                <a:gd name="T8" fmla="*/ 69 w 109"/>
                <a:gd name="T9" fmla="*/ 0 h 462"/>
                <a:gd name="T10" fmla="*/ 39 w 109"/>
                <a:gd name="T11" fmla="*/ 0 h 462"/>
              </a:gdLst>
              <a:ahLst/>
              <a:cxnLst>
                <a:cxn ang="0">
                  <a:pos x="T0" y="T1"/>
                </a:cxn>
                <a:cxn ang="0">
                  <a:pos x="T2" y="T3"/>
                </a:cxn>
                <a:cxn ang="0">
                  <a:pos x="T4" y="T5"/>
                </a:cxn>
                <a:cxn ang="0">
                  <a:pos x="T6" y="T7"/>
                </a:cxn>
                <a:cxn ang="0">
                  <a:pos x="T8" y="T9"/>
                </a:cxn>
                <a:cxn ang="0">
                  <a:pos x="T10" y="T11"/>
                </a:cxn>
              </a:cxnLst>
              <a:rect l="0" t="0" r="r" b="b"/>
              <a:pathLst>
                <a:path w="109" h="462">
                  <a:moveTo>
                    <a:pt x="39" y="0"/>
                  </a:moveTo>
                  <a:lnTo>
                    <a:pt x="0" y="390"/>
                  </a:lnTo>
                  <a:lnTo>
                    <a:pt x="61" y="462"/>
                  </a:lnTo>
                  <a:lnTo>
                    <a:pt x="109" y="390"/>
                  </a:lnTo>
                  <a:lnTo>
                    <a:pt x="69" y="0"/>
                  </a:lnTo>
                  <a:lnTo>
                    <a:pt x="39" y="0"/>
                  </a:lnTo>
                  <a:close/>
                </a:path>
              </a:pathLst>
            </a:custGeom>
            <a:solidFill>
              <a:srgbClr val="EEB4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i$1îde">
              <a:extLst>
                <a:ext uri="{FF2B5EF4-FFF2-40B4-BE49-F238E27FC236}">
                  <a16:creationId xmlns:a16="http://schemas.microsoft.com/office/drawing/2014/main" id="{B26710E1-63C3-1004-4609-FAF9449D6C88}"/>
                </a:ext>
              </a:extLst>
            </p:cNvPr>
            <p:cNvSpPr/>
            <p:nvPr/>
          </p:nvSpPr>
          <p:spPr bwMode="auto">
            <a:xfrm>
              <a:off x="6357112" y="2881059"/>
              <a:ext cx="55563" cy="319088"/>
            </a:xfrm>
            <a:custGeom>
              <a:avLst/>
              <a:gdLst>
                <a:gd name="T0" fmla="*/ 0 w 19"/>
                <a:gd name="T1" fmla="*/ 0 h 109"/>
                <a:gd name="T2" fmla="*/ 1 w 19"/>
                <a:gd name="T3" fmla="*/ 4 h 109"/>
                <a:gd name="T4" fmla="*/ 4 w 19"/>
                <a:gd name="T5" fmla="*/ 16 h 109"/>
                <a:gd name="T6" fmla="*/ 12 w 19"/>
                <a:gd name="T7" fmla="*/ 54 h 109"/>
                <a:gd name="T8" fmla="*/ 17 w 19"/>
                <a:gd name="T9" fmla="*/ 93 h 109"/>
                <a:gd name="T10" fmla="*/ 19 w 19"/>
                <a:gd name="T11" fmla="*/ 109 h 109"/>
                <a:gd name="T12" fmla="*/ 18 w 19"/>
                <a:gd name="T13" fmla="*/ 105 h 109"/>
                <a:gd name="T14" fmla="*/ 16 w 19"/>
                <a:gd name="T15" fmla="*/ 93 h 109"/>
                <a:gd name="T16" fmla="*/ 10 w 19"/>
                <a:gd name="T17" fmla="*/ 54 h 109"/>
                <a:gd name="T18" fmla="*/ 3 w 19"/>
                <a:gd name="T19" fmla="*/ 16 h 109"/>
                <a:gd name="T20" fmla="*/ 1 w 19"/>
                <a:gd name="T21" fmla="*/ 4 h 109"/>
                <a:gd name="T22" fmla="*/ 0 w 19"/>
                <a:gd name="T23"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109">
                  <a:moveTo>
                    <a:pt x="0" y="0"/>
                  </a:moveTo>
                  <a:cubicBezTo>
                    <a:pt x="0" y="0"/>
                    <a:pt x="1" y="2"/>
                    <a:pt x="1" y="4"/>
                  </a:cubicBezTo>
                  <a:cubicBezTo>
                    <a:pt x="2" y="7"/>
                    <a:pt x="3" y="11"/>
                    <a:pt x="4" y="16"/>
                  </a:cubicBezTo>
                  <a:cubicBezTo>
                    <a:pt x="6" y="26"/>
                    <a:pt x="9" y="39"/>
                    <a:pt x="12" y="54"/>
                  </a:cubicBezTo>
                  <a:cubicBezTo>
                    <a:pt x="14" y="69"/>
                    <a:pt x="16" y="83"/>
                    <a:pt x="17" y="93"/>
                  </a:cubicBezTo>
                  <a:cubicBezTo>
                    <a:pt x="19" y="103"/>
                    <a:pt x="19" y="109"/>
                    <a:pt x="19" y="109"/>
                  </a:cubicBezTo>
                  <a:cubicBezTo>
                    <a:pt x="18" y="109"/>
                    <a:pt x="18" y="107"/>
                    <a:pt x="18" y="105"/>
                  </a:cubicBezTo>
                  <a:cubicBezTo>
                    <a:pt x="17" y="101"/>
                    <a:pt x="17" y="97"/>
                    <a:pt x="16" y="93"/>
                  </a:cubicBezTo>
                  <a:cubicBezTo>
                    <a:pt x="14" y="83"/>
                    <a:pt x="12" y="69"/>
                    <a:pt x="10" y="54"/>
                  </a:cubicBezTo>
                  <a:cubicBezTo>
                    <a:pt x="7" y="39"/>
                    <a:pt x="5" y="26"/>
                    <a:pt x="3" y="16"/>
                  </a:cubicBezTo>
                  <a:cubicBezTo>
                    <a:pt x="2" y="12"/>
                    <a:pt x="1" y="8"/>
                    <a:pt x="1" y="4"/>
                  </a:cubicBezTo>
                  <a:cubicBezTo>
                    <a:pt x="0" y="2"/>
                    <a:pt x="0" y="0"/>
                    <a:pt x="0" y="0"/>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îṩliḋé">
              <a:extLst>
                <a:ext uri="{FF2B5EF4-FFF2-40B4-BE49-F238E27FC236}">
                  <a16:creationId xmlns:a16="http://schemas.microsoft.com/office/drawing/2014/main" id="{ED1648D3-EE0D-5DC5-4D8B-C107401ADB65}"/>
                </a:ext>
              </a:extLst>
            </p:cNvPr>
            <p:cNvSpPr/>
            <p:nvPr/>
          </p:nvSpPr>
          <p:spPr bwMode="auto">
            <a:xfrm>
              <a:off x="6741287" y="2719134"/>
              <a:ext cx="138113" cy="96838"/>
            </a:xfrm>
            <a:custGeom>
              <a:avLst/>
              <a:gdLst>
                <a:gd name="T0" fmla="*/ 47 w 47"/>
                <a:gd name="T1" fmla="*/ 1 h 33"/>
                <a:gd name="T2" fmla="*/ 41 w 47"/>
                <a:gd name="T3" fmla="*/ 9 h 33"/>
                <a:gd name="T4" fmla="*/ 24 w 47"/>
                <a:gd name="T5" fmla="*/ 28 h 33"/>
                <a:gd name="T6" fmla="*/ 21 w 47"/>
                <a:gd name="T7" fmla="*/ 30 h 33"/>
                <a:gd name="T8" fmla="*/ 18 w 47"/>
                <a:gd name="T9" fmla="*/ 33 h 33"/>
                <a:gd name="T10" fmla="*/ 14 w 47"/>
                <a:gd name="T11" fmla="*/ 32 h 33"/>
                <a:gd name="T12" fmla="*/ 11 w 47"/>
                <a:gd name="T13" fmla="*/ 30 h 33"/>
                <a:gd name="T14" fmla="*/ 5 w 47"/>
                <a:gd name="T15" fmla="*/ 20 h 33"/>
                <a:gd name="T16" fmla="*/ 0 w 47"/>
                <a:gd name="T17" fmla="*/ 11 h 33"/>
                <a:gd name="T18" fmla="*/ 6 w 47"/>
                <a:gd name="T19" fmla="*/ 19 h 33"/>
                <a:gd name="T20" fmla="*/ 13 w 47"/>
                <a:gd name="T21" fmla="*/ 28 h 33"/>
                <a:gd name="T22" fmla="*/ 17 w 47"/>
                <a:gd name="T23" fmla="*/ 31 h 33"/>
                <a:gd name="T24" fmla="*/ 22 w 47"/>
                <a:gd name="T25" fmla="*/ 26 h 33"/>
                <a:gd name="T26" fmla="*/ 40 w 47"/>
                <a:gd name="T27" fmla="*/ 8 h 33"/>
                <a:gd name="T28" fmla="*/ 47 w 47"/>
                <a:gd name="T29"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 h="33">
                  <a:moveTo>
                    <a:pt x="47" y="1"/>
                  </a:moveTo>
                  <a:cubicBezTo>
                    <a:pt x="47" y="1"/>
                    <a:pt x="45" y="4"/>
                    <a:pt x="41" y="9"/>
                  </a:cubicBezTo>
                  <a:cubicBezTo>
                    <a:pt x="36" y="14"/>
                    <a:pt x="30" y="20"/>
                    <a:pt x="24" y="28"/>
                  </a:cubicBezTo>
                  <a:cubicBezTo>
                    <a:pt x="23" y="28"/>
                    <a:pt x="22" y="29"/>
                    <a:pt x="21" y="30"/>
                  </a:cubicBezTo>
                  <a:cubicBezTo>
                    <a:pt x="20" y="31"/>
                    <a:pt x="19" y="32"/>
                    <a:pt x="18" y="33"/>
                  </a:cubicBezTo>
                  <a:cubicBezTo>
                    <a:pt x="17" y="33"/>
                    <a:pt x="15" y="33"/>
                    <a:pt x="14" y="32"/>
                  </a:cubicBezTo>
                  <a:cubicBezTo>
                    <a:pt x="13" y="31"/>
                    <a:pt x="12" y="31"/>
                    <a:pt x="11" y="30"/>
                  </a:cubicBezTo>
                  <a:cubicBezTo>
                    <a:pt x="9" y="26"/>
                    <a:pt x="7" y="23"/>
                    <a:pt x="5" y="20"/>
                  </a:cubicBezTo>
                  <a:cubicBezTo>
                    <a:pt x="2" y="14"/>
                    <a:pt x="0" y="11"/>
                    <a:pt x="0" y="11"/>
                  </a:cubicBezTo>
                  <a:cubicBezTo>
                    <a:pt x="0" y="11"/>
                    <a:pt x="3" y="14"/>
                    <a:pt x="6" y="19"/>
                  </a:cubicBezTo>
                  <a:cubicBezTo>
                    <a:pt x="8" y="22"/>
                    <a:pt x="10" y="25"/>
                    <a:pt x="13" y="28"/>
                  </a:cubicBezTo>
                  <a:cubicBezTo>
                    <a:pt x="14" y="30"/>
                    <a:pt x="16" y="32"/>
                    <a:pt x="17" y="31"/>
                  </a:cubicBezTo>
                  <a:cubicBezTo>
                    <a:pt x="19" y="30"/>
                    <a:pt x="20" y="28"/>
                    <a:pt x="22" y="26"/>
                  </a:cubicBezTo>
                  <a:cubicBezTo>
                    <a:pt x="29" y="19"/>
                    <a:pt x="35" y="12"/>
                    <a:pt x="40" y="8"/>
                  </a:cubicBezTo>
                  <a:cubicBezTo>
                    <a:pt x="44" y="3"/>
                    <a:pt x="47" y="0"/>
                    <a:pt x="47" y="1"/>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iŝliḍé">
              <a:extLst>
                <a:ext uri="{FF2B5EF4-FFF2-40B4-BE49-F238E27FC236}">
                  <a16:creationId xmlns:a16="http://schemas.microsoft.com/office/drawing/2014/main" id="{5B594A08-FD0C-8AF7-4589-EB579AD4CAE6}"/>
                </a:ext>
              </a:extLst>
            </p:cNvPr>
            <p:cNvSpPr/>
            <p:nvPr/>
          </p:nvSpPr>
          <p:spPr bwMode="auto">
            <a:xfrm>
              <a:off x="6585712" y="2739772"/>
              <a:ext cx="155575" cy="85725"/>
            </a:xfrm>
            <a:custGeom>
              <a:avLst/>
              <a:gdLst>
                <a:gd name="T0" fmla="*/ 53 w 53"/>
                <a:gd name="T1" fmla="*/ 4 h 29"/>
                <a:gd name="T2" fmla="*/ 48 w 53"/>
                <a:gd name="T3" fmla="*/ 14 h 29"/>
                <a:gd name="T4" fmla="*/ 42 w 53"/>
                <a:gd name="T5" fmla="*/ 24 h 29"/>
                <a:gd name="T6" fmla="*/ 40 w 53"/>
                <a:gd name="T7" fmla="*/ 27 h 29"/>
                <a:gd name="T8" fmla="*/ 36 w 53"/>
                <a:gd name="T9" fmla="*/ 29 h 29"/>
                <a:gd name="T10" fmla="*/ 29 w 53"/>
                <a:gd name="T11" fmla="*/ 25 h 29"/>
                <a:gd name="T12" fmla="*/ 8 w 53"/>
                <a:gd name="T13" fmla="*/ 8 h 29"/>
                <a:gd name="T14" fmla="*/ 0 w 53"/>
                <a:gd name="T15" fmla="*/ 0 h 29"/>
                <a:gd name="T16" fmla="*/ 9 w 53"/>
                <a:gd name="T17" fmla="*/ 7 h 29"/>
                <a:gd name="T18" fmla="*/ 30 w 53"/>
                <a:gd name="T19" fmla="*/ 24 h 29"/>
                <a:gd name="T20" fmla="*/ 36 w 53"/>
                <a:gd name="T21" fmla="*/ 27 h 29"/>
                <a:gd name="T22" fmla="*/ 40 w 53"/>
                <a:gd name="T23" fmla="*/ 23 h 29"/>
                <a:gd name="T24" fmla="*/ 47 w 53"/>
                <a:gd name="T25" fmla="*/ 13 h 29"/>
                <a:gd name="T26" fmla="*/ 53 w 53"/>
                <a:gd name="T27" fmla="*/ 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29">
                  <a:moveTo>
                    <a:pt x="53" y="4"/>
                  </a:moveTo>
                  <a:cubicBezTo>
                    <a:pt x="53" y="4"/>
                    <a:pt x="51" y="8"/>
                    <a:pt x="48" y="14"/>
                  </a:cubicBezTo>
                  <a:cubicBezTo>
                    <a:pt x="46" y="17"/>
                    <a:pt x="44" y="21"/>
                    <a:pt x="42" y="24"/>
                  </a:cubicBezTo>
                  <a:cubicBezTo>
                    <a:pt x="41" y="25"/>
                    <a:pt x="41" y="26"/>
                    <a:pt x="40" y="27"/>
                  </a:cubicBezTo>
                  <a:cubicBezTo>
                    <a:pt x="39" y="28"/>
                    <a:pt x="38" y="29"/>
                    <a:pt x="36" y="29"/>
                  </a:cubicBezTo>
                  <a:cubicBezTo>
                    <a:pt x="33" y="29"/>
                    <a:pt x="31" y="27"/>
                    <a:pt x="29" y="25"/>
                  </a:cubicBezTo>
                  <a:cubicBezTo>
                    <a:pt x="21" y="18"/>
                    <a:pt x="14" y="12"/>
                    <a:pt x="8" y="8"/>
                  </a:cubicBezTo>
                  <a:cubicBezTo>
                    <a:pt x="3" y="3"/>
                    <a:pt x="0" y="0"/>
                    <a:pt x="0" y="0"/>
                  </a:cubicBezTo>
                  <a:cubicBezTo>
                    <a:pt x="1" y="0"/>
                    <a:pt x="4" y="2"/>
                    <a:pt x="9" y="7"/>
                  </a:cubicBezTo>
                  <a:cubicBezTo>
                    <a:pt x="15" y="11"/>
                    <a:pt x="22" y="17"/>
                    <a:pt x="30" y="24"/>
                  </a:cubicBezTo>
                  <a:cubicBezTo>
                    <a:pt x="32" y="25"/>
                    <a:pt x="34" y="27"/>
                    <a:pt x="36" y="27"/>
                  </a:cubicBezTo>
                  <a:cubicBezTo>
                    <a:pt x="38" y="27"/>
                    <a:pt x="39" y="25"/>
                    <a:pt x="40" y="23"/>
                  </a:cubicBezTo>
                  <a:cubicBezTo>
                    <a:pt x="42" y="20"/>
                    <a:pt x="45" y="16"/>
                    <a:pt x="47" y="13"/>
                  </a:cubicBezTo>
                  <a:cubicBezTo>
                    <a:pt x="50" y="7"/>
                    <a:pt x="53" y="4"/>
                    <a:pt x="53" y="4"/>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îṧḻíďé">
              <a:extLst>
                <a:ext uri="{FF2B5EF4-FFF2-40B4-BE49-F238E27FC236}">
                  <a16:creationId xmlns:a16="http://schemas.microsoft.com/office/drawing/2014/main" id="{464292D3-3804-FBAE-3078-7E50A13404C5}"/>
                </a:ext>
              </a:extLst>
            </p:cNvPr>
            <p:cNvSpPr/>
            <p:nvPr/>
          </p:nvSpPr>
          <p:spPr bwMode="auto">
            <a:xfrm>
              <a:off x="5745925" y="2795334"/>
              <a:ext cx="28575" cy="269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íšlïḍè">
              <a:extLst>
                <a:ext uri="{FF2B5EF4-FFF2-40B4-BE49-F238E27FC236}">
                  <a16:creationId xmlns:a16="http://schemas.microsoft.com/office/drawing/2014/main" id="{92543A5B-FCF5-4037-23FD-5F1CF94F1E76}"/>
                </a:ext>
              </a:extLst>
            </p:cNvPr>
            <p:cNvSpPr/>
            <p:nvPr/>
          </p:nvSpPr>
          <p:spPr bwMode="auto">
            <a:xfrm>
              <a:off x="7074662" y="2854072"/>
              <a:ext cx="58738" cy="322263"/>
            </a:xfrm>
            <a:custGeom>
              <a:avLst/>
              <a:gdLst>
                <a:gd name="T0" fmla="*/ 20 w 20"/>
                <a:gd name="T1" fmla="*/ 0 h 110"/>
                <a:gd name="T2" fmla="*/ 19 w 20"/>
                <a:gd name="T3" fmla="*/ 5 h 110"/>
                <a:gd name="T4" fmla="*/ 18 w 20"/>
                <a:gd name="T5" fmla="*/ 17 h 110"/>
                <a:gd name="T6" fmla="*/ 11 w 20"/>
                <a:gd name="T7" fmla="*/ 55 h 110"/>
                <a:gd name="T8" fmla="*/ 4 w 20"/>
                <a:gd name="T9" fmla="*/ 94 h 110"/>
                <a:gd name="T10" fmla="*/ 2 w 20"/>
                <a:gd name="T11" fmla="*/ 106 h 110"/>
                <a:gd name="T12" fmla="*/ 0 w 20"/>
                <a:gd name="T13" fmla="*/ 110 h 110"/>
                <a:gd name="T14" fmla="*/ 1 w 20"/>
                <a:gd name="T15" fmla="*/ 105 h 110"/>
                <a:gd name="T16" fmla="*/ 3 w 20"/>
                <a:gd name="T17" fmla="*/ 94 h 110"/>
                <a:gd name="T18" fmla="*/ 9 w 20"/>
                <a:gd name="T19" fmla="*/ 55 h 110"/>
                <a:gd name="T20" fmla="*/ 16 w 20"/>
                <a:gd name="T21" fmla="*/ 16 h 110"/>
                <a:gd name="T22" fmla="*/ 19 w 20"/>
                <a:gd name="T23" fmla="*/ 5 h 110"/>
                <a:gd name="T24" fmla="*/ 20 w 20"/>
                <a:gd name="T25"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110">
                  <a:moveTo>
                    <a:pt x="20" y="0"/>
                  </a:moveTo>
                  <a:cubicBezTo>
                    <a:pt x="20" y="0"/>
                    <a:pt x="20" y="2"/>
                    <a:pt x="19" y="5"/>
                  </a:cubicBezTo>
                  <a:cubicBezTo>
                    <a:pt x="19" y="8"/>
                    <a:pt x="18" y="12"/>
                    <a:pt x="18" y="17"/>
                  </a:cubicBezTo>
                  <a:cubicBezTo>
                    <a:pt x="16" y="27"/>
                    <a:pt x="14" y="40"/>
                    <a:pt x="11" y="55"/>
                  </a:cubicBezTo>
                  <a:cubicBezTo>
                    <a:pt x="9" y="70"/>
                    <a:pt x="6" y="84"/>
                    <a:pt x="4" y="94"/>
                  </a:cubicBezTo>
                  <a:cubicBezTo>
                    <a:pt x="3" y="99"/>
                    <a:pt x="2" y="103"/>
                    <a:pt x="2" y="106"/>
                  </a:cubicBezTo>
                  <a:cubicBezTo>
                    <a:pt x="1" y="108"/>
                    <a:pt x="0" y="110"/>
                    <a:pt x="0" y="110"/>
                  </a:cubicBezTo>
                  <a:cubicBezTo>
                    <a:pt x="0" y="110"/>
                    <a:pt x="0" y="108"/>
                    <a:pt x="1" y="105"/>
                  </a:cubicBezTo>
                  <a:cubicBezTo>
                    <a:pt x="1" y="102"/>
                    <a:pt x="2" y="98"/>
                    <a:pt x="3" y="94"/>
                  </a:cubicBezTo>
                  <a:cubicBezTo>
                    <a:pt x="4" y="83"/>
                    <a:pt x="7" y="70"/>
                    <a:pt x="9" y="55"/>
                  </a:cubicBezTo>
                  <a:cubicBezTo>
                    <a:pt x="12" y="40"/>
                    <a:pt x="14" y="26"/>
                    <a:pt x="16" y="16"/>
                  </a:cubicBezTo>
                  <a:cubicBezTo>
                    <a:pt x="17" y="11"/>
                    <a:pt x="18" y="7"/>
                    <a:pt x="19" y="5"/>
                  </a:cubicBezTo>
                  <a:cubicBezTo>
                    <a:pt x="19" y="2"/>
                    <a:pt x="20" y="0"/>
                    <a:pt x="20" y="0"/>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íSļîḋé">
              <a:extLst>
                <a:ext uri="{FF2B5EF4-FFF2-40B4-BE49-F238E27FC236}">
                  <a16:creationId xmlns:a16="http://schemas.microsoft.com/office/drawing/2014/main" id="{13198B65-325E-3EE1-5162-579DB5B22CE0}"/>
                </a:ext>
              </a:extLst>
            </p:cNvPr>
            <p:cNvSpPr/>
            <p:nvPr/>
          </p:nvSpPr>
          <p:spPr bwMode="auto">
            <a:xfrm>
              <a:off x="7174675" y="3419222"/>
              <a:ext cx="28575" cy="26988"/>
            </a:xfrm>
            <a:prstGeom prst="ellipse">
              <a:avLst/>
            </a:pr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îşḻíḋe">
              <a:extLst>
                <a:ext uri="{FF2B5EF4-FFF2-40B4-BE49-F238E27FC236}">
                  <a16:creationId xmlns:a16="http://schemas.microsoft.com/office/drawing/2014/main" id="{C8B09407-F757-1C16-6E36-206A755E2735}"/>
                </a:ext>
              </a:extLst>
            </p:cNvPr>
            <p:cNvSpPr/>
            <p:nvPr/>
          </p:nvSpPr>
          <p:spPr bwMode="auto">
            <a:xfrm>
              <a:off x="6588887" y="3262059"/>
              <a:ext cx="142875" cy="42863"/>
            </a:xfrm>
            <a:custGeom>
              <a:avLst/>
              <a:gdLst>
                <a:gd name="T0" fmla="*/ 49 w 49"/>
                <a:gd name="T1" fmla="*/ 14 h 15"/>
                <a:gd name="T2" fmla="*/ 24 w 49"/>
                <a:gd name="T3" fmla="*/ 9 h 15"/>
                <a:gd name="T4" fmla="*/ 0 w 49"/>
                <a:gd name="T5" fmla="*/ 1 h 15"/>
                <a:gd name="T6" fmla="*/ 25 w 49"/>
                <a:gd name="T7" fmla="*/ 7 h 15"/>
                <a:gd name="T8" fmla="*/ 49 w 49"/>
                <a:gd name="T9" fmla="*/ 14 h 15"/>
              </a:gdLst>
              <a:ahLst/>
              <a:cxnLst>
                <a:cxn ang="0">
                  <a:pos x="T0" y="T1"/>
                </a:cxn>
                <a:cxn ang="0">
                  <a:pos x="T2" y="T3"/>
                </a:cxn>
                <a:cxn ang="0">
                  <a:pos x="T4" y="T5"/>
                </a:cxn>
                <a:cxn ang="0">
                  <a:pos x="T6" y="T7"/>
                </a:cxn>
                <a:cxn ang="0">
                  <a:pos x="T8" y="T9"/>
                </a:cxn>
              </a:cxnLst>
              <a:rect l="0" t="0" r="r" b="b"/>
              <a:pathLst>
                <a:path w="49" h="15">
                  <a:moveTo>
                    <a:pt x="49" y="14"/>
                  </a:moveTo>
                  <a:cubicBezTo>
                    <a:pt x="48" y="15"/>
                    <a:pt x="37" y="12"/>
                    <a:pt x="24" y="9"/>
                  </a:cubicBezTo>
                  <a:cubicBezTo>
                    <a:pt x="11" y="5"/>
                    <a:pt x="0" y="1"/>
                    <a:pt x="0" y="1"/>
                  </a:cubicBezTo>
                  <a:cubicBezTo>
                    <a:pt x="0" y="0"/>
                    <a:pt x="11" y="3"/>
                    <a:pt x="25" y="7"/>
                  </a:cubicBezTo>
                  <a:cubicBezTo>
                    <a:pt x="38" y="10"/>
                    <a:pt x="49" y="14"/>
                    <a:pt x="49" y="14"/>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ïṩ1ïḋé">
              <a:extLst>
                <a:ext uri="{FF2B5EF4-FFF2-40B4-BE49-F238E27FC236}">
                  <a16:creationId xmlns:a16="http://schemas.microsoft.com/office/drawing/2014/main" id="{7BFC38EF-4F2B-C51A-1A73-B7683BD87692}"/>
                </a:ext>
              </a:extLst>
            </p:cNvPr>
            <p:cNvSpPr/>
            <p:nvPr/>
          </p:nvSpPr>
          <p:spPr bwMode="auto">
            <a:xfrm>
              <a:off x="5701475" y="2798509"/>
              <a:ext cx="141288" cy="187325"/>
            </a:xfrm>
            <a:custGeom>
              <a:avLst/>
              <a:gdLst>
                <a:gd name="T0" fmla="*/ 48 w 48"/>
                <a:gd name="T1" fmla="*/ 0 h 64"/>
                <a:gd name="T2" fmla="*/ 42 w 48"/>
                <a:gd name="T3" fmla="*/ 10 h 64"/>
                <a:gd name="T4" fmla="*/ 25 w 48"/>
                <a:gd name="T5" fmla="*/ 33 h 64"/>
                <a:gd name="T6" fmla="*/ 7 w 48"/>
                <a:gd name="T7" fmla="*/ 55 h 64"/>
                <a:gd name="T8" fmla="*/ 0 w 48"/>
                <a:gd name="T9" fmla="*/ 63 h 64"/>
                <a:gd name="T10" fmla="*/ 6 w 48"/>
                <a:gd name="T11" fmla="*/ 54 h 64"/>
                <a:gd name="T12" fmla="*/ 23 w 48"/>
                <a:gd name="T13" fmla="*/ 31 h 64"/>
                <a:gd name="T14" fmla="*/ 41 w 48"/>
                <a:gd name="T15" fmla="*/ 9 h 64"/>
                <a:gd name="T16" fmla="*/ 48 w 48"/>
                <a:gd name="T1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4">
                  <a:moveTo>
                    <a:pt x="48" y="0"/>
                  </a:moveTo>
                  <a:cubicBezTo>
                    <a:pt x="48" y="1"/>
                    <a:pt x="46" y="4"/>
                    <a:pt x="42" y="10"/>
                  </a:cubicBezTo>
                  <a:cubicBezTo>
                    <a:pt x="38" y="16"/>
                    <a:pt x="32" y="24"/>
                    <a:pt x="25" y="33"/>
                  </a:cubicBezTo>
                  <a:cubicBezTo>
                    <a:pt x="18" y="41"/>
                    <a:pt x="12" y="48"/>
                    <a:pt x="7" y="55"/>
                  </a:cubicBezTo>
                  <a:cubicBezTo>
                    <a:pt x="3" y="60"/>
                    <a:pt x="0" y="64"/>
                    <a:pt x="0" y="63"/>
                  </a:cubicBezTo>
                  <a:cubicBezTo>
                    <a:pt x="0" y="63"/>
                    <a:pt x="2" y="60"/>
                    <a:pt x="6" y="54"/>
                  </a:cubicBezTo>
                  <a:cubicBezTo>
                    <a:pt x="10" y="48"/>
                    <a:pt x="16" y="40"/>
                    <a:pt x="23" y="31"/>
                  </a:cubicBezTo>
                  <a:cubicBezTo>
                    <a:pt x="30" y="23"/>
                    <a:pt x="36" y="15"/>
                    <a:pt x="41" y="9"/>
                  </a:cubicBezTo>
                  <a:cubicBezTo>
                    <a:pt x="45" y="4"/>
                    <a:pt x="48" y="0"/>
                    <a:pt x="48"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ïṩḻíḑê">
              <a:extLst>
                <a:ext uri="{FF2B5EF4-FFF2-40B4-BE49-F238E27FC236}">
                  <a16:creationId xmlns:a16="http://schemas.microsoft.com/office/drawing/2014/main" id="{0D043392-D1EF-CE8B-FB7E-D840C6BBC9BD}"/>
                </a:ext>
              </a:extLst>
            </p:cNvPr>
            <p:cNvSpPr/>
            <p:nvPr/>
          </p:nvSpPr>
          <p:spPr bwMode="auto">
            <a:xfrm>
              <a:off x="7219125" y="3370009"/>
              <a:ext cx="111125" cy="149225"/>
            </a:xfrm>
            <a:custGeom>
              <a:avLst/>
              <a:gdLst>
                <a:gd name="T0" fmla="*/ 37 w 38"/>
                <a:gd name="T1" fmla="*/ 51 h 51"/>
                <a:gd name="T2" fmla="*/ 18 w 38"/>
                <a:gd name="T3" fmla="*/ 26 h 51"/>
                <a:gd name="T4" fmla="*/ 0 w 38"/>
                <a:gd name="T5" fmla="*/ 0 h 51"/>
                <a:gd name="T6" fmla="*/ 19 w 38"/>
                <a:gd name="T7" fmla="*/ 25 h 51"/>
                <a:gd name="T8" fmla="*/ 37 w 38"/>
                <a:gd name="T9" fmla="*/ 51 h 51"/>
              </a:gdLst>
              <a:ahLst/>
              <a:cxnLst>
                <a:cxn ang="0">
                  <a:pos x="T0" y="T1"/>
                </a:cxn>
                <a:cxn ang="0">
                  <a:pos x="T2" y="T3"/>
                </a:cxn>
                <a:cxn ang="0">
                  <a:pos x="T4" y="T5"/>
                </a:cxn>
                <a:cxn ang="0">
                  <a:pos x="T6" y="T7"/>
                </a:cxn>
                <a:cxn ang="0">
                  <a:pos x="T8" y="T9"/>
                </a:cxn>
              </a:cxnLst>
              <a:rect l="0" t="0" r="r" b="b"/>
              <a:pathLst>
                <a:path w="38" h="51">
                  <a:moveTo>
                    <a:pt x="37" y="51"/>
                  </a:moveTo>
                  <a:cubicBezTo>
                    <a:pt x="37" y="51"/>
                    <a:pt x="28" y="40"/>
                    <a:pt x="18" y="26"/>
                  </a:cubicBezTo>
                  <a:cubicBezTo>
                    <a:pt x="8" y="12"/>
                    <a:pt x="0" y="0"/>
                    <a:pt x="0" y="0"/>
                  </a:cubicBezTo>
                  <a:cubicBezTo>
                    <a:pt x="1" y="0"/>
                    <a:pt x="9" y="11"/>
                    <a:pt x="19" y="25"/>
                  </a:cubicBezTo>
                  <a:cubicBezTo>
                    <a:pt x="30" y="39"/>
                    <a:pt x="38" y="50"/>
                    <a:pt x="37" y="51"/>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îšlîḍe">
              <a:extLst>
                <a:ext uri="{FF2B5EF4-FFF2-40B4-BE49-F238E27FC236}">
                  <a16:creationId xmlns:a16="http://schemas.microsoft.com/office/drawing/2014/main" id="{1AB3DBD8-99F5-F598-DDBD-FC742B84B931}"/>
                </a:ext>
              </a:extLst>
            </p:cNvPr>
            <p:cNvSpPr/>
            <p:nvPr/>
          </p:nvSpPr>
          <p:spPr bwMode="auto">
            <a:xfrm>
              <a:off x="6588887" y="2968372"/>
              <a:ext cx="342900" cy="252413"/>
            </a:xfrm>
            <a:custGeom>
              <a:avLst/>
              <a:gdLst>
                <a:gd name="T0" fmla="*/ 0 w 117"/>
                <a:gd name="T1" fmla="*/ 80 h 86"/>
                <a:gd name="T2" fmla="*/ 3 w 117"/>
                <a:gd name="T3" fmla="*/ 80 h 86"/>
                <a:gd name="T4" fmla="*/ 10 w 117"/>
                <a:gd name="T5" fmla="*/ 81 h 86"/>
                <a:gd name="T6" fmla="*/ 39 w 117"/>
                <a:gd name="T7" fmla="*/ 83 h 86"/>
                <a:gd name="T8" fmla="*/ 81 w 117"/>
                <a:gd name="T9" fmla="*/ 84 h 86"/>
                <a:gd name="T10" fmla="*/ 93 w 117"/>
                <a:gd name="T11" fmla="*/ 84 h 86"/>
                <a:gd name="T12" fmla="*/ 105 w 117"/>
                <a:gd name="T13" fmla="*/ 82 h 86"/>
                <a:gd name="T14" fmla="*/ 114 w 117"/>
                <a:gd name="T15" fmla="*/ 75 h 86"/>
                <a:gd name="T16" fmla="*/ 114 w 117"/>
                <a:gd name="T17" fmla="*/ 69 h 86"/>
                <a:gd name="T18" fmla="*/ 110 w 117"/>
                <a:gd name="T19" fmla="*/ 64 h 86"/>
                <a:gd name="T20" fmla="*/ 98 w 117"/>
                <a:gd name="T21" fmla="*/ 58 h 86"/>
                <a:gd name="T22" fmla="*/ 86 w 117"/>
                <a:gd name="T23" fmla="*/ 53 h 86"/>
                <a:gd name="T24" fmla="*/ 62 w 117"/>
                <a:gd name="T25" fmla="*/ 45 h 86"/>
                <a:gd name="T26" fmla="*/ 40 w 117"/>
                <a:gd name="T27" fmla="*/ 40 h 86"/>
                <a:gd name="T28" fmla="*/ 22 w 117"/>
                <a:gd name="T29" fmla="*/ 33 h 86"/>
                <a:gd name="T30" fmla="*/ 6 w 117"/>
                <a:gd name="T31" fmla="*/ 10 h 86"/>
                <a:gd name="T32" fmla="*/ 6 w 117"/>
                <a:gd name="T33" fmla="*/ 3 h 86"/>
                <a:gd name="T34" fmla="*/ 7 w 117"/>
                <a:gd name="T35" fmla="*/ 1 h 86"/>
                <a:gd name="T36" fmla="*/ 7 w 117"/>
                <a:gd name="T37" fmla="*/ 0 h 86"/>
                <a:gd name="T38" fmla="*/ 6 w 117"/>
                <a:gd name="T39" fmla="*/ 10 h 86"/>
                <a:gd name="T40" fmla="*/ 22 w 117"/>
                <a:gd name="T41" fmla="*/ 32 h 86"/>
                <a:gd name="T42" fmla="*/ 41 w 117"/>
                <a:gd name="T43" fmla="*/ 39 h 86"/>
                <a:gd name="T44" fmla="*/ 63 w 117"/>
                <a:gd name="T45" fmla="*/ 44 h 86"/>
                <a:gd name="T46" fmla="*/ 86 w 117"/>
                <a:gd name="T47" fmla="*/ 51 h 86"/>
                <a:gd name="T48" fmla="*/ 99 w 117"/>
                <a:gd name="T49" fmla="*/ 56 h 86"/>
                <a:gd name="T50" fmla="*/ 111 w 117"/>
                <a:gd name="T51" fmla="*/ 63 h 86"/>
                <a:gd name="T52" fmla="*/ 116 w 117"/>
                <a:gd name="T53" fmla="*/ 68 h 86"/>
                <a:gd name="T54" fmla="*/ 116 w 117"/>
                <a:gd name="T55" fmla="*/ 75 h 86"/>
                <a:gd name="T56" fmla="*/ 106 w 117"/>
                <a:gd name="T57" fmla="*/ 84 h 86"/>
                <a:gd name="T58" fmla="*/ 93 w 117"/>
                <a:gd name="T59" fmla="*/ 86 h 86"/>
                <a:gd name="T60" fmla="*/ 81 w 117"/>
                <a:gd name="T61" fmla="*/ 86 h 86"/>
                <a:gd name="T62" fmla="*/ 39 w 117"/>
                <a:gd name="T63" fmla="*/ 84 h 86"/>
                <a:gd name="T64" fmla="*/ 10 w 117"/>
                <a:gd name="T65" fmla="*/ 81 h 86"/>
                <a:gd name="T66" fmla="*/ 3 w 117"/>
                <a:gd name="T67" fmla="*/ 80 h 86"/>
                <a:gd name="T68" fmla="*/ 0 w 117"/>
                <a:gd name="T69" fmla="*/ 8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7" h="86">
                  <a:moveTo>
                    <a:pt x="0" y="80"/>
                  </a:moveTo>
                  <a:cubicBezTo>
                    <a:pt x="0" y="80"/>
                    <a:pt x="1" y="80"/>
                    <a:pt x="3" y="80"/>
                  </a:cubicBezTo>
                  <a:cubicBezTo>
                    <a:pt x="5" y="80"/>
                    <a:pt x="7" y="80"/>
                    <a:pt x="10" y="81"/>
                  </a:cubicBezTo>
                  <a:cubicBezTo>
                    <a:pt x="17" y="81"/>
                    <a:pt x="27" y="82"/>
                    <a:pt x="39" y="83"/>
                  </a:cubicBezTo>
                  <a:cubicBezTo>
                    <a:pt x="51" y="83"/>
                    <a:pt x="65" y="84"/>
                    <a:pt x="81" y="84"/>
                  </a:cubicBezTo>
                  <a:cubicBezTo>
                    <a:pt x="85" y="84"/>
                    <a:pt x="89" y="84"/>
                    <a:pt x="93" y="84"/>
                  </a:cubicBezTo>
                  <a:cubicBezTo>
                    <a:pt x="97" y="83"/>
                    <a:pt x="101" y="83"/>
                    <a:pt x="105" y="82"/>
                  </a:cubicBezTo>
                  <a:cubicBezTo>
                    <a:pt x="109" y="81"/>
                    <a:pt x="113" y="79"/>
                    <a:pt x="114" y="75"/>
                  </a:cubicBezTo>
                  <a:cubicBezTo>
                    <a:pt x="115" y="73"/>
                    <a:pt x="115" y="71"/>
                    <a:pt x="114" y="69"/>
                  </a:cubicBezTo>
                  <a:cubicBezTo>
                    <a:pt x="113" y="67"/>
                    <a:pt x="111" y="66"/>
                    <a:pt x="110" y="64"/>
                  </a:cubicBezTo>
                  <a:cubicBezTo>
                    <a:pt x="106" y="62"/>
                    <a:pt x="102" y="60"/>
                    <a:pt x="98" y="58"/>
                  </a:cubicBezTo>
                  <a:cubicBezTo>
                    <a:pt x="94" y="56"/>
                    <a:pt x="90" y="55"/>
                    <a:pt x="86" y="53"/>
                  </a:cubicBezTo>
                  <a:cubicBezTo>
                    <a:pt x="78" y="50"/>
                    <a:pt x="70" y="48"/>
                    <a:pt x="62" y="45"/>
                  </a:cubicBezTo>
                  <a:cubicBezTo>
                    <a:pt x="54" y="43"/>
                    <a:pt x="47" y="42"/>
                    <a:pt x="40" y="40"/>
                  </a:cubicBezTo>
                  <a:cubicBezTo>
                    <a:pt x="33" y="38"/>
                    <a:pt x="27" y="36"/>
                    <a:pt x="22" y="33"/>
                  </a:cubicBezTo>
                  <a:cubicBezTo>
                    <a:pt x="11" y="27"/>
                    <a:pt x="6" y="17"/>
                    <a:pt x="6" y="10"/>
                  </a:cubicBezTo>
                  <a:cubicBezTo>
                    <a:pt x="5" y="7"/>
                    <a:pt x="6" y="4"/>
                    <a:pt x="6" y="3"/>
                  </a:cubicBezTo>
                  <a:cubicBezTo>
                    <a:pt x="6" y="2"/>
                    <a:pt x="7" y="1"/>
                    <a:pt x="7" y="1"/>
                  </a:cubicBezTo>
                  <a:cubicBezTo>
                    <a:pt x="7" y="0"/>
                    <a:pt x="7" y="0"/>
                    <a:pt x="7" y="0"/>
                  </a:cubicBezTo>
                  <a:cubicBezTo>
                    <a:pt x="8" y="0"/>
                    <a:pt x="6" y="4"/>
                    <a:pt x="6" y="10"/>
                  </a:cubicBezTo>
                  <a:cubicBezTo>
                    <a:pt x="7" y="17"/>
                    <a:pt x="12" y="26"/>
                    <a:pt x="22" y="32"/>
                  </a:cubicBezTo>
                  <a:cubicBezTo>
                    <a:pt x="28" y="35"/>
                    <a:pt x="34" y="37"/>
                    <a:pt x="41" y="39"/>
                  </a:cubicBezTo>
                  <a:cubicBezTo>
                    <a:pt x="47" y="40"/>
                    <a:pt x="55" y="42"/>
                    <a:pt x="63" y="44"/>
                  </a:cubicBezTo>
                  <a:cubicBezTo>
                    <a:pt x="70" y="46"/>
                    <a:pt x="78" y="48"/>
                    <a:pt x="86" y="51"/>
                  </a:cubicBezTo>
                  <a:cubicBezTo>
                    <a:pt x="90" y="53"/>
                    <a:pt x="95" y="54"/>
                    <a:pt x="99" y="56"/>
                  </a:cubicBezTo>
                  <a:cubicBezTo>
                    <a:pt x="103" y="58"/>
                    <a:pt x="107" y="60"/>
                    <a:pt x="111" y="63"/>
                  </a:cubicBezTo>
                  <a:cubicBezTo>
                    <a:pt x="113" y="64"/>
                    <a:pt x="114" y="66"/>
                    <a:pt x="116" y="68"/>
                  </a:cubicBezTo>
                  <a:cubicBezTo>
                    <a:pt x="117" y="70"/>
                    <a:pt x="117" y="73"/>
                    <a:pt x="116" y="75"/>
                  </a:cubicBezTo>
                  <a:cubicBezTo>
                    <a:pt x="115" y="80"/>
                    <a:pt x="110" y="83"/>
                    <a:pt x="106" y="84"/>
                  </a:cubicBezTo>
                  <a:cubicBezTo>
                    <a:pt x="102" y="86"/>
                    <a:pt x="97" y="85"/>
                    <a:pt x="93" y="86"/>
                  </a:cubicBezTo>
                  <a:cubicBezTo>
                    <a:pt x="89" y="86"/>
                    <a:pt x="85" y="86"/>
                    <a:pt x="81" y="86"/>
                  </a:cubicBezTo>
                  <a:cubicBezTo>
                    <a:pt x="65" y="86"/>
                    <a:pt x="51" y="85"/>
                    <a:pt x="39" y="84"/>
                  </a:cubicBezTo>
                  <a:cubicBezTo>
                    <a:pt x="27" y="83"/>
                    <a:pt x="17" y="82"/>
                    <a:pt x="10" y="81"/>
                  </a:cubicBezTo>
                  <a:cubicBezTo>
                    <a:pt x="7" y="81"/>
                    <a:pt x="4" y="81"/>
                    <a:pt x="3" y="80"/>
                  </a:cubicBezTo>
                  <a:cubicBezTo>
                    <a:pt x="1" y="80"/>
                    <a:pt x="0" y="80"/>
                    <a:pt x="0" y="80"/>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ïṧḻïďe">
              <a:extLst>
                <a:ext uri="{FF2B5EF4-FFF2-40B4-BE49-F238E27FC236}">
                  <a16:creationId xmlns:a16="http://schemas.microsoft.com/office/drawing/2014/main" id="{7640928F-DE83-71A0-D490-2E6EE5145A76}"/>
                </a:ext>
              </a:extLst>
            </p:cNvPr>
            <p:cNvSpPr/>
            <p:nvPr/>
          </p:nvSpPr>
          <p:spPr bwMode="auto">
            <a:xfrm>
              <a:off x="6907975" y="3387472"/>
              <a:ext cx="328613" cy="266700"/>
            </a:xfrm>
            <a:custGeom>
              <a:avLst/>
              <a:gdLst>
                <a:gd name="T0" fmla="*/ 112 w 112"/>
                <a:gd name="T1" fmla="*/ 68 h 91"/>
                <a:gd name="T2" fmla="*/ 82 w 112"/>
                <a:gd name="T3" fmla="*/ 86 h 91"/>
                <a:gd name="T4" fmla="*/ 58 w 112"/>
                <a:gd name="T5" fmla="*/ 78 h 91"/>
                <a:gd name="T6" fmla="*/ 53 w 112"/>
                <a:gd name="T7" fmla="*/ 69 h 91"/>
                <a:gd name="T8" fmla="*/ 22 w 112"/>
                <a:gd name="T9" fmla="*/ 83 h 91"/>
                <a:gd name="T10" fmla="*/ 22 w 112"/>
                <a:gd name="T11" fmla="*/ 72 h 91"/>
                <a:gd name="T12" fmla="*/ 14 w 112"/>
                <a:gd name="T13" fmla="*/ 61 h 91"/>
                <a:gd name="T14" fmla="*/ 10 w 112"/>
                <a:gd name="T15" fmla="*/ 45 h 91"/>
                <a:gd name="T16" fmla="*/ 7 w 112"/>
                <a:gd name="T17" fmla="*/ 29 h 91"/>
                <a:gd name="T18" fmla="*/ 45 w 112"/>
                <a:gd name="T19" fmla="*/ 2 h 91"/>
                <a:gd name="T20" fmla="*/ 62 w 112"/>
                <a:gd name="T21" fmla="*/ 13 h 91"/>
                <a:gd name="T22" fmla="*/ 72 w 112"/>
                <a:gd name="T23" fmla="*/ 32 h 91"/>
                <a:gd name="T24" fmla="*/ 86 w 112"/>
                <a:gd name="T25" fmla="*/ 24 h 91"/>
                <a:gd name="T26" fmla="*/ 112 w 112"/>
                <a:gd name="T27" fmla="*/ 68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91">
                  <a:moveTo>
                    <a:pt x="112" y="68"/>
                  </a:moveTo>
                  <a:cubicBezTo>
                    <a:pt x="112" y="68"/>
                    <a:pt x="98" y="78"/>
                    <a:pt x="82" y="86"/>
                  </a:cubicBezTo>
                  <a:cubicBezTo>
                    <a:pt x="73" y="90"/>
                    <a:pt x="62" y="86"/>
                    <a:pt x="58" y="78"/>
                  </a:cubicBezTo>
                  <a:cubicBezTo>
                    <a:pt x="53" y="69"/>
                    <a:pt x="53" y="69"/>
                    <a:pt x="53" y="69"/>
                  </a:cubicBezTo>
                  <a:cubicBezTo>
                    <a:pt x="53" y="69"/>
                    <a:pt x="31" y="91"/>
                    <a:pt x="22" y="83"/>
                  </a:cubicBezTo>
                  <a:cubicBezTo>
                    <a:pt x="22" y="83"/>
                    <a:pt x="18" y="77"/>
                    <a:pt x="22" y="72"/>
                  </a:cubicBezTo>
                  <a:cubicBezTo>
                    <a:pt x="22" y="72"/>
                    <a:pt x="10" y="74"/>
                    <a:pt x="14" y="61"/>
                  </a:cubicBezTo>
                  <a:cubicBezTo>
                    <a:pt x="14" y="61"/>
                    <a:pt x="4" y="57"/>
                    <a:pt x="10" y="45"/>
                  </a:cubicBezTo>
                  <a:cubicBezTo>
                    <a:pt x="10" y="45"/>
                    <a:pt x="0" y="39"/>
                    <a:pt x="7" y="29"/>
                  </a:cubicBezTo>
                  <a:cubicBezTo>
                    <a:pt x="13" y="19"/>
                    <a:pt x="37" y="4"/>
                    <a:pt x="45" y="2"/>
                  </a:cubicBezTo>
                  <a:cubicBezTo>
                    <a:pt x="52" y="0"/>
                    <a:pt x="56" y="6"/>
                    <a:pt x="62" y="13"/>
                  </a:cubicBezTo>
                  <a:cubicBezTo>
                    <a:pt x="67" y="19"/>
                    <a:pt x="72" y="32"/>
                    <a:pt x="72" y="32"/>
                  </a:cubicBezTo>
                  <a:cubicBezTo>
                    <a:pt x="86" y="24"/>
                    <a:pt x="86" y="24"/>
                    <a:pt x="86" y="24"/>
                  </a:cubicBezTo>
                  <a:lnTo>
                    <a:pt x="112" y="6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ïṥļîḓè">
              <a:extLst>
                <a:ext uri="{FF2B5EF4-FFF2-40B4-BE49-F238E27FC236}">
                  <a16:creationId xmlns:a16="http://schemas.microsoft.com/office/drawing/2014/main" id="{3EA995EA-5870-1C7A-047B-F4DCA1952BA7}"/>
                </a:ext>
              </a:extLst>
            </p:cNvPr>
            <p:cNvSpPr/>
            <p:nvPr/>
          </p:nvSpPr>
          <p:spPr bwMode="auto">
            <a:xfrm>
              <a:off x="6917500" y="3390647"/>
              <a:ext cx="319088" cy="257175"/>
            </a:xfrm>
            <a:custGeom>
              <a:avLst/>
              <a:gdLst>
                <a:gd name="T0" fmla="*/ 109 w 109"/>
                <a:gd name="T1" fmla="*/ 66 h 88"/>
                <a:gd name="T2" fmla="*/ 102 w 109"/>
                <a:gd name="T3" fmla="*/ 55 h 88"/>
                <a:gd name="T4" fmla="*/ 83 w 109"/>
                <a:gd name="T5" fmla="*/ 24 h 88"/>
                <a:gd name="T6" fmla="*/ 68 w 109"/>
                <a:gd name="T7" fmla="*/ 31 h 88"/>
                <a:gd name="T8" fmla="*/ 64 w 109"/>
                <a:gd name="T9" fmla="*/ 22 h 88"/>
                <a:gd name="T10" fmla="*/ 50 w 109"/>
                <a:gd name="T11" fmla="*/ 4 h 88"/>
                <a:gd name="T12" fmla="*/ 17 w 109"/>
                <a:gd name="T13" fmla="*/ 16 h 88"/>
                <a:gd name="T14" fmla="*/ 3 w 109"/>
                <a:gd name="T15" fmla="*/ 37 h 88"/>
                <a:gd name="T16" fmla="*/ 7 w 109"/>
                <a:gd name="T17" fmla="*/ 43 h 88"/>
                <a:gd name="T18" fmla="*/ 6 w 109"/>
                <a:gd name="T19" fmla="*/ 53 h 88"/>
                <a:gd name="T20" fmla="*/ 12 w 109"/>
                <a:gd name="T21" fmla="*/ 59 h 88"/>
                <a:gd name="T22" fmla="*/ 12 w 109"/>
                <a:gd name="T23" fmla="*/ 68 h 88"/>
                <a:gd name="T24" fmla="*/ 19 w 109"/>
                <a:gd name="T25" fmla="*/ 70 h 88"/>
                <a:gd name="T26" fmla="*/ 20 w 109"/>
                <a:gd name="T27" fmla="*/ 71 h 88"/>
                <a:gd name="T28" fmla="*/ 19 w 109"/>
                <a:gd name="T29" fmla="*/ 82 h 88"/>
                <a:gd name="T30" fmla="*/ 36 w 109"/>
                <a:gd name="T31" fmla="*/ 78 h 88"/>
                <a:gd name="T32" fmla="*/ 50 w 109"/>
                <a:gd name="T33" fmla="*/ 68 h 88"/>
                <a:gd name="T34" fmla="*/ 51 w 109"/>
                <a:gd name="T35" fmla="*/ 68 h 88"/>
                <a:gd name="T36" fmla="*/ 59 w 109"/>
                <a:gd name="T37" fmla="*/ 81 h 88"/>
                <a:gd name="T38" fmla="*/ 83 w 109"/>
                <a:gd name="T39" fmla="*/ 82 h 88"/>
                <a:gd name="T40" fmla="*/ 105 w 109"/>
                <a:gd name="T41" fmla="*/ 70 h 88"/>
                <a:gd name="T42" fmla="*/ 109 w 109"/>
                <a:gd name="T43" fmla="*/ 67 h 88"/>
                <a:gd name="T44" fmla="*/ 105 w 109"/>
                <a:gd name="T45" fmla="*/ 70 h 88"/>
                <a:gd name="T46" fmla="*/ 83 w 109"/>
                <a:gd name="T47" fmla="*/ 83 h 88"/>
                <a:gd name="T48" fmla="*/ 58 w 109"/>
                <a:gd name="T49" fmla="*/ 82 h 88"/>
                <a:gd name="T50" fmla="*/ 50 w 109"/>
                <a:gd name="T51" fmla="*/ 69 h 88"/>
                <a:gd name="T52" fmla="*/ 37 w 109"/>
                <a:gd name="T53" fmla="*/ 80 h 88"/>
                <a:gd name="T54" fmla="*/ 18 w 109"/>
                <a:gd name="T55" fmla="*/ 83 h 88"/>
                <a:gd name="T56" fmla="*/ 18 w 109"/>
                <a:gd name="T57" fmla="*/ 83 h 88"/>
                <a:gd name="T58" fmla="*/ 18 w 109"/>
                <a:gd name="T59" fmla="*/ 70 h 88"/>
                <a:gd name="T60" fmla="*/ 15 w 109"/>
                <a:gd name="T61" fmla="*/ 71 h 88"/>
                <a:gd name="T62" fmla="*/ 10 w 109"/>
                <a:gd name="T63" fmla="*/ 59 h 88"/>
                <a:gd name="T64" fmla="*/ 4 w 109"/>
                <a:gd name="T65" fmla="*/ 53 h 88"/>
                <a:gd name="T66" fmla="*/ 6 w 109"/>
                <a:gd name="T67" fmla="*/ 45 h 88"/>
                <a:gd name="T68" fmla="*/ 1 w 109"/>
                <a:gd name="T69" fmla="*/ 30 h 88"/>
                <a:gd name="T70" fmla="*/ 16 w 109"/>
                <a:gd name="T71" fmla="*/ 15 h 88"/>
                <a:gd name="T72" fmla="*/ 45 w 109"/>
                <a:gd name="T73" fmla="*/ 0 h 88"/>
                <a:gd name="T74" fmla="*/ 59 w 109"/>
                <a:gd name="T75" fmla="*/ 11 h 88"/>
                <a:gd name="T76" fmla="*/ 70 w 109"/>
                <a:gd name="T77" fmla="*/ 31 h 88"/>
                <a:gd name="T78" fmla="*/ 82 w 109"/>
                <a:gd name="T79" fmla="*/ 23 h 88"/>
                <a:gd name="T80" fmla="*/ 103 w 109"/>
                <a:gd name="T81" fmla="*/ 55 h 88"/>
                <a:gd name="T82" fmla="*/ 109 w 109"/>
                <a:gd name="T83" fmla="*/ 6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9" h="88">
                  <a:moveTo>
                    <a:pt x="109" y="67"/>
                  </a:moveTo>
                  <a:cubicBezTo>
                    <a:pt x="109" y="67"/>
                    <a:pt x="109" y="67"/>
                    <a:pt x="109" y="66"/>
                  </a:cubicBezTo>
                  <a:cubicBezTo>
                    <a:pt x="108" y="66"/>
                    <a:pt x="108" y="65"/>
                    <a:pt x="107" y="64"/>
                  </a:cubicBezTo>
                  <a:cubicBezTo>
                    <a:pt x="106" y="62"/>
                    <a:pt x="104" y="59"/>
                    <a:pt x="102" y="55"/>
                  </a:cubicBezTo>
                  <a:cubicBezTo>
                    <a:pt x="97" y="48"/>
                    <a:pt x="90" y="37"/>
                    <a:pt x="82" y="24"/>
                  </a:cubicBezTo>
                  <a:cubicBezTo>
                    <a:pt x="83" y="24"/>
                    <a:pt x="83" y="24"/>
                    <a:pt x="83" y="24"/>
                  </a:cubicBezTo>
                  <a:cubicBezTo>
                    <a:pt x="79" y="26"/>
                    <a:pt x="74" y="29"/>
                    <a:pt x="69" y="32"/>
                  </a:cubicBezTo>
                  <a:cubicBezTo>
                    <a:pt x="69" y="32"/>
                    <a:pt x="68" y="32"/>
                    <a:pt x="68" y="31"/>
                  </a:cubicBezTo>
                  <a:cubicBezTo>
                    <a:pt x="68" y="31"/>
                    <a:pt x="68" y="31"/>
                    <a:pt x="68" y="31"/>
                  </a:cubicBezTo>
                  <a:cubicBezTo>
                    <a:pt x="67" y="28"/>
                    <a:pt x="65" y="25"/>
                    <a:pt x="64" y="22"/>
                  </a:cubicBezTo>
                  <a:cubicBezTo>
                    <a:pt x="62" y="18"/>
                    <a:pt x="60" y="15"/>
                    <a:pt x="58" y="12"/>
                  </a:cubicBezTo>
                  <a:cubicBezTo>
                    <a:pt x="56" y="9"/>
                    <a:pt x="53" y="6"/>
                    <a:pt x="50" y="4"/>
                  </a:cubicBezTo>
                  <a:cubicBezTo>
                    <a:pt x="47" y="1"/>
                    <a:pt x="43" y="1"/>
                    <a:pt x="39" y="3"/>
                  </a:cubicBezTo>
                  <a:cubicBezTo>
                    <a:pt x="32" y="6"/>
                    <a:pt x="24" y="11"/>
                    <a:pt x="17" y="16"/>
                  </a:cubicBezTo>
                  <a:cubicBezTo>
                    <a:pt x="14" y="19"/>
                    <a:pt x="10" y="22"/>
                    <a:pt x="7" y="25"/>
                  </a:cubicBezTo>
                  <a:cubicBezTo>
                    <a:pt x="4" y="28"/>
                    <a:pt x="2" y="33"/>
                    <a:pt x="3" y="37"/>
                  </a:cubicBezTo>
                  <a:cubicBezTo>
                    <a:pt x="3" y="39"/>
                    <a:pt x="5" y="42"/>
                    <a:pt x="7" y="43"/>
                  </a:cubicBezTo>
                  <a:cubicBezTo>
                    <a:pt x="7" y="43"/>
                    <a:pt x="7" y="43"/>
                    <a:pt x="7" y="43"/>
                  </a:cubicBezTo>
                  <a:cubicBezTo>
                    <a:pt x="8" y="44"/>
                    <a:pt x="8" y="44"/>
                    <a:pt x="8" y="45"/>
                  </a:cubicBezTo>
                  <a:cubicBezTo>
                    <a:pt x="6" y="47"/>
                    <a:pt x="6" y="50"/>
                    <a:pt x="6" y="53"/>
                  </a:cubicBezTo>
                  <a:cubicBezTo>
                    <a:pt x="7" y="56"/>
                    <a:pt x="9" y="58"/>
                    <a:pt x="12" y="59"/>
                  </a:cubicBezTo>
                  <a:cubicBezTo>
                    <a:pt x="12" y="59"/>
                    <a:pt x="12" y="59"/>
                    <a:pt x="12" y="59"/>
                  </a:cubicBezTo>
                  <a:cubicBezTo>
                    <a:pt x="12" y="59"/>
                    <a:pt x="13" y="60"/>
                    <a:pt x="12" y="60"/>
                  </a:cubicBezTo>
                  <a:cubicBezTo>
                    <a:pt x="12" y="63"/>
                    <a:pt x="11" y="66"/>
                    <a:pt x="12" y="68"/>
                  </a:cubicBezTo>
                  <a:cubicBezTo>
                    <a:pt x="14" y="70"/>
                    <a:pt x="17" y="70"/>
                    <a:pt x="19" y="70"/>
                  </a:cubicBezTo>
                  <a:cubicBezTo>
                    <a:pt x="19" y="70"/>
                    <a:pt x="19" y="70"/>
                    <a:pt x="19" y="70"/>
                  </a:cubicBezTo>
                  <a:cubicBezTo>
                    <a:pt x="20" y="70"/>
                    <a:pt x="20" y="70"/>
                    <a:pt x="20" y="70"/>
                  </a:cubicBezTo>
                  <a:cubicBezTo>
                    <a:pt x="20" y="71"/>
                    <a:pt x="20" y="71"/>
                    <a:pt x="20" y="71"/>
                  </a:cubicBezTo>
                  <a:cubicBezTo>
                    <a:pt x="17" y="74"/>
                    <a:pt x="18" y="79"/>
                    <a:pt x="19" y="82"/>
                  </a:cubicBezTo>
                  <a:cubicBezTo>
                    <a:pt x="19" y="82"/>
                    <a:pt x="19" y="82"/>
                    <a:pt x="19" y="82"/>
                  </a:cubicBezTo>
                  <a:cubicBezTo>
                    <a:pt x="21" y="84"/>
                    <a:pt x="25" y="83"/>
                    <a:pt x="28" y="82"/>
                  </a:cubicBezTo>
                  <a:cubicBezTo>
                    <a:pt x="31" y="82"/>
                    <a:pt x="33" y="80"/>
                    <a:pt x="36" y="78"/>
                  </a:cubicBezTo>
                  <a:cubicBezTo>
                    <a:pt x="41" y="75"/>
                    <a:pt x="46" y="71"/>
                    <a:pt x="50" y="68"/>
                  </a:cubicBezTo>
                  <a:cubicBezTo>
                    <a:pt x="50" y="68"/>
                    <a:pt x="50" y="68"/>
                    <a:pt x="50" y="68"/>
                  </a:cubicBezTo>
                  <a:cubicBezTo>
                    <a:pt x="50" y="67"/>
                    <a:pt x="51" y="67"/>
                    <a:pt x="51" y="68"/>
                  </a:cubicBezTo>
                  <a:cubicBezTo>
                    <a:pt x="51" y="68"/>
                    <a:pt x="51" y="68"/>
                    <a:pt x="51" y="68"/>
                  </a:cubicBezTo>
                  <a:cubicBezTo>
                    <a:pt x="52" y="70"/>
                    <a:pt x="54" y="73"/>
                    <a:pt x="55" y="75"/>
                  </a:cubicBezTo>
                  <a:cubicBezTo>
                    <a:pt x="56" y="77"/>
                    <a:pt x="57" y="79"/>
                    <a:pt x="59" y="81"/>
                  </a:cubicBezTo>
                  <a:cubicBezTo>
                    <a:pt x="63" y="85"/>
                    <a:pt x="67" y="86"/>
                    <a:pt x="71" y="86"/>
                  </a:cubicBezTo>
                  <a:cubicBezTo>
                    <a:pt x="76" y="86"/>
                    <a:pt x="79" y="84"/>
                    <a:pt x="83" y="82"/>
                  </a:cubicBezTo>
                  <a:cubicBezTo>
                    <a:pt x="86" y="81"/>
                    <a:pt x="89" y="79"/>
                    <a:pt x="92" y="77"/>
                  </a:cubicBezTo>
                  <a:cubicBezTo>
                    <a:pt x="98" y="74"/>
                    <a:pt x="102" y="72"/>
                    <a:pt x="105" y="70"/>
                  </a:cubicBezTo>
                  <a:cubicBezTo>
                    <a:pt x="106" y="69"/>
                    <a:pt x="107" y="68"/>
                    <a:pt x="108" y="68"/>
                  </a:cubicBezTo>
                  <a:cubicBezTo>
                    <a:pt x="109" y="67"/>
                    <a:pt x="109" y="67"/>
                    <a:pt x="109" y="67"/>
                  </a:cubicBezTo>
                  <a:cubicBezTo>
                    <a:pt x="109" y="67"/>
                    <a:pt x="109" y="67"/>
                    <a:pt x="108" y="68"/>
                  </a:cubicBezTo>
                  <a:cubicBezTo>
                    <a:pt x="108" y="68"/>
                    <a:pt x="107" y="69"/>
                    <a:pt x="105" y="70"/>
                  </a:cubicBezTo>
                  <a:cubicBezTo>
                    <a:pt x="102" y="72"/>
                    <a:pt x="98" y="75"/>
                    <a:pt x="93" y="78"/>
                  </a:cubicBezTo>
                  <a:cubicBezTo>
                    <a:pt x="90" y="80"/>
                    <a:pt x="87" y="82"/>
                    <a:pt x="83" y="83"/>
                  </a:cubicBezTo>
                  <a:cubicBezTo>
                    <a:pt x="80" y="85"/>
                    <a:pt x="76" y="87"/>
                    <a:pt x="72" y="87"/>
                  </a:cubicBezTo>
                  <a:cubicBezTo>
                    <a:pt x="67" y="88"/>
                    <a:pt x="62" y="86"/>
                    <a:pt x="58" y="82"/>
                  </a:cubicBezTo>
                  <a:cubicBezTo>
                    <a:pt x="56" y="81"/>
                    <a:pt x="55" y="78"/>
                    <a:pt x="53" y="76"/>
                  </a:cubicBezTo>
                  <a:cubicBezTo>
                    <a:pt x="52" y="73"/>
                    <a:pt x="51" y="71"/>
                    <a:pt x="50" y="69"/>
                  </a:cubicBezTo>
                  <a:cubicBezTo>
                    <a:pt x="51" y="69"/>
                    <a:pt x="51" y="69"/>
                    <a:pt x="51" y="69"/>
                  </a:cubicBezTo>
                  <a:cubicBezTo>
                    <a:pt x="47" y="73"/>
                    <a:pt x="42" y="77"/>
                    <a:pt x="37" y="80"/>
                  </a:cubicBezTo>
                  <a:cubicBezTo>
                    <a:pt x="34" y="82"/>
                    <a:pt x="31" y="83"/>
                    <a:pt x="28" y="84"/>
                  </a:cubicBezTo>
                  <a:cubicBezTo>
                    <a:pt x="25" y="85"/>
                    <a:pt x="21" y="86"/>
                    <a:pt x="18" y="83"/>
                  </a:cubicBezTo>
                  <a:cubicBezTo>
                    <a:pt x="18" y="83"/>
                    <a:pt x="18" y="83"/>
                    <a:pt x="18" y="83"/>
                  </a:cubicBezTo>
                  <a:cubicBezTo>
                    <a:pt x="18" y="83"/>
                    <a:pt x="18" y="83"/>
                    <a:pt x="18" y="83"/>
                  </a:cubicBezTo>
                  <a:cubicBezTo>
                    <a:pt x="17" y="81"/>
                    <a:pt x="16" y="79"/>
                    <a:pt x="16" y="76"/>
                  </a:cubicBezTo>
                  <a:cubicBezTo>
                    <a:pt x="16" y="74"/>
                    <a:pt x="17" y="72"/>
                    <a:pt x="18" y="70"/>
                  </a:cubicBezTo>
                  <a:cubicBezTo>
                    <a:pt x="19" y="72"/>
                    <a:pt x="19" y="72"/>
                    <a:pt x="19" y="72"/>
                  </a:cubicBezTo>
                  <a:cubicBezTo>
                    <a:pt x="18" y="72"/>
                    <a:pt x="16" y="72"/>
                    <a:pt x="15" y="71"/>
                  </a:cubicBezTo>
                  <a:cubicBezTo>
                    <a:pt x="13" y="71"/>
                    <a:pt x="12" y="70"/>
                    <a:pt x="11" y="69"/>
                  </a:cubicBezTo>
                  <a:cubicBezTo>
                    <a:pt x="9" y="66"/>
                    <a:pt x="10" y="62"/>
                    <a:pt x="10" y="59"/>
                  </a:cubicBezTo>
                  <a:cubicBezTo>
                    <a:pt x="11" y="61"/>
                    <a:pt x="11" y="61"/>
                    <a:pt x="11" y="61"/>
                  </a:cubicBezTo>
                  <a:cubicBezTo>
                    <a:pt x="8" y="59"/>
                    <a:pt x="5" y="57"/>
                    <a:pt x="4" y="53"/>
                  </a:cubicBezTo>
                  <a:cubicBezTo>
                    <a:pt x="4" y="50"/>
                    <a:pt x="4" y="47"/>
                    <a:pt x="6" y="44"/>
                  </a:cubicBezTo>
                  <a:cubicBezTo>
                    <a:pt x="6" y="45"/>
                    <a:pt x="6" y="45"/>
                    <a:pt x="6" y="45"/>
                  </a:cubicBezTo>
                  <a:cubicBezTo>
                    <a:pt x="4" y="43"/>
                    <a:pt x="2" y="41"/>
                    <a:pt x="1" y="37"/>
                  </a:cubicBezTo>
                  <a:cubicBezTo>
                    <a:pt x="0" y="35"/>
                    <a:pt x="0" y="32"/>
                    <a:pt x="1" y="30"/>
                  </a:cubicBezTo>
                  <a:cubicBezTo>
                    <a:pt x="2" y="28"/>
                    <a:pt x="4" y="26"/>
                    <a:pt x="5" y="24"/>
                  </a:cubicBezTo>
                  <a:cubicBezTo>
                    <a:pt x="9" y="20"/>
                    <a:pt x="12" y="17"/>
                    <a:pt x="16" y="15"/>
                  </a:cubicBezTo>
                  <a:cubicBezTo>
                    <a:pt x="23" y="9"/>
                    <a:pt x="31" y="4"/>
                    <a:pt x="39" y="1"/>
                  </a:cubicBezTo>
                  <a:cubicBezTo>
                    <a:pt x="41" y="0"/>
                    <a:pt x="43" y="0"/>
                    <a:pt x="45" y="0"/>
                  </a:cubicBezTo>
                  <a:cubicBezTo>
                    <a:pt x="47" y="0"/>
                    <a:pt x="50" y="1"/>
                    <a:pt x="51" y="2"/>
                  </a:cubicBezTo>
                  <a:cubicBezTo>
                    <a:pt x="55" y="5"/>
                    <a:pt x="57" y="8"/>
                    <a:pt x="59" y="11"/>
                  </a:cubicBezTo>
                  <a:cubicBezTo>
                    <a:pt x="62" y="14"/>
                    <a:pt x="64" y="18"/>
                    <a:pt x="65" y="21"/>
                  </a:cubicBezTo>
                  <a:cubicBezTo>
                    <a:pt x="67" y="24"/>
                    <a:pt x="68" y="28"/>
                    <a:pt x="70" y="31"/>
                  </a:cubicBezTo>
                  <a:cubicBezTo>
                    <a:pt x="68" y="30"/>
                    <a:pt x="68" y="30"/>
                    <a:pt x="68" y="30"/>
                  </a:cubicBezTo>
                  <a:cubicBezTo>
                    <a:pt x="73" y="28"/>
                    <a:pt x="78" y="25"/>
                    <a:pt x="82" y="23"/>
                  </a:cubicBezTo>
                  <a:cubicBezTo>
                    <a:pt x="83" y="23"/>
                    <a:pt x="83" y="23"/>
                    <a:pt x="83" y="23"/>
                  </a:cubicBezTo>
                  <a:cubicBezTo>
                    <a:pt x="91" y="37"/>
                    <a:pt x="98" y="48"/>
                    <a:pt x="103" y="55"/>
                  </a:cubicBezTo>
                  <a:cubicBezTo>
                    <a:pt x="105" y="59"/>
                    <a:pt x="107" y="62"/>
                    <a:pt x="108" y="64"/>
                  </a:cubicBezTo>
                  <a:cubicBezTo>
                    <a:pt x="109" y="66"/>
                    <a:pt x="109" y="67"/>
                    <a:pt x="109" y="67"/>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î$ļîḍè">
              <a:extLst>
                <a:ext uri="{FF2B5EF4-FFF2-40B4-BE49-F238E27FC236}">
                  <a16:creationId xmlns:a16="http://schemas.microsoft.com/office/drawing/2014/main" id="{35CD3909-25B4-A4E1-EF3B-76BFAAEADE27}"/>
                </a:ext>
              </a:extLst>
            </p:cNvPr>
            <p:cNvSpPr/>
            <p:nvPr/>
          </p:nvSpPr>
          <p:spPr bwMode="auto">
            <a:xfrm>
              <a:off x="6973062" y="3530347"/>
              <a:ext cx="125413" cy="68263"/>
            </a:xfrm>
            <a:custGeom>
              <a:avLst/>
              <a:gdLst>
                <a:gd name="T0" fmla="*/ 43 w 43"/>
                <a:gd name="T1" fmla="*/ 12 h 23"/>
                <a:gd name="T2" fmla="*/ 39 w 43"/>
                <a:gd name="T3" fmla="*/ 5 h 23"/>
                <a:gd name="T4" fmla="*/ 31 w 43"/>
                <a:gd name="T5" fmla="*/ 3 h 23"/>
                <a:gd name="T6" fmla="*/ 22 w 43"/>
                <a:gd name="T7" fmla="*/ 5 h 23"/>
                <a:gd name="T8" fmla="*/ 13 w 43"/>
                <a:gd name="T9" fmla="*/ 12 h 23"/>
                <a:gd name="T10" fmla="*/ 6 w 43"/>
                <a:gd name="T11" fmla="*/ 18 h 23"/>
                <a:gd name="T12" fmla="*/ 0 w 43"/>
                <a:gd name="T13" fmla="*/ 23 h 23"/>
                <a:gd name="T14" fmla="*/ 5 w 43"/>
                <a:gd name="T15" fmla="*/ 16 h 23"/>
                <a:gd name="T16" fmla="*/ 12 w 43"/>
                <a:gd name="T17" fmla="*/ 11 h 23"/>
                <a:gd name="T18" fmla="*/ 20 w 43"/>
                <a:gd name="T19" fmla="*/ 4 h 23"/>
                <a:gd name="T20" fmla="*/ 31 w 43"/>
                <a:gd name="T21" fmla="*/ 1 h 23"/>
                <a:gd name="T22" fmla="*/ 40 w 43"/>
                <a:gd name="T23" fmla="*/ 4 h 23"/>
                <a:gd name="T24" fmla="*/ 43 w 43"/>
                <a:gd name="T25" fmla="*/ 9 h 23"/>
                <a:gd name="T26" fmla="*/ 43 w 43"/>
                <a:gd name="T27" fmla="*/ 1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3" h="23">
                  <a:moveTo>
                    <a:pt x="43" y="12"/>
                  </a:moveTo>
                  <a:cubicBezTo>
                    <a:pt x="42" y="12"/>
                    <a:pt x="42" y="8"/>
                    <a:pt x="39" y="5"/>
                  </a:cubicBezTo>
                  <a:cubicBezTo>
                    <a:pt x="37" y="4"/>
                    <a:pt x="34" y="2"/>
                    <a:pt x="31" y="3"/>
                  </a:cubicBezTo>
                  <a:cubicBezTo>
                    <a:pt x="28" y="3"/>
                    <a:pt x="25" y="4"/>
                    <a:pt x="22" y="5"/>
                  </a:cubicBezTo>
                  <a:cubicBezTo>
                    <a:pt x="18" y="7"/>
                    <a:pt x="16" y="10"/>
                    <a:pt x="13" y="12"/>
                  </a:cubicBezTo>
                  <a:cubicBezTo>
                    <a:pt x="11" y="14"/>
                    <a:pt x="8" y="16"/>
                    <a:pt x="6" y="18"/>
                  </a:cubicBezTo>
                  <a:cubicBezTo>
                    <a:pt x="3" y="21"/>
                    <a:pt x="0" y="23"/>
                    <a:pt x="0" y="23"/>
                  </a:cubicBezTo>
                  <a:cubicBezTo>
                    <a:pt x="0" y="22"/>
                    <a:pt x="2" y="20"/>
                    <a:pt x="5" y="16"/>
                  </a:cubicBezTo>
                  <a:cubicBezTo>
                    <a:pt x="7" y="15"/>
                    <a:pt x="10" y="13"/>
                    <a:pt x="12" y="11"/>
                  </a:cubicBezTo>
                  <a:cubicBezTo>
                    <a:pt x="14" y="8"/>
                    <a:pt x="17" y="6"/>
                    <a:pt x="20" y="4"/>
                  </a:cubicBezTo>
                  <a:cubicBezTo>
                    <a:pt x="24" y="2"/>
                    <a:pt x="28" y="0"/>
                    <a:pt x="31" y="1"/>
                  </a:cubicBezTo>
                  <a:cubicBezTo>
                    <a:pt x="35" y="1"/>
                    <a:pt x="38" y="2"/>
                    <a:pt x="40" y="4"/>
                  </a:cubicBezTo>
                  <a:cubicBezTo>
                    <a:pt x="42" y="6"/>
                    <a:pt x="43" y="8"/>
                    <a:pt x="43" y="9"/>
                  </a:cubicBezTo>
                  <a:cubicBezTo>
                    <a:pt x="43" y="11"/>
                    <a:pt x="43" y="12"/>
                    <a:pt x="43" y="12"/>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íṩļïde">
              <a:extLst>
                <a:ext uri="{FF2B5EF4-FFF2-40B4-BE49-F238E27FC236}">
                  <a16:creationId xmlns:a16="http://schemas.microsoft.com/office/drawing/2014/main" id="{7A87C71E-A4EF-99C6-A385-AEFA87FA2761}"/>
                </a:ext>
              </a:extLst>
            </p:cNvPr>
            <p:cNvSpPr/>
            <p:nvPr/>
          </p:nvSpPr>
          <p:spPr bwMode="auto">
            <a:xfrm>
              <a:off x="6952425" y="3487484"/>
              <a:ext cx="142875" cy="77788"/>
            </a:xfrm>
            <a:custGeom>
              <a:avLst/>
              <a:gdLst>
                <a:gd name="T0" fmla="*/ 49 w 49"/>
                <a:gd name="T1" fmla="*/ 7 h 27"/>
                <a:gd name="T2" fmla="*/ 46 w 49"/>
                <a:gd name="T3" fmla="*/ 4 h 27"/>
                <a:gd name="T4" fmla="*/ 36 w 49"/>
                <a:gd name="T5" fmla="*/ 2 h 27"/>
                <a:gd name="T6" fmla="*/ 36 w 49"/>
                <a:gd name="T7" fmla="*/ 2 h 27"/>
                <a:gd name="T8" fmla="*/ 36 w 49"/>
                <a:gd name="T9" fmla="*/ 2 h 27"/>
                <a:gd name="T10" fmla="*/ 30 w 49"/>
                <a:gd name="T11" fmla="*/ 4 h 27"/>
                <a:gd name="T12" fmla="*/ 23 w 49"/>
                <a:gd name="T13" fmla="*/ 8 h 27"/>
                <a:gd name="T14" fmla="*/ 7 w 49"/>
                <a:gd name="T15" fmla="*/ 22 h 27"/>
                <a:gd name="T16" fmla="*/ 0 w 49"/>
                <a:gd name="T17" fmla="*/ 27 h 27"/>
                <a:gd name="T18" fmla="*/ 6 w 49"/>
                <a:gd name="T19" fmla="*/ 21 h 27"/>
                <a:gd name="T20" fmla="*/ 22 w 49"/>
                <a:gd name="T21" fmla="*/ 6 h 27"/>
                <a:gd name="T22" fmla="*/ 29 w 49"/>
                <a:gd name="T23" fmla="*/ 2 h 27"/>
                <a:gd name="T24" fmla="*/ 37 w 49"/>
                <a:gd name="T25" fmla="*/ 0 h 27"/>
                <a:gd name="T26" fmla="*/ 36 w 49"/>
                <a:gd name="T27" fmla="*/ 0 h 27"/>
                <a:gd name="T28" fmla="*/ 47 w 49"/>
                <a:gd name="T29" fmla="*/ 4 h 27"/>
                <a:gd name="T30" fmla="*/ 49 w 49"/>
                <a:gd name="T3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9" h="27">
                  <a:moveTo>
                    <a:pt x="49" y="7"/>
                  </a:moveTo>
                  <a:cubicBezTo>
                    <a:pt x="48" y="7"/>
                    <a:pt x="48" y="6"/>
                    <a:pt x="46" y="4"/>
                  </a:cubicBezTo>
                  <a:cubicBezTo>
                    <a:pt x="44" y="3"/>
                    <a:pt x="41" y="2"/>
                    <a:pt x="36" y="2"/>
                  </a:cubicBezTo>
                  <a:cubicBezTo>
                    <a:pt x="36" y="2"/>
                    <a:pt x="36" y="2"/>
                    <a:pt x="36" y="2"/>
                  </a:cubicBezTo>
                  <a:cubicBezTo>
                    <a:pt x="36" y="2"/>
                    <a:pt x="36" y="2"/>
                    <a:pt x="36" y="2"/>
                  </a:cubicBezTo>
                  <a:cubicBezTo>
                    <a:pt x="34" y="2"/>
                    <a:pt x="32" y="2"/>
                    <a:pt x="30" y="4"/>
                  </a:cubicBezTo>
                  <a:cubicBezTo>
                    <a:pt x="28" y="5"/>
                    <a:pt x="25" y="6"/>
                    <a:pt x="23" y="8"/>
                  </a:cubicBezTo>
                  <a:cubicBezTo>
                    <a:pt x="17" y="13"/>
                    <a:pt x="11" y="18"/>
                    <a:pt x="7" y="22"/>
                  </a:cubicBezTo>
                  <a:cubicBezTo>
                    <a:pt x="3" y="25"/>
                    <a:pt x="1" y="27"/>
                    <a:pt x="0" y="27"/>
                  </a:cubicBezTo>
                  <a:cubicBezTo>
                    <a:pt x="0" y="27"/>
                    <a:pt x="2" y="24"/>
                    <a:pt x="6" y="21"/>
                  </a:cubicBezTo>
                  <a:cubicBezTo>
                    <a:pt x="10" y="17"/>
                    <a:pt x="16" y="12"/>
                    <a:pt x="22" y="6"/>
                  </a:cubicBezTo>
                  <a:cubicBezTo>
                    <a:pt x="24" y="4"/>
                    <a:pt x="27" y="3"/>
                    <a:pt x="29" y="2"/>
                  </a:cubicBezTo>
                  <a:cubicBezTo>
                    <a:pt x="31" y="1"/>
                    <a:pt x="34" y="0"/>
                    <a:pt x="37" y="0"/>
                  </a:cubicBezTo>
                  <a:cubicBezTo>
                    <a:pt x="36" y="0"/>
                    <a:pt x="36" y="0"/>
                    <a:pt x="36" y="0"/>
                  </a:cubicBezTo>
                  <a:cubicBezTo>
                    <a:pt x="41" y="0"/>
                    <a:pt x="45" y="2"/>
                    <a:pt x="47" y="4"/>
                  </a:cubicBezTo>
                  <a:cubicBezTo>
                    <a:pt x="48" y="6"/>
                    <a:pt x="49" y="7"/>
                    <a:pt x="49" y="7"/>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îşľïḓè">
              <a:extLst>
                <a:ext uri="{FF2B5EF4-FFF2-40B4-BE49-F238E27FC236}">
                  <a16:creationId xmlns:a16="http://schemas.microsoft.com/office/drawing/2014/main" id="{8FCAAF9C-5485-3BB8-0B24-5882707DBAC4}"/>
                </a:ext>
              </a:extLst>
            </p:cNvPr>
            <p:cNvSpPr/>
            <p:nvPr/>
          </p:nvSpPr>
          <p:spPr bwMode="auto">
            <a:xfrm>
              <a:off x="6938137" y="3443034"/>
              <a:ext cx="115888" cy="79375"/>
            </a:xfrm>
            <a:custGeom>
              <a:avLst/>
              <a:gdLst>
                <a:gd name="T0" fmla="*/ 40 w 40"/>
                <a:gd name="T1" fmla="*/ 2 h 27"/>
                <a:gd name="T2" fmla="*/ 33 w 40"/>
                <a:gd name="T3" fmla="*/ 3 h 27"/>
                <a:gd name="T4" fmla="*/ 19 w 40"/>
                <a:gd name="T5" fmla="*/ 11 h 27"/>
                <a:gd name="T6" fmla="*/ 6 w 40"/>
                <a:gd name="T7" fmla="*/ 22 h 27"/>
                <a:gd name="T8" fmla="*/ 0 w 40"/>
                <a:gd name="T9" fmla="*/ 27 h 27"/>
                <a:gd name="T10" fmla="*/ 5 w 40"/>
                <a:gd name="T11" fmla="*/ 21 h 27"/>
                <a:gd name="T12" fmla="*/ 18 w 40"/>
                <a:gd name="T13" fmla="*/ 10 h 27"/>
                <a:gd name="T14" fmla="*/ 33 w 40"/>
                <a:gd name="T15" fmla="*/ 1 h 27"/>
                <a:gd name="T16" fmla="*/ 40 w 40"/>
                <a:gd name="T17" fmla="*/ 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27">
                  <a:moveTo>
                    <a:pt x="40" y="2"/>
                  </a:moveTo>
                  <a:cubicBezTo>
                    <a:pt x="40" y="2"/>
                    <a:pt x="37" y="1"/>
                    <a:pt x="33" y="3"/>
                  </a:cubicBezTo>
                  <a:cubicBezTo>
                    <a:pt x="29" y="4"/>
                    <a:pt x="24" y="7"/>
                    <a:pt x="19" y="11"/>
                  </a:cubicBezTo>
                  <a:cubicBezTo>
                    <a:pt x="14" y="16"/>
                    <a:pt x="9" y="19"/>
                    <a:pt x="6" y="22"/>
                  </a:cubicBezTo>
                  <a:cubicBezTo>
                    <a:pt x="2" y="25"/>
                    <a:pt x="0" y="27"/>
                    <a:pt x="0" y="27"/>
                  </a:cubicBezTo>
                  <a:cubicBezTo>
                    <a:pt x="0" y="26"/>
                    <a:pt x="2" y="24"/>
                    <a:pt x="5" y="21"/>
                  </a:cubicBezTo>
                  <a:cubicBezTo>
                    <a:pt x="8" y="18"/>
                    <a:pt x="13" y="14"/>
                    <a:pt x="18" y="10"/>
                  </a:cubicBezTo>
                  <a:cubicBezTo>
                    <a:pt x="23" y="5"/>
                    <a:pt x="28" y="2"/>
                    <a:pt x="33" y="1"/>
                  </a:cubicBezTo>
                  <a:cubicBezTo>
                    <a:pt x="37" y="0"/>
                    <a:pt x="40" y="2"/>
                    <a:pt x="40" y="2"/>
                  </a:cubicBezTo>
                  <a:close/>
                </a:path>
              </a:pathLst>
            </a:custGeom>
            <a:solidFill>
              <a:srgbClr val="17171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4" name="文本框 3">
            <a:extLst>
              <a:ext uri="{FF2B5EF4-FFF2-40B4-BE49-F238E27FC236}">
                <a16:creationId xmlns:a16="http://schemas.microsoft.com/office/drawing/2014/main" id="{8B072B8C-9496-A2E7-04B9-9FD42D225DCB}"/>
              </a:ext>
            </a:extLst>
          </p:cNvPr>
          <p:cNvSpPr txBox="1"/>
          <p:nvPr/>
        </p:nvSpPr>
        <p:spPr>
          <a:xfrm>
            <a:off x="348658" y="838041"/>
            <a:ext cx="2804739" cy="830997"/>
          </a:xfrm>
          <a:prstGeom prst="rect">
            <a:avLst/>
          </a:prstGeom>
          <a:noFill/>
          <a:ln w="12700">
            <a:solidFill>
              <a:schemeClr val="tx1"/>
            </a:solidFill>
            <a:prstDash val="sysDash"/>
          </a:ln>
        </p:spPr>
        <p:txBody>
          <a:bodyPr wrap="square" rtlCol="0">
            <a:spAutoFit/>
          </a:bodyPr>
          <a:lstStyle/>
          <a:p>
            <a:pPr algn="l"/>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国外广泛应用小波变换（</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WT</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）和经验模态分解（</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EMD</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）进行多尺度特征提取，结合</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Hilbert-Huang</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变换（</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HHT</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）和机器学习提升故障诊断精度。时频图像方法（如</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STFT</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CWT</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）与卷积神经网络（</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CNN</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）结合用于异常检测和健康评估。物理建模中，有限元分析（</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FEM</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）和多体动力学（</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MBD</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）被用于复杂结构的振动模拟和设备可靠性提升。</a:t>
            </a:r>
            <a:endParaRPr lang="en-US" altLang="zh-CN" sz="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2" name="文本框 121">
            <a:extLst>
              <a:ext uri="{FF2B5EF4-FFF2-40B4-BE49-F238E27FC236}">
                <a16:creationId xmlns:a16="http://schemas.microsoft.com/office/drawing/2014/main" id="{E288E08B-8B36-5569-5C25-FED27245F9EF}"/>
              </a:ext>
            </a:extLst>
          </p:cNvPr>
          <p:cNvSpPr txBox="1"/>
          <p:nvPr/>
        </p:nvSpPr>
        <p:spPr>
          <a:xfrm>
            <a:off x="3330260" y="4090095"/>
            <a:ext cx="2483478" cy="307777"/>
          </a:xfrm>
          <a:prstGeom prst="rect">
            <a:avLst/>
          </a:prstGeom>
          <a:noFill/>
          <a:ln w="12700">
            <a:solidFill>
              <a:schemeClr val="tx1"/>
            </a:solidFill>
            <a:prstDash val="sysDash"/>
          </a:ln>
        </p:spPr>
        <p:txBody>
          <a:bodyPr wrap="square" rtlCol="0">
            <a:spAutoFit/>
          </a:bodyPr>
          <a:lstStyle/>
          <a:p>
            <a:pPr algn="ct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、统计与机器学习方法</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3" name="文本框 122">
            <a:extLst>
              <a:ext uri="{FF2B5EF4-FFF2-40B4-BE49-F238E27FC236}">
                <a16:creationId xmlns:a16="http://schemas.microsoft.com/office/drawing/2014/main" id="{C3AA8C03-738D-E018-488B-000D6B6A5755}"/>
              </a:ext>
            </a:extLst>
          </p:cNvPr>
          <p:cNvSpPr txBox="1"/>
          <p:nvPr/>
        </p:nvSpPr>
        <p:spPr>
          <a:xfrm>
            <a:off x="272448" y="4090095"/>
            <a:ext cx="2483478" cy="307777"/>
          </a:xfrm>
          <a:prstGeom prst="rect">
            <a:avLst/>
          </a:prstGeom>
          <a:noFill/>
          <a:ln w="12700">
            <a:solidFill>
              <a:schemeClr val="tx1"/>
            </a:solidFill>
            <a:prstDash val="sysDash"/>
          </a:ln>
        </p:spPr>
        <p:txBody>
          <a:bodyPr wrap="square" rtlCol="0">
            <a:spAutoFit/>
          </a:bodyPr>
          <a:lstStyle/>
          <a:p>
            <a:pPr algn="ct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、时频分析与物理建模方法</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4" name="文本框 123">
            <a:extLst>
              <a:ext uri="{FF2B5EF4-FFF2-40B4-BE49-F238E27FC236}">
                <a16:creationId xmlns:a16="http://schemas.microsoft.com/office/drawing/2014/main" id="{17429C8C-E4B3-447F-A066-C4F53D13AD04}"/>
              </a:ext>
            </a:extLst>
          </p:cNvPr>
          <p:cNvSpPr txBox="1"/>
          <p:nvPr/>
        </p:nvSpPr>
        <p:spPr>
          <a:xfrm>
            <a:off x="6388072" y="4090095"/>
            <a:ext cx="2483478" cy="307777"/>
          </a:xfrm>
          <a:prstGeom prst="rect">
            <a:avLst/>
          </a:prstGeom>
          <a:noFill/>
          <a:ln w="12700">
            <a:solidFill>
              <a:schemeClr val="tx1"/>
            </a:solidFill>
            <a:prstDash val="sysDash"/>
          </a:ln>
        </p:spPr>
        <p:txBody>
          <a:bodyPr wrap="square" rtlCol="0">
            <a:spAutoFit/>
          </a:bodyPr>
          <a:lstStyle/>
          <a:p>
            <a:pPr algn="ct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、深度学习与生成模型</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3" name="文本框 102">
            <a:extLst>
              <a:ext uri="{FF2B5EF4-FFF2-40B4-BE49-F238E27FC236}">
                <a16:creationId xmlns:a16="http://schemas.microsoft.com/office/drawing/2014/main" id="{5B5F210A-A7AD-078D-7F27-50DD884EC896}"/>
              </a:ext>
            </a:extLst>
          </p:cNvPr>
          <p:cNvSpPr txBox="1"/>
          <p:nvPr/>
        </p:nvSpPr>
        <p:spPr>
          <a:xfrm>
            <a:off x="5990603" y="823007"/>
            <a:ext cx="2804739" cy="707886"/>
          </a:xfrm>
          <a:prstGeom prst="rect">
            <a:avLst/>
          </a:prstGeom>
          <a:noFill/>
          <a:ln w="12700">
            <a:solidFill>
              <a:schemeClr val="tx1"/>
            </a:solidFill>
            <a:prstDash val="sysDash"/>
          </a:ln>
        </p:spPr>
        <p:txBody>
          <a:bodyPr wrap="square" rtlCol="0">
            <a:spAutoFit/>
          </a:bodyPr>
          <a:lstStyle/>
          <a:p>
            <a:pPr algn="l"/>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国内学者通过小波包分解（</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WPT</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）和改进的</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EEMD</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（如</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CEEMDAN</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）提升了非平稳信号的故障分类效果。物理建模方面，</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FEM</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MBD</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结合</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ANSYS</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等工具应用于机械设备的动态仿真，深入研究振动特性。</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MBD</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FEM</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的整合增强了模型性能，为故障预测提供了更精准的仿真支持。</a:t>
            </a:r>
            <a:endParaRPr lang="en-US" altLang="zh-CN" sz="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4" name="文本框 103">
            <a:extLst>
              <a:ext uri="{FF2B5EF4-FFF2-40B4-BE49-F238E27FC236}">
                <a16:creationId xmlns:a16="http://schemas.microsoft.com/office/drawing/2014/main" id="{D4867366-5953-DDA8-535D-6D0D06886864}"/>
              </a:ext>
            </a:extLst>
          </p:cNvPr>
          <p:cNvSpPr txBox="1"/>
          <p:nvPr/>
        </p:nvSpPr>
        <p:spPr>
          <a:xfrm>
            <a:off x="348658" y="1862112"/>
            <a:ext cx="2804739" cy="830997"/>
          </a:xfrm>
          <a:prstGeom prst="rect">
            <a:avLst/>
          </a:prstGeom>
          <a:noFill/>
          <a:ln w="12700">
            <a:solidFill>
              <a:schemeClr val="tx1"/>
            </a:solidFill>
            <a:prstDash val="sysDash"/>
          </a:ln>
        </p:spPr>
        <p:txBody>
          <a:bodyPr wrap="square" rtlCol="0">
            <a:spAutoFit/>
          </a:bodyPr>
          <a:lstStyle/>
          <a:p>
            <a:pPr algn="l"/>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国外广泛应用自回归模型（</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MA</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ARMA</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ARIMA</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）进行设备健康监测和未来趋势预测，特别是在平稳和非平稳信号中表现突出。多变量统计模型（如</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PCA</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ICA</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）与机器学习结合用于特征去噪和提高预测精度。传统机器学习方法（如</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SVR</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RF</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800" b="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XGBoost</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）因其强大的非线性建模能力，广泛应用于小样本和高维数据的振动信号预测。</a:t>
            </a:r>
            <a:endParaRPr lang="en-US" altLang="zh-CN" sz="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5" name="文本框 104">
            <a:extLst>
              <a:ext uri="{FF2B5EF4-FFF2-40B4-BE49-F238E27FC236}">
                <a16:creationId xmlns:a16="http://schemas.microsoft.com/office/drawing/2014/main" id="{117181E9-ED72-FAC3-987D-F366D084C8E9}"/>
              </a:ext>
            </a:extLst>
          </p:cNvPr>
          <p:cNvSpPr txBox="1"/>
          <p:nvPr/>
        </p:nvSpPr>
        <p:spPr>
          <a:xfrm>
            <a:off x="5990603" y="1862112"/>
            <a:ext cx="2804739" cy="830997"/>
          </a:xfrm>
          <a:prstGeom prst="rect">
            <a:avLst/>
          </a:prstGeom>
          <a:noFill/>
          <a:ln w="12700">
            <a:solidFill>
              <a:schemeClr val="tx1"/>
            </a:solidFill>
            <a:prstDash val="sysDash"/>
          </a:ln>
        </p:spPr>
        <p:txBody>
          <a:bodyPr wrap="square" rtlCol="0">
            <a:spAutoFit/>
          </a:bodyPr>
          <a:lstStyle/>
          <a:p>
            <a:pPr algn="l"/>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国内研究采用自回归模型和传统机器学习方法，并在核函数选择、参数优化和多变量融合上有所改进。部分研究将这些方法与深度学习结合，以提升多工况下的故障识别能力。国内逐渐关注将传统机器学习方法与深度学习结合，提升振动信号预测的精度和适应性，尤其在复杂信号和实时监测中具有优势。</a:t>
            </a:r>
            <a:endParaRPr lang="en-US" altLang="zh-CN" sz="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6" name="文本框 105">
            <a:extLst>
              <a:ext uri="{FF2B5EF4-FFF2-40B4-BE49-F238E27FC236}">
                <a16:creationId xmlns:a16="http://schemas.microsoft.com/office/drawing/2014/main" id="{D978A962-5734-3567-F768-27E0F5B7E997}"/>
              </a:ext>
            </a:extLst>
          </p:cNvPr>
          <p:cNvSpPr txBox="1"/>
          <p:nvPr/>
        </p:nvSpPr>
        <p:spPr>
          <a:xfrm>
            <a:off x="348656" y="2886183"/>
            <a:ext cx="2804739" cy="1077218"/>
          </a:xfrm>
          <a:prstGeom prst="rect">
            <a:avLst/>
          </a:prstGeom>
          <a:noFill/>
          <a:ln w="12700">
            <a:solidFill>
              <a:schemeClr val="tx1"/>
            </a:solidFill>
            <a:prstDash val="sysDash"/>
          </a:ln>
        </p:spPr>
        <p:txBody>
          <a:bodyPr wrap="square" rtlCol="0">
            <a:spAutoFit/>
          </a:bodyPr>
          <a:lstStyle/>
          <a:p>
            <a:pPr algn="l"/>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国外学者广泛应用深度学习模型，尤其是深度生成模型，如</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GAN</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VAE</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和扩散模型（</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DDPM</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），在振动信号生成和预测中取得了显著进展。</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CNN</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LSTM</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等神经网络用于自动特征提取和故障分类，时序卷积网络（</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TCN</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）则因其并行处理能力，逐渐成为处理长序列信号的主流方法。深度生成模型通过生成信号样本进行数据增强，提升了模型的泛化能力和预测精度，特别是在复杂信号和多模态数据处理方面。</a:t>
            </a:r>
            <a:endParaRPr lang="en-US" altLang="zh-CN" sz="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7" name="文本框 106">
            <a:extLst>
              <a:ext uri="{FF2B5EF4-FFF2-40B4-BE49-F238E27FC236}">
                <a16:creationId xmlns:a16="http://schemas.microsoft.com/office/drawing/2014/main" id="{CAE17F49-8FC1-1C98-9FEA-0B771BF1A879}"/>
              </a:ext>
            </a:extLst>
          </p:cNvPr>
          <p:cNvSpPr txBox="1"/>
          <p:nvPr/>
        </p:nvSpPr>
        <p:spPr>
          <a:xfrm>
            <a:off x="5990602" y="2886183"/>
            <a:ext cx="2804739" cy="1077218"/>
          </a:xfrm>
          <a:prstGeom prst="rect">
            <a:avLst/>
          </a:prstGeom>
          <a:noFill/>
          <a:ln w="12700">
            <a:solidFill>
              <a:schemeClr val="tx1"/>
            </a:solidFill>
            <a:prstDash val="sysDash"/>
          </a:ln>
        </p:spPr>
        <p:txBody>
          <a:bodyPr wrap="square" rtlCol="0">
            <a:spAutoFit/>
          </a:bodyPr>
          <a:lstStyle/>
          <a:p>
            <a:pPr algn="l"/>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国内学者在深度生成模型方面也积极探索，</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GAN</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用于模拟复杂故障模式，</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VAE</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用于处理带有不确定性的非线性信号，扩散模型逐渐应用于生成连续性较强的振动信号。部分研究已将深度生成模型与物理建模方法结合，利用有限元分析（</a:t>
            </a:r>
            <a:r>
              <a:rPr lang="en-US" altLang="zh-CN"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FEM</a:t>
            </a:r>
            <a:r>
              <a:rPr lang="zh-CN" altLang="en-US" sz="8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）构建振动数据基础，生成复杂工况下的信号以增强数据集的多样性和真实度。国内的研究方向逐步向生成信号多样性和模型融合方向发展，以提升故障诊断的鲁棒性和适应性。</a:t>
            </a:r>
            <a:endParaRPr lang="en-US" altLang="zh-CN" sz="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ïṣlïḋe">
            <a:extLst>
              <a:ext uri="{FF2B5EF4-FFF2-40B4-BE49-F238E27FC236}">
                <a16:creationId xmlns:a16="http://schemas.microsoft.com/office/drawing/2014/main" id="{0DD60B27-E422-C4D4-B54D-32DD0D5E4767}"/>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4</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39244283"/>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8AF8C-2C9A-F910-7470-661C6D64F3C0}"/>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3E44AB0C-31DE-0000-74D6-287D0BCF44ED}"/>
              </a:ext>
            </a:extLst>
          </p:cNvPr>
          <p:cNvSpPr/>
          <p:nvPr/>
        </p:nvSpPr>
        <p:spPr>
          <a:xfrm>
            <a:off x="185410" y="110405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9" name="文本框 8">
            <a:extLst>
              <a:ext uri="{FF2B5EF4-FFF2-40B4-BE49-F238E27FC236}">
                <a16:creationId xmlns:a16="http://schemas.microsoft.com/office/drawing/2014/main" id="{D2002C47-97F5-27DD-B630-3AB7C9EE9985}"/>
              </a:ext>
            </a:extLst>
          </p:cNvPr>
          <p:cNvSpPr txBox="1"/>
          <p:nvPr/>
        </p:nvSpPr>
        <p:spPr>
          <a:xfrm>
            <a:off x="971600" y="29586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国内外研究现状</a:t>
            </a:r>
          </a:p>
        </p:txBody>
      </p:sp>
      <p:sp>
        <p:nvSpPr>
          <p:cNvPr id="2" name="任意多边形: 形状 1">
            <a:extLst>
              <a:ext uri="{FF2B5EF4-FFF2-40B4-BE49-F238E27FC236}">
                <a16:creationId xmlns:a16="http://schemas.microsoft.com/office/drawing/2014/main" id="{5F81EE63-BD0D-F281-43ED-06099679C728}"/>
              </a:ext>
            </a:extLst>
          </p:cNvPr>
          <p:cNvSpPr/>
          <p:nvPr/>
        </p:nvSpPr>
        <p:spPr>
          <a:xfrm>
            <a:off x="185410" y="753290"/>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文本框 10">
            <a:extLst>
              <a:ext uri="{FF2B5EF4-FFF2-40B4-BE49-F238E27FC236}">
                <a16:creationId xmlns:a16="http://schemas.microsoft.com/office/drawing/2014/main" id="{DCD17DDA-23EB-EF6F-DE80-099D78AB5A69}"/>
              </a:ext>
            </a:extLst>
          </p:cNvPr>
          <p:cNvSpPr txBox="1"/>
          <p:nvPr/>
        </p:nvSpPr>
        <p:spPr>
          <a:xfrm>
            <a:off x="219996" y="160395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增加机械磨损：轻微的振动可能会导致齿轮箱内部部件的微小磨损。虽然这不会立即导致故障，但长期积累的磨损会降低齿轮箱的效率和使用寿命。例如，微小的齿面接触不良可能逐渐增加摩擦，导致齿轮磨损。</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270198B9-8C0F-963E-DCE5-BEE6AD029F10}"/>
              </a:ext>
            </a:extLst>
          </p:cNvPr>
          <p:cNvSpPr txBox="1"/>
          <p:nvPr/>
        </p:nvSpPr>
        <p:spPr>
          <a:xfrm>
            <a:off x="219996" y="110087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低危害</a:t>
            </a:r>
            <a:endParaRPr lang="en-US" altLang="zh-CN" sz="1600"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5" name="图片 14">
            <a:extLst>
              <a:ext uri="{FF2B5EF4-FFF2-40B4-BE49-F238E27FC236}">
                <a16:creationId xmlns:a16="http://schemas.microsoft.com/office/drawing/2014/main" id="{C8FB7CDD-5E9C-C73C-8574-C9BC832A3A1A}"/>
              </a:ext>
            </a:extLst>
          </p:cNvPr>
          <p:cNvPicPr>
            <a:picLocks noChangeAspect="1"/>
          </p:cNvPicPr>
          <p:nvPr/>
        </p:nvPicPr>
        <p:blipFill>
          <a:blip r:embed="rId3"/>
          <a:stretch>
            <a:fillRect/>
          </a:stretch>
        </p:blipFill>
        <p:spPr>
          <a:xfrm>
            <a:off x="657800" y="3436643"/>
            <a:ext cx="1422270" cy="1055096"/>
          </a:xfrm>
          <a:prstGeom prst="rect">
            <a:avLst/>
          </a:prstGeom>
        </p:spPr>
      </p:pic>
      <p:sp>
        <p:nvSpPr>
          <p:cNvPr id="16" name="矩形 15">
            <a:extLst>
              <a:ext uri="{FF2B5EF4-FFF2-40B4-BE49-F238E27FC236}">
                <a16:creationId xmlns:a16="http://schemas.microsoft.com/office/drawing/2014/main" id="{A7F232A4-C68B-0A08-8A2E-02956A2CF223}"/>
              </a:ext>
            </a:extLst>
          </p:cNvPr>
          <p:cNvSpPr/>
          <p:nvPr/>
        </p:nvSpPr>
        <p:spPr>
          <a:xfrm>
            <a:off x="3362563" y="110405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7" name="文本框 16">
            <a:extLst>
              <a:ext uri="{FF2B5EF4-FFF2-40B4-BE49-F238E27FC236}">
                <a16:creationId xmlns:a16="http://schemas.microsoft.com/office/drawing/2014/main" id="{C43514F9-8B46-F359-059F-B35D1E6FC5AE}"/>
              </a:ext>
            </a:extLst>
          </p:cNvPr>
          <p:cNvSpPr txBox="1"/>
          <p:nvPr/>
        </p:nvSpPr>
        <p:spPr>
          <a:xfrm>
            <a:off x="3420966" y="160395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引发噪音和震动：中等程度的振动会导致齿轮箱产生较大的噪音，影响设备的工作环境。例如，振动引起的机械共振可能导致工作场所噪音增大，甚至影响工作人员的健康。长期暴露在噪音过大的环境中会导致疲劳和听力损伤。</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4A4B6066-0120-953A-1D09-3D95C97B4A98}"/>
              </a:ext>
            </a:extLst>
          </p:cNvPr>
          <p:cNvSpPr txBox="1"/>
          <p:nvPr/>
        </p:nvSpPr>
        <p:spPr>
          <a:xfrm>
            <a:off x="3420966" y="110087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中危害</a:t>
            </a:r>
            <a:endParaRPr lang="en-US" altLang="zh-CN" sz="1600"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id="{EF97F35E-4E5C-7C92-4642-F5F9F8F25F52}"/>
              </a:ext>
            </a:extLst>
          </p:cNvPr>
          <p:cNvSpPr/>
          <p:nvPr/>
        </p:nvSpPr>
        <p:spPr>
          <a:xfrm>
            <a:off x="6621936" y="1100873"/>
            <a:ext cx="2371240" cy="34103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21" name="文本框 20">
            <a:extLst>
              <a:ext uri="{FF2B5EF4-FFF2-40B4-BE49-F238E27FC236}">
                <a16:creationId xmlns:a16="http://schemas.microsoft.com/office/drawing/2014/main" id="{F4CE4BF0-3F3F-AACD-8065-55206454DCCC}"/>
              </a:ext>
            </a:extLst>
          </p:cNvPr>
          <p:cNvSpPr txBox="1"/>
          <p:nvPr/>
        </p:nvSpPr>
        <p:spPr>
          <a:xfrm>
            <a:off x="6656522" y="1600770"/>
            <a:ext cx="2302068" cy="707886"/>
          </a:xfrm>
          <a:prstGeom prst="rect">
            <a:avLst/>
          </a:prstGeom>
          <a:noFill/>
          <a:ln w="12700">
            <a:solidFill>
              <a:schemeClr val="tx1"/>
            </a:solidFill>
            <a:prstDash val="sysDash"/>
          </a:ln>
        </p:spPr>
        <p:txBody>
          <a:bodyPr wrap="square" rtlCol="0">
            <a:spAutoFit/>
          </a:bodyPr>
          <a:lstStyle/>
          <a:p>
            <a:pPr algn="l"/>
            <a:r>
              <a:rPr lang="zh-CN" altLang="en-US" sz="800" b="1" dirty="0">
                <a:latin typeface="Times New Roman" panose="02020603050405020304" pitchFamily="18" charset="0"/>
                <a:ea typeface="微软雅黑" panose="020B0503020204020204" pitchFamily="34" charset="-122"/>
                <a:cs typeface="Times New Roman" panose="02020603050405020304" pitchFamily="18" charset="0"/>
              </a:rPr>
              <a:t>发生故障与停机：例如，失效的齿轮或轴承可能引发旋转部件飞出，造成操作人员受伤或设备损坏。此外，在严重情况下，设备的停机可能引发更大范围的生产线瘫痪，延误交货期，影响企业声誉和客户满意度。</a:t>
            </a:r>
            <a:endParaRPr lang="en-US" altLang="zh-CN" sz="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2E1F3B79-FCB2-A73A-9933-0F654F355AC2}"/>
              </a:ext>
            </a:extLst>
          </p:cNvPr>
          <p:cNvSpPr txBox="1"/>
          <p:nvPr/>
        </p:nvSpPr>
        <p:spPr>
          <a:xfrm>
            <a:off x="6656522" y="1097693"/>
            <a:ext cx="2302068" cy="338554"/>
          </a:xfrm>
          <a:prstGeom prst="rect">
            <a:avLst/>
          </a:prstGeom>
          <a:noFill/>
          <a:ln w="12700">
            <a:solidFill>
              <a:schemeClr val="tx1"/>
            </a:solidFill>
            <a:prstDash val="sysDash"/>
          </a:ln>
        </p:spPr>
        <p:txBody>
          <a:bodyPr wrap="square" rtlCol="0">
            <a:spAutoFit/>
          </a:bodyPr>
          <a:lstStyle/>
          <a:p>
            <a:pPr algn="ct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高危害</a:t>
            </a:r>
            <a:endPar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5" name="图片 24">
            <a:extLst>
              <a:ext uri="{FF2B5EF4-FFF2-40B4-BE49-F238E27FC236}">
                <a16:creationId xmlns:a16="http://schemas.microsoft.com/office/drawing/2014/main" id="{AD4E8889-7273-843B-6514-A4DEBCA2C60A}"/>
              </a:ext>
            </a:extLst>
          </p:cNvPr>
          <p:cNvPicPr>
            <a:picLocks noChangeAspect="1"/>
          </p:cNvPicPr>
          <p:nvPr/>
        </p:nvPicPr>
        <p:blipFill>
          <a:blip r:embed="rId4"/>
          <a:stretch>
            <a:fillRect/>
          </a:stretch>
        </p:blipFill>
        <p:spPr>
          <a:xfrm>
            <a:off x="6903340" y="2767061"/>
            <a:ext cx="1808431" cy="1285751"/>
          </a:xfrm>
          <a:prstGeom prst="rect">
            <a:avLst/>
          </a:prstGeom>
        </p:spPr>
      </p:pic>
      <p:pic>
        <p:nvPicPr>
          <p:cNvPr id="27" name="图片 26">
            <a:extLst>
              <a:ext uri="{FF2B5EF4-FFF2-40B4-BE49-F238E27FC236}">
                <a16:creationId xmlns:a16="http://schemas.microsoft.com/office/drawing/2014/main" id="{07D1B7D9-0385-564E-E4D5-98626B187190}"/>
              </a:ext>
            </a:extLst>
          </p:cNvPr>
          <p:cNvPicPr>
            <a:picLocks noChangeAspect="1"/>
          </p:cNvPicPr>
          <p:nvPr/>
        </p:nvPicPr>
        <p:blipFill>
          <a:blip r:embed="rId5"/>
          <a:stretch>
            <a:fillRect/>
          </a:stretch>
        </p:blipFill>
        <p:spPr>
          <a:xfrm>
            <a:off x="854827" y="2353790"/>
            <a:ext cx="1028217" cy="1060195"/>
          </a:xfrm>
          <a:prstGeom prst="rect">
            <a:avLst/>
          </a:prstGeom>
        </p:spPr>
      </p:pic>
      <p:pic>
        <p:nvPicPr>
          <p:cNvPr id="29" name="图片 28">
            <a:extLst>
              <a:ext uri="{FF2B5EF4-FFF2-40B4-BE49-F238E27FC236}">
                <a16:creationId xmlns:a16="http://schemas.microsoft.com/office/drawing/2014/main" id="{A6B469D1-03D8-6A6D-CCD6-F02C29D0D1B1}"/>
              </a:ext>
            </a:extLst>
          </p:cNvPr>
          <p:cNvPicPr>
            <a:picLocks noChangeAspect="1"/>
          </p:cNvPicPr>
          <p:nvPr/>
        </p:nvPicPr>
        <p:blipFill>
          <a:blip r:embed="rId6"/>
          <a:stretch>
            <a:fillRect/>
          </a:stretch>
        </p:blipFill>
        <p:spPr>
          <a:xfrm>
            <a:off x="3928826" y="2571750"/>
            <a:ext cx="1286348" cy="1819114"/>
          </a:xfrm>
          <a:prstGeom prst="rect">
            <a:avLst/>
          </a:prstGeom>
        </p:spPr>
      </p:pic>
      <p:sp>
        <p:nvSpPr>
          <p:cNvPr id="30" name="ïṣlïḋe">
            <a:extLst>
              <a:ext uri="{FF2B5EF4-FFF2-40B4-BE49-F238E27FC236}">
                <a16:creationId xmlns:a16="http://schemas.microsoft.com/office/drawing/2014/main" id="{33D73D95-4D25-F73E-BA76-BA24F12D6B41}"/>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537981462"/>
      </p:ext>
    </p:extLst>
  </p:cSld>
  <p:clrMapOvr>
    <a:masterClrMapping/>
  </p:clrMapOvr>
  <p:transition advTm="29843">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267744"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03</a:t>
            </a:r>
          </a:p>
        </p:txBody>
      </p:sp>
      <p:sp>
        <p:nvSpPr>
          <p:cNvPr id="13" name="ïṣlïḋe"/>
          <p:cNvSpPr txBox="1"/>
          <p:nvPr/>
        </p:nvSpPr>
        <p:spPr>
          <a:xfrm>
            <a:off x="2699792"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主要研究内容及方法</a:t>
            </a:r>
          </a:p>
        </p:txBody>
      </p:sp>
    </p:spTree>
  </p:cSld>
  <p:clrMapOvr>
    <a:masterClrMapping/>
  </p:clrMapOvr>
  <p:transition advTm="7062">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9592" y="19522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主要研究内容及方法</a:t>
            </a:r>
          </a:p>
        </p:txBody>
      </p:sp>
      <p:sp>
        <p:nvSpPr>
          <p:cNvPr id="4" name="矩形 3"/>
          <p:cNvSpPr/>
          <p:nvPr/>
        </p:nvSpPr>
        <p:spPr>
          <a:xfrm>
            <a:off x="453224" y="852835"/>
            <a:ext cx="7589479" cy="1266934"/>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、单轨列车齿轮箱</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计划</a:t>
            </a:r>
            <a:endPar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5</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任意多边形: 形状 4">
            <a:extLst>
              <a:ext uri="{FF2B5EF4-FFF2-40B4-BE49-F238E27FC236}">
                <a16:creationId xmlns:a16="http://schemas.microsoft.com/office/drawing/2014/main" id="{3B68E7BD-9B02-29A4-5F0C-3338E33E9556}"/>
              </a:ext>
            </a:extLst>
          </p:cNvPr>
          <p:cNvSpPr/>
          <p:nvPr/>
        </p:nvSpPr>
        <p:spPr>
          <a:xfrm>
            <a:off x="6982801" y="365505"/>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a:extLst>
              <a:ext uri="{FF2B5EF4-FFF2-40B4-BE49-F238E27FC236}">
                <a16:creationId xmlns:a16="http://schemas.microsoft.com/office/drawing/2014/main" id="{AF4F13DB-28E2-92AE-5E55-E31CF06F9480}"/>
              </a:ext>
            </a:extLst>
          </p:cNvPr>
          <p:cNvPicPr>
            <a:picLocks noChangeAspect="1"/>
          </p:cNvPicPr>
          <p:nvPr/>
        </p:nvPicPr>
        <p:blipFill>
          <a:blip r:embed="rId3"/>
          <a:stretch>
            <a:fillRect/>
          </a:stretch>
        </p:blipFill>
        <p:spPr>
          <a:xfrm>
            <a:off x="453224" y="2296888"/>
            <a:ext cx="7589479" cy="2099128"/>
          </a:xfrm>
          <a:prstGeom prst="rect">
            <a:avLst/>
          </a:prstGeom>
        </p:spPr>
      </p:pic>
    </p:spTree>
  </p:cSld>
  <p:clrMapOvr>
    <a:masterClrMapping/>
  </p:clrMapOvr>
  <p:transition advTm="29843">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5527A-80B7-048B-20CC-CBC66E2D19A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5B7118E-2332-8EC9-7E21-408570620BBD}"/>
              </a:ext>
            </a:extLst>
          </p:cNvPr>
          <p:cNvSpPr txBox="1"/>
          <p:nvPr/>
        </p:nvSpPr>
        <p:spPr>
          <a:xfrm>
            <a:off x="899592" y="19522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主要研究内容及方法</a:t>
            </a:r>
          </a:p>
        </p:txBody>
      </p:sp>
      <p:sp>
        <p:nvSpPr>
          <p:cNvPr id="4" name="矩形 3">
            <a:extLst>
              <a:ext uri="{FF2B5EF4-FFF2-40B4-BE49-F238E27FC236}">
                <a16:creationId xmlns:a16="http://schemas.microsoft.com/office/drawing/2014/main" id="{6F11D7CD-A98F-C35A-E7F5-04B434E8178D}"/>
              </a:ext>
            </a:extLst>
          </p:cNvPr>
          <p:cNvSpPr/>
          <p:nvPr/>
        </p:nvSpPr>
        <p:spPr>
          <a:xfrm>
            <a:off x="584064" y="933800"/>
            <a:ext cx="7589479" cy="1266934"/>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、扩散生成模型（</a:t>
            </a: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DDPM</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）的结构设计方法研究</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计划通过在</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U-Net</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的编码器和解码器中引入动力学特征（如模态频率、特征频率等），采用条件融合和自适应归一化（</a:t>
            </a: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AdaIN</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）两种方式调整特征提取过程，使得模型能够根据不同的工况和故障状态生成具有真实动力学特性的振动信号。</a:t>
            </a:r>
            <a:endPar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ïṣlïḋe">
            <a:extLst>
              <a:ext uri="{FF2B5EF4-FFF2-40B4-BE49-F238E27FC236}">
                <a16:creationId xmlns:a16="http://schemas.microsoft.com/office/drawing/2014/main" id="{32882857-1347-5AFC-8285-8BCAE1C53441}"/>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6</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任意多边形: 形状 4">
            <a:extLst>
              <a:ext uri="{FF2B5EF4-FFF2-40B4-BE49-F238E27FC236}">
                <a16:creationId xmlns:a16="http://schemas.microsoft.com/office/drawing/2014/main" id="{2F7F677B-E519-008C-FD88-99F1D1C36B5B}"/>
              </a:ext>
            </a:extLst>
          </p:cNvPr>
          <p:cNvSpPr/>
          <p:nvPr/>
        </p:nvSpPr>
        <p:spPr>
          <a:xfrm>
            <a:off x="6982801" y="377990"/>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a:extLst>
              <a:ext uri="{FF2B5EF4-FFF2-40B4-BE49-F238E27FC236}">
                <a16:creationId xmlns:a16="http://schemas.microsoft.com/office/drawing/2014/main" id="{99525399-5A46-B76B-7BF1-79D3AFE599A9}"/>
              </a:ext>
            </a:extLst>
          </p:cNvPr>
          <p:cNvPicPr>
            <a:picLocks noChangeAspect="1"/>
          </p:cNvPicPr>
          <p:nvPr/>
        </p:nvPicPr>
        <p:blipFill>
          <a:blip r:embed="rId3"/>
          <a:stretch>
            <a:fillRect/>
          </a:stretch>
        </p:blipFill>
        <p:spPr>
          <a:xfrm>
            <a:off x="557587" y="2200734"/>
            <a:ext cx="7642431" cy="2258472"/>
          </a:xfrm>
          <a:prstGeom prst="rect">
            <a:avLst/>
          </a:prstGeom>
        </p:spPr>
      </p:pic>
    </p:spTree>
    <p:extLst>
      <p:ext uri="{BB962C8B-B14F-4D97-AF65-F5344CB8AC3E}">
        <p14:creationId xmlns:p14="http://schemas.microsoft.com/office/powerpoint/2010/main" val="1185082934"/>
      </p:ext>
    </p:extLst>
  </p:cSld>
  <p:clrMapOvr>
    <a:masterClrMapping/>
  </p:clrMapOvr>
  <p:transition advTm="29843">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C8029-A963-2A01-4B6E-711CF2495C4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BD743EF-32D7-4B95-A4AC-5370AE2A33D9}"/>
              </a:ext>
            </a:extLst>
          </p:cNvPr>
          <p:cNvSpPr txBox="1"/>
          <p:nvPr/>
        </p:nvSpPr>
        <p:spPr>
          <a:xfrm>
            <a:off x="899592" y="195229"/>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主要研究内容及方法</a:t>
            </a:r>
          </a:p>
        </p:txBody>
      </p:sp>
      <p:sp>
        <p:nvSpPr>
          <p:cNvPr id="4" name="矩形 3">
            <a:extLst>
              <a:ext uri="{FF2B5EF4-FFF2-40B4-BE49-F238E27FC236}">
                <a16:creationId xmlns:a16="http://schemas.microsoft.com/office/drawing/2014/main" id="{8C77547B-3640-E98C-5904-5C44FFA3AC4E}"/>
              </a:ext>
            </a:extLst>
          </p:cNvPr>
          <p:cNvSpPr/>
          <p:nvPr/>
        </p:nvSpPr>
        <p:spPr>
          <a:xfrm>
            <a:off x="777260" y="937338"/>
            <a:ext cx="7589479" cy="1120370"/>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、扩散生成模型（</a:t>
            </a: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DDPM</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）的结构设计方法研究</a:t>
            </a:r>
          </a:p>
          <a:p>
            <a:pPr indent="304800" algn="just">
              <a:lnSpc>
                <a:spcPts val="2200"/>
              </a:lnSpc>
              <a:spcBef>
                <a:spcPts val="600"/>
              </a:spcBef>
              <a:spcAft>
                <a:spcPts val="600"/>
              </a:spcAft>
            </a:pPr>
            <a:endParaRPr lang="zh-CN"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ïṣlïḋe">
            <a:extLst>
              <a:ext uri="{FF2B5EF4-FFF2-40B4-BE49-F238E27FC236}">
                <a16:creationId xmlns:a16="http://schemas.microsoft.com/office/drawing/2014/main" id="{514E445C-F69A-3AAA-A0B3-4F3ADC179C46}"/>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7</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5" name="任意多边形: 形状 4">
            <a:extLst>
              <a:ext uri="{FF2B5EF4-FFF2-40B4-BE49-F238E27FC236}">
                <a16:creationId xmlns:a16="http://schemas.microsoft.com/office/drawing/2014/main" id="{73B9B712-8478-8C01-7FD9-DCE7868B2F08}"/>
              </a:ext>
            </a:extLst>
          </p:cNvPr>
          <p:cNvSpPr/>
          <p:nvPr/>
        </p:nvSpPr>
        <p:spPr>
          <a:xfrm>
            <a:off x="6994765" y="419957"/>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图片 5">
            <a:extLst>
              <a:ext uri="{FF2B5EF4-FFF2-40B4-BE49-F238E27FC236}">
                <a16:creationId xmlns:a16="http://schemas.microsoft.com/office/drawing/2014/main" id="{FA53ABC7-8181-E44C-6E68-34729795C473}"/>
              </a:ext>
            </a:extLst>
          </p:cNvPr>
          <p:cNvPicPr>
            <a:picLocks noChangeAspect="1"/>
          </p:cNvPicPr>
          <p:nvPr/>
        </p:nvPicPr>
        <p:blipFill>
          <a:blip r:embed="rId3"/>
          <a:stretch>
            <a:fillRect/>
          </a:stretch>
        </p:blipFill>
        <p:spPr>
          <a:xfrm>
            <a:off x="743658" y="2332267"/>
            <a:ext cx="7656683" cy="1873895"/>
          </a:xfrm>
          <a:prstGeom prst="rect">
            <a:avLst/>
          </a:prstGeom>
        </p:spPr>
      </p:pic>
    </p:spTree>
    <p:extLst>
      <p:ext uri="{BB962C8B-B14F-4D97-AF65-F5344CB8AC3E}">
        <p14:creationId xmlns:p14="http://schemas.microsoft.com/office/powerpoint/2010/main" val="1799021986"/>
      </p:ext>
    </p:extLst>
  </p:cSld>
  <p:clrMapOvr>
    <a:masterClrMapping/>
  </p:clrMapOvr>
  <p:transition advTm="29843">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843808"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04</a:t>
            </a:r>
          </a:p>
        </p:txBody>
      </p:sp>
      <p:sp>
        <p:nvSpPr>
          <p:cNvPr id="13" name="ïṣlïḋe"/>
          <p:cNvSpPr txBox="1"/>
          <p:nvPr/>
        </p:nvSpPr>
        <p:spPr>
          <a:xfrm>
            <a:off x="3275856"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难点及解决办法</a:t>
            </a:r>
          </a:p>
        </p:txBody>
      </p:sp>
    </p:spTree>
  </p:cSld>
  <p:clrMapOvr>
    <a:masterClrMapping/>
  </p:clrMapOvr>
  <p:transition advTm="7062">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9592" y="195486"/>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研究难点</a:t>
            </a:r>
          </a:p>
        </p:txBody>
      </p:sp>
      <p:sp>
        <p:nvSpPr>
          <p:cNvPr id="4" name="矩形 3"/>
          <p:cNvSpPr/>
          <p:nvPr/>
        </p:nvSpPr>
        <p:spPr>
          <a:xfrm>
            <a:off x="630445" y="974759"/>
            <a:ext cx="6336704" cy="710803"/>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）如何解析齿轮箱复杂的非线性耦合机理，构建准确描述“故障本质”与“工况环境”映射关系的 结构因果模型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(SCM)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a:extLst>
                  <a:ext uri="{FF2B5EF4-FFF2-40B4-BE49-F238E27FC236}">
                    <a16:creationId xmlns:a16="http://schemas.microsoft.com/office/drawing/2014/main" id="{035172E0-71D0-F160-F9BA-901DCF5828E3}"/>
                  </a:ext>
                </a:extLst>
              </p:cNvPr>
              <p:cNvSpPr/>
              <p:nvPr/>
            </p:nvSpPr>
            <p:spPr>
              <a:xfrm>
                <a:off x="621565" y="2216348"/>
                <a:ext cx="6336704" cy="710803"/>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）在强背景噪声和多源工况干扰下，如何设计深度网络与损失函数，实现 故障因果因子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t>Z</m:t>
                        </m:r>
                      </m:e>
                      <m:sub>
                        <m:r>
                          <m:rPr>
                            <m:sty m:val="p"/>
                          </m:r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t>C</m:t>
                        </m:r>
                      </m:sub>
                    </m:sSub>
                  </m:oMath>
                </a14:m>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与 工况非因果因子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t>Z</m:t>
                        </m:r>
                      </m:e>
                      <m:sub>
                        <m:r>
                          <m:rPr>
                            <m:sty m:val="p"/>
                          </m:rPr>
                          <a:rPr lang="en-US" altLang="zh-CN" sz="1400" b="1" i="1" smtClean="0">
                            <a:solidFill>
                              <a:schemeClr val="tx2"/>
                            </a:solidFill>
                            <a:latin typeface="Cambria Math" panose="02040503050406030204" pitchFamily="18" charset="0"/>
                            <a:ea typeface="微软雅黑" panose="020B0503020204020204" pitchFamily="34" charset="-122"/>
                            <a:cs typeface="Times New Roman" panose="02020603050405020304" pitchFamily="18" charset="0"/>
                          </a:rPr>
                          <m:t>d</m:t>
                        </m:r>
                      </m:sub>
                    </m:sSub>
                  </m:oMath>
                </a14:m>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的 正交解耦与精确分离</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3" name="矩形 2">
                <a:extLst>
                  <a:ext uri="{FF2B5EF4-FFF2-40B4-BE49-F238E27FC236}">
                    <a16:creationId xmlns:a16="http://schemas.microsoft.com/office/drawing/2014/main" id="{035172E0-71D0-F160-F9BA-901DCF5828E3}"/>
                  </a:ext>
                </a:extLst>
              </p:cNvPr>
              <p:cNvSpPr>
                <a:spLocks noRot="1" noChangeAspect="1" noMove="1" noResize="1" noEditPoints="1" noAdjustHandles="1" noChangeArrowheads="1" noChangeShapeType="1" noTextEdit="1"/>
              </p:cNvSpPr>
              <p:nvPr/>
            </p:nvSpPr>
            <p:spPr>
              <a:xfrm>
                <a:off x="621565" y="2216348"/>
                <a:ext cx="6336704" cy="710803"/>
              </a:xfrm>
              <a:prstGeom prst="rect">
                <a:avLst/>
              </a:prstGeom>
              <a:blipFill>
                <a:blip r:embed="rId3"/>
                <a:stretch>
                  <a:fillRect l="-192" r="-192"/>
                </a:stretch>
              </a:blipFill>
              <a:ln w="12700">
                <a:solidFill>
                  <a:schemeClr val="tx1"/>
                </a:solidFill>
                <a:prstDash val="sysDash"/>
              </a:ln>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10699E71-EC92-716E-5F82-B67D92E6F78A}"/>
              </a:ext>
            </a:extLst>
          </p:cNvPr>
          <p:cNvSpPr/>
          <p:nvPr/>
        </p:nvSpPr>
        <p:spPr>
          <a:xfrm>
            <a:off x="621565" y="3579862"/>
            <a:ext cx="6336704" cy="710803"/>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）目标域数据完全不可见的条件下，如何度量特征的跨域不变性，确立面向未知工况的 鲁棒泛化</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任意多边形: 形状 5">
            <a:extLst>
              <a:ext uri="{FF2B5EF4-FFF2-40B4-BE49-F238E27FC236}">
                <a16:creationId xmlns:a16="http://schemas.microsoft.com/office/drawing/2014/main" id="{3BDCE35C-598F-75D8-22FC-6F339097BB8D}"/>
              </a:ext>
            </a:extLst>
          </p:cNvPr>
          <p:cNvSpPr/>
          <p:nvPr/>
        </p:nvSpPr>
        <p:spPr>
          <a:xfrm>
            <a:off x="6180959" y="623996"/>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任意多边形: 形状 7">
            <a:extLst>
              <a:ext uri="{FF2B5EF4-FFF2-40B4-BE49-F238E27FC236}">
                <a16:creationId xmlns:a16="http://schemas.microsoft.com/office/drawing/2014/main" id="{590B4BE9-5312-4ECC-73DF-C788D190CF07}"/>
              </a:ext>
            </a:extLst>
          </p:cNvPr>
          <p:cNvSpPr/>
          <p:nvPr/>
        </p:nvSpPr>
        <p:spPr>
          <a:xfrm>
            <a:off x="6180959" y="1865585"/>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3296689B-6754-DCB9-6A5F-6FB0ABF82579}"/>
              </a:ext>
            </a:extLst>
          </p:cNvPr>
          <p:cNvSpPr/>
          <p:nvPr/>
        </p:nvSpPr>
        <p:spPr>
          <a:xfrm>
            <a:off x="6180959" y="3229098"/>
            <a:ext cx="786190" cy="350763"/>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ïṣlïḋe">
            <a:extLst>
              <a:ext uri="{FF2B5EF4-FFF2-40B4-BE49-F238E27FC236}">
                <a16:creationId xmlns:a16="http://schemas.microsoft.com/office/drawing/2014/main" id="{B6B2FF43-8BE0-1000-5EAB-08936A14DF41}"/>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9</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graphicFrame>
        <p:nvGraphicFramePr>
          <p:cNvPr id="5" name="对象 4">
            <a:extLst>
              <a:ext uri="{FF2B5EF4-FFF2-40B4-BE49-F238E27FC236}">
                <a16:creationId xmlns:a16="http://schemas.microsoft.com/office/drawing/2014/main" id="{2351DB2F-B46F-8650-5776-67AF84EDDB11}"/>
              </a:ext>
            </a:extLst>
          </p:cNvPr>
          <p:cNvGraphicFramePr>
            <a:graphicFrameLocks noChangeAspect="1"/>
          </p:cNvGraphicFramePr>
          <p:nvPr>
            <p:extLst>
              <p:ext uri="{D42A27DB-BD31-4B8C-83A1-F6EECF244321}">
                <p14:modId xmlns:p14="http://schemas.microsoft.com/office/powerpoint/2010/main" val="2492463353"/>
              </p:ext>
            </p:extLst>
          </p:nvPr>
        </p:nvGraphicFramePr>
        <p:xfrm>
          <a:off x="8534400" y="4456113"/>
          <a:ext cx="203200" cy="228600"/>
        </p:xfrm>
        <a:graphic>
          <a:graphicData uri="http://schemas.openxmlformats.org/presentationml/2006/ole">
            <mc:AlternateContent xmlns:mc="http://schemas.openxmlformats.org/markup-compatibility/2006">
              <mc:Choice xmlns:v="urn:schemas-microsoft-com:vml" Requires="v">
                <p:oleObj name="Equation" r:id="rId4" imgW="203040" imgH="228600" progId="Equation.DSMT4">
                  <p:embed/>
                </p:oleObj>
              </mc:Choice>
              <mc:Fallback>
                <p:oleObj name="Equation" r:id="rId4" imgW="203040" imgH="228600" progId="Equation.DSMT4">
                  <p:embed/>
                  <p:pic>
                    <p:nvPicPr>
                      <p:cNvPr id="0" name=""/>
                      <p:cNvPicPr/>
                      <p:nvPr/>
                    </p:nvPicPr>
                    <p:blipFill>
                      <a:blip r:embed="rId5"/>
                      <a:stretch>
                        <a:fillRect/>
                      </a:stretch>
                    </p:blipFill>
                    <p:spPr>
                      <a:xfrm>
                        <a:off x="8534400" y="4456113"/>
                        <a:ext cx="203200" cy="22860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C203D2B4-AB7E-C7AF-7C11-8B723AA93586}"/>
              </a:ext>
            </a:extLst>
          </p:cNvPr>
          <p:cNvGraphicFramePr>
            <a:graphicFrameLocks noChangeAspect="1"/>
          </p:cNvGraphicFramePr>
          <p:nvPr>
            <p:extLst>
              <p:ext uri="{D42A27DB-BD31-4B8C-83A1-F6EECF244321}">
                <p14:modId xmlns:p14="http://schemas.microsoft.com/office/powerpoint/2010/main" val="2007011163"/>
              </p:ext>
            </p:extLst>
          </p:nvPr>
        </p:nvGraphicFramePr>
        <p:xfrm>
          <a:off x="8534400" y="4456113"/>
          <a:ext cx="203200" cy="228600"/>
        </p:xfrm>
        <a:graphic>
          <a:graphicData uri="http://schemas.openxmlformats.org/presentationml/2006/ole">
            <mc:AlternateContent xmlns:mc="http://schemas.openxmlformats.org/markup-compatibility/2006">
              <mc:Choice xmlns:v="urn:schemas-microsoft-com:vml" Requires="v">
                <p:oleObj name="Equation" r:id="rId6" imgW="203040" imgH="228600" progId="Equation.DSMT4">
                  <p:embed/>
                </p:oleObj>
              </mc:Choice>
              <mc:Fallback>
                <p:oleObj name="Equation" r:id="rId6" imgW="203040" imgH="228600" progId="Equation.DSMT4">
                  <p:embed/>
                  <p:pic>
                    <p:nvPicPr>
                      <p:cNvPr id="0" name=""/>
                      <p:cNvPicPr/>
                      <p:nvPr/>
                    </p:nvPicPr>
                    <p:blipFill>
                      <a:blip r:embed="rId7"/>
                      <a:stretch>
                        <a:fillRect/>
                      </a:stretch>
                    </p:blipFill>
                    <p:spPr>
                      <a:xfrm>
                        <a:off x="8534400" y="4456113"/>
                        <a:ext cx="203200" cy="228600"/>
                      </a:xfrm>
                      <a:prstGeom prst="rect">
                        <a:avLst/>
                      </a:prstGeom>
                    </p:spPr>
                  </p:pic>
                </p:oleObj>
              </mc:Fallback>
            </mc:AlternateContent>
          </a:graphicData>
        </a:graphic>
      </p:graphicFrame>
    </p:spTree>
  </p:cSld>
  <p:clrMapOvr>
    <a:masterClrMapping/>
  </p:clrMapOvr>
  <p:transition advTm="29843">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2A18F-5D29-B6C3-D753-648DCEE5A8B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B30D66D-3CA7-29E2-F605-6E09ACD6B438}"/>
              </a:ext>
            </a:extLst>
          </p:cNvPr>
          <p:cNvSpPr txBox="1"/>
          <p:nvPr/>
        </p:nvSpPr>
        <p:spPr>
          <a:xfrm>
            <a:off x="899592" y="195486"/>
            <a:ext cx="2904472" cy="400110"/>
          </a:xfrm>
          <a:prstGeom prst="rect">
            <a:avLst/>
          </a:prstGeom>
          <a:noFill/>
        </p:spPr>
        <p:txBody>
          <a:bodyPr wrap="square" anchor="ctr">
            <a:spAutoFit/>
          </a:bodyPr>
          <a:lstStyle/>
          <a:p>
            <a:pPr eaLnBrk="1" fontAlgn="auto" hangingPunct="1">
              <a:spcBef>
                <a:spcPts val="0"/>
              </a:spcBef>
              <a:spcAft>
                <a:spcPts val="0"/>
              </a:spcAft>
              <a:defRPr/>
            </a:pPr>
            <a:r>
              <a:rPr lang="zh-CN" altLang="en-US" sz="2000" b="1" dirty="0">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拟采用的解决方法</a:t>
            </a:r>
            <a:endParaRPr lang="zh-CN" altLang="en-US" sz="2000" b="1" dirty="0">
              <a:solidFill>
                <a:schemeClr val="tx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E924F3B4-D91F-FA50-B3C5-2C5943C6ACFF}"/>
              </a:ext>
            </a:extLst>
          </p:cNvPr>
          <p:cNvSpPr/>
          <p:nvPr/>
        </p:nvSpPr>
        <p:spPr>
          <a:xfrm>
            <a:off x="637837" y="546250"/>
            <a:ext cx="6336704" cy="1080120"/>
          </a:xfrm>
          <a:prstGeom prst="rect">
            <a:avLst/>
          </a:prstGeom>
          <a:solidFill>
            <a:schemeClr val="accent1">
              <a:lumMod val="20000"/>
              <a:lumOff val="80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）物理机理与数据驱动融合的因果建模策略</a:t>
            </a:r>
            <a:endParaRPr lang="en-US" altLang="zh-CN" b="1" u="sng" kern="100" dirty="0">
              <a:solidFill>
                <a:schemeClr val="tx2"/>
              </a:solidFill>
              <a:latin typeface="Times New Roman" panose="02020603050405020304" pitchFamily="18" charset="0"/>
              <a:ea typeface="宋体" panose="02010600030101010101" pitchFamily="2" charset="-122"/>
              <a:cs typeface="Times New Roman" panose="02020603050405020304" pitchFamily="18" charset="0"/>
            </a:endParaRPr>
          </a:p>
          <a:p>
            <a:pPr indent="288290" algn="just">
              <a:spcAft>
                <a:spcPts val="800"/>
              </a:spcAft>
            </a:pP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构建描述振动信号生成过程的 结构因果模型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(SCM)</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。通过定义因果图，从理论层面明确 故障因果与 工况非因果因子 的拓扑映射关系，指导后续特征提取。</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BE700B02-7118-F1B9-BAF3-03A6CF145329}"/>
              </a:ext>
            </a:extLst>
          </p:cNvPr>
          <p:cNvSpPr/>
          <p:nvPr/>
        </p:nvSpPr>
        <p:spPr>
          <a:xfrm>
            <a:off x="620160" y="1883035"/>
            <a:ext cx="6336704" cy="1080120"/>
          </a:xfrm>
          <a:prstGeom prst="rect">
            <a:avLst/>
          </a:prstGeom>
          <a:solidFill>
            <a:schemeClr val="accent1">
              <a:lumMod val="20000"/>
              <a:lumOff val="80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）构建多重损失约束的深度因果解耦网络</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indent="288290" algn="just">
              <a:spcAft>
                <a:spcPts val="800"/>
              </a:spcAft>
            </a:pP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设计包含 因果聚合损失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($L_{ca}$)</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、重构损失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($L_{</a:t>
            </a: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rc</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与 冗余削减损失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($L_{</a:t>
            </a:r>
            <a:r>
              <a:rPr lang="en-US" altLang="zh-CN" sz="14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rr</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的复合目标函数。利用深度神经网络强制拉近同类故障样本，推远异类样本，并强制故障特征与工况特征 正交，从而在强噪声下实现特征的精确剥离。</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B4387BE3-4BFB-E725-3B6A-20C613EF6540}"/>
              </a:ext>
            </a:extLst>
          </p:cNvPr>
          <p:cNvSpPr/>
          <p:nvPr/>
        </p:nvSpPr>
        <p:spPr>
          <a:xfrm>
            <a:off x="620160" y="3206835"/>
            <a:ext cx="6336704" cy="1196524"/>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）基于“留一域”策略的鲁棒分类器设计</a:t>
            </a:r>
            <a:endParaRPr lang="en-US" altLang="zh-CN" sz="1400" b="1" u="sng"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a:p>
            <a:pPr indent="288290" algn="just">
              <a:spcAft>
                <a:spcPts val="800"/>
              </a:spcAft>
            </a:pP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构建仅依赖因果不变特征的分类器，从决策层面 物理切断 工况域信息的干扰。采用 “留一域”交叉验证 策略（即用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A/B/C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工况训练，在完全不可见的 </a:t>
            </a:r>
            <a:r>
              <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工况测试），模拟真实场景，验证模型的 零样本泛化能力。</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任意多边形: 形状 7">
            <a:extLst>
              <a:ext uri="{FF2B5EF4-FFF2-40B4-BE49-F238E27FC236}">
                <a16:creationId xmlns:a16="http://schemas.microsoft.com/office/drawing/2014/main" id="{3D8BA953-A9A7-4867-A026-948EEC9C9640}"/>
              </a:ext>
            </a:extLst>
          </p:cNvPr>
          <p:cNvSpPr/>
          <p:nvPr/>
        </p:nvSpPr>
        <p:spPr>
          <a:xfrm>
            <a:off x="6379224" y="1626368"/>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任意多边形: 形状 9">
            <a:extLst>
              <a:ext uri="{FF2B5EF4-FFF2-40B4-BE49-F238E27FC236}">
                <a16:creationId xmlns:a16="http://schemas.microsoft.com/office/drawing/2014/main" id="{EB7229AF-3DEF-0384-CA78-205DDF008A32}"/>
              </a:ext>
            </a:extLst>
          </p:cNvPr>
          <p:cNvSpPr/>
          <p:nvPr/>
        </p:nvSpPr>
        <p:spPr>
          <a:xfrm>
            <a:off x="6379224" y="524159"/>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任意多边形: 形状 10">
            <a:extLst>
              <a:ext uri="{FF2B5EF4-FFF2-40B4-BE49-F238E27FC236}">
                <a16:creationId xmlns:a16="http://schemas.microsoft.com/office/drawing/2014/main" id="{D82B8549-D20D-3A6B-00FF-9D6C46A2B909}"/>
              </a:ext>
            </a:extLst>
          </p:cNvPr>
          <p:cNvSpPr/>
          <p:nvPr/>
        </p:nvSpPr>
        <p:spPr>
          <a:xfrm>
            <a:off x="6379224" y="2963155"/>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ïṣlïḋe">
            <a:extLst>
              <a:ext uri="{FF2B5EF4-FFF2-40B4-BE49-F238E27FC236}">
                <a16:creationId xmlns:a16="http://schemas.microsoft.com/office/drawing/2014/main" id="{569A31C2-B322-588C-ED1F-524AB8D87D6E}"/>
              </a:ext>
            </a:extLst>
          </p:cNvPr>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10</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167866014"/>
      </p:ext>
    </p:extLst>
  </p:cSld>
  <p:clrMapOvr>
    <a:masterClrMapping/>
  </p:clrMapOvr>
  <p:transition advTm="29843">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843808"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05</a:t>
            </a:r>
          </a:p>
        </p:txBody>
      </p:sp>
      <p:sp>
        <p:nvSpPr>
          <p:cNvPr id="13" name="ïṣlïḋe"/>
          <p:cNvSpPr txBox="1"/>
          <p:nvPr/>
        </p:nvSpPr>
        <p:spPr>
          <a:xfrm>
            <a:off x="3275856"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创新点</a:t>
            </a:r>
          </a:p>
        </p:txBody>
      </p:sp>
    </p:spTree>
    <p:extLst>
      <p:ext uri="{BB962C8B-B14F-4D97-AF65-F5344CB8AC3E}">
        <p14:creationId xmlns:p14="http://schemas.microsoft.com/office/powerpoint/2010/main" val="3350923144"/>
      </p:ext>
    </p:extLst>
  </p:cSld>
  <p:clrMapOvr>
    <a:masterClrMapping/>
  </p:clrMapOvr>
  <p:transition advTm="7062">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961" y="267494"/>
            <a:ext cx="2904472" cy="369332"/>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创新点</a:t>
            </a:r>
          </a:p>
        </p:txBody>
      </p:sp>
      <p:pic>
        <p:nvPicPr>
          <p:cNvPr id="7" name="图形 6" descr="打开的书 纯色填充"/>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52320" y="1875098"/>
            <a:ext cx="1393304" cy="1393304"/>
          </a:xfrm>
          <a:prstGeom prst="rect">
            <a:avLst/>
          </a:prstGeom>
        </p:spPr>
      </p:pic>
      <p:sp>
        <p:nvSpPr>
          <p:cNvPr id="8"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11</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 name="矩形 2">
            <a:extLst>
              <a:ext uri="{FF2B5EF4-FFF2-40B4-BE49-F238E27FC236}">
                <a16:creationId xmlns:a16="http://schemas.microsoft.com/office/drawing/2014/main" id="{144F439A-212B-4462-AACA-793D6382FEEB}"/>
              </a:ext>
            </a:extLst>
          </p:cNvPr>
          <p:cNvSpPr/>
          <p:nvPr/>
        </p:nvSpPr>
        <p:spPr>
          <a:xfrm>
            <a:off x="953723" y="1541858"/>
            <a:ext cx="6336704" cy="854819"/>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）基于结构因果模型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(SCM) </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的机理建模策略：通过构建 </a:t>
            </a: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SCM</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，从物理层面精准定义“故障因果因子”与“工况非因果因子”，从根源上消除环境噪声带来的“虚假相关”。</a:t>
            </a:r>
            <a:endPar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DF025B0F-141B-8B6E-F780-ADA450FD4DBA}"/>
              </a:ext>
            </a:extLst>
          </p:cNvPr>
          <p:cNvSpPr/>
          <p:nvPr/>
        </p:nvSpPr>
        <p:spPr>
          <a:xfrm>
            <a:off x="936046" y="2653343"/>
            <a:ext cx="6336704" cy="1080120"/>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88290" algn="just">
              <a:spcAft>
                <a:spcPts val="800"/>
              </a:spcAft>
            </a:pPr>
            <a:r>
              <a:rPr lang="en-US"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面向未知工况的深度因果解耦域泛化架构</a:t>
            </a:r>
            <a:r>
              <a:rPr lang="zh-CN"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针对目标域数据完全不可见的极端场景，提出双编码器解耦网络与因果聚合损失，强制剥离工况干扰，实现对未知复杂工况的零样本直接泛化。</a:t>
            </a:r>
            <a:endParaRPr lang="zh-CN" altLang="zh-CN" sz="1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任意多边形: 形状 3">
            <a:extLst>
              <a:ext uri="{FF2B5EF4-FFF2-40B4-BE49-F238E27FC236}">
                <a16:creationId xmlns:a16="http://schemas.microsoft.com/office/drawing/2014/main" id="{D410E3B3-5D5C-0CBE-74F4-DE20316E9E71}"/>
              </a:ext>
            </a:extLst>
          </p:cNvPr>
          <p:cNvSpPr/>
          <p:nvPr/>
        </p:nvSpPr>
        <p:spPr>
          <a:xfrm>
            <a:off x="6712787" y="1294468"/>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任意多边形: 形状 5">
            <a:extLst>
              <a:ext uri="{FF2B5EF4-FFF2-40B4-BE49-F238E27FC236}">
                <a16:creationId xmlns:a16="http://schemas.microsoft.com/office/drawing/2014/main" id="{D9478E98-61C0-8E13-882B-10EBD7D66B7B}"/>
              </a:ext>
            </a:extLst>
          </p:cNvPr>
          <p:cNvSpPr/>
          <p:nvPr/>
        </p:nvSpPr>
        <p:spPr>
          <a:xfrm>
            <a:off x="6712787" y="2407706"/>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任意多边形: 形状 9">
            <a:extLst>
              <a:ext uri="{FF2B5EF4-FFF2-40B4-BE49-F238E27FC236}">
                <a16:creationId xmlns:a16="http://schemas.microsoft.com/office/drawing/2014/main" id="{2B447623-D2DD-E150-A7B3-8FA3C27DDD4A}"/>
              </a:ext>
            </a:extLst>
          </p:cNvPr>
          <p:cNvSpPr/>
          <p:nvPr/>
        </p:nvSpPr>
        <p:spPr>
          <a:xfrm>
            <a:off x="6712787" y="3742739"/>
            <a:ext cx="577640" cy="247390"/>
          </a:xfrm>
          <a:custGeom>
            <a:avLst/>
            <a:gdLst>
              <a:gd name="T0" fmla="*/ 689 w 726"/>
              <a:gd name="T1" fmla="*/ 210 h 294"/>
              <a:gd name="T2" fmla="*/ 520 w 726"/>
              <a:gd name="T3" fmla="*/ 207 h 294"/>
              <a:gd name="T4" fmla="*/ 348 w 726"/>
              <a:gd name="T5" fmla="*/ 207 h 294"/>
              <a:gd name="T6" fmla="*/ 337 w 726"/>
              <a:gd name="T7" fmla="*/ 58 h 294"/>
              <a:gd name="T8" fmla="*/ 326 w 726"/>
              <a:gd name="T9" fmla="*/ 44 h 294"/>
              <a:gd name="T10" fmla="*/ 400 w 726"/>
              <a:gd name="T11" fmla="*/ 51 h 294"/>
              <a:gd name="T12" fmla="*/ 469 w 726"/>
              <a:gd name="T13" fmla="*/ 114 h 294"/>
              <a:gd name="T14" fmla="*/ 559 w 726"/>
              <a:gd name="T15" fmla="*/ 94 h 294"/>
              <a:gd name="T16" fmla="*/ 24 w 726"/>
              <a:gd name="T17" fmla="*/ 210 h 294"/>
              <a:gd name="T18" fmla="*/ 71 w 726"/>
              <a:gd name="T19" fmla="*/ 44 h 294"/>
              <a:gd name="T20" fmla="*/ 324 w 726"/>
              <a:gd name="T21" fmla="*/ 48 h 294"/>
              <a:gd name="T22" fmla="*/ 335 w 726"/>
              <a:gd name="T23" fmla="*/ 69 h 294"/>
              <a:gd name="T24" fmla="*/ 264 w 726"/>
              <a:gd name="T25" fmla="*/ 206 h 294"/>
              <a:gd name="T26" fmla="*/ 52 w 726"/>
              <a:gd name="T27" fmla="*/ 209 h 294"/>
              <a:gd name="T28" fmla="*/ 256 w 726"/>
              <a:gd name="T29" fmla="*/ 114 h 294"/>
              <a:gd name="T30" fmla="*/ 287 w 726"/>
              <a:gd name="T31" fmla="*/ 137 h 294"/>
              <a:gd name="T32" fmla="*/ 287 w 726"/>
              <a:gd name="T33" fmla="*/ 90 h 294"/>
              <a:gd name="T34" fmla="*/ 256 w 726"/>
              <a:gd name="T35" fmla="*/ 114 h 294"/>
              <a:gd name="T36" fmla="*/ 213 w 726"/>
              <a:gd name="T37" fmla="*/ 137 h 294"/>
              <a:gd name="T38" fmla="*/ 244 w 726"/>
              <a:gd name="T39" fmla="*/ 114 h 294"/>
              <a:gd name="T40" fmla="*/ 213 w 726"/>
              <a:gd name="T41" fmla="*/ 90 h 294"/>
              <a:gd name="T42" fmla="*/ 123 w 726"/>
              <a:gd name="T43" fmla="*/ 114 h 294"/>
              <a:gd name="T44" fmla="*/ 154 w 726"/>
              <a:gd name="T45" fmla="*/ 137 h 294"/>
              <a:gd name="T46" fmla="*/ 154 w 726"/>
              <a:gd name="T47" fmla="*/ 90 h 294"/>
              <a:gd name="T48" fmla="*/ 123 w 726"/>
              <a:gd name="T49" fmla="*/ 114 h 294"/>
              <a:gd name="T50" fmla="*/ 81 w 726"/>
              <a:gd name="T51" fmla="*/ 137 h 294"/>
              <a:gd name="T52" fmla="*/ 111 w 726"/>
              <a:gd name="T53" fmla="*/ 114 h 294"/>
              <a:gd name="T54" fmla="*/ 81 w 726"/>
              <a:gd name="T55" fmla="*/ 90 h 294"/>
              <a:gd name="T56" fmla="*/ 27 w 726"/>
              <a:gd name="T57" fmla="*/ 215 h 294"/>
              <a:gd name="T58" fmla="*/ 321 w 726"/>
              <a:gd name="T59" fmla="*/ 239 h 294"/>
              <a:gd name="T60" fmla="*/ 331 w 726"/>
              <a:gd name="T61" fmla="*/ 221 h 294"/>
              <a:gd name="T62" fmla="*/ 194 w 726"/>
              <a:gd name="T63" fmla="*/ 218 h 294"/>
              <a:gd name="T64" fmla="*/ 27 w 726"/>
              <a:gd name="T65" fmla="*/ 215 h 294"/>
              <a:gd name="T66" fmla="*/ 617 w 726"/>
              <a:gd name="T67" fmla="*/ 232 h 294"/>
              <a:gd name="T68" fmla="*/ 615 w 726"/>
              <a:gd name="T69" fmla="*/ 226 h 294"/>
              <a:gd name="T70" fmla="*/ 665 w 726"/>
              <a:gd name="T71" fmla="*/ 216 h 294"/>
              <a:gd name="T72" fmla="*/ 609 w 726"/>
              <a:gd name="T73" fmla="*/ 217 h 294"/>
              <a:gd name="T74" fmla="*/ 377 w 726"/>
              <a:gd name="T75" fmla="*/ 218 h 294"/>
              <a:gd name="T76" fmla="*/ 342 w 726"/>
              <a:gd name="T77" fmla="*/ 218 h 294"/>
              <a:gd name="T78" fmla="*/ 327 w 726"/>
              <a:gd name="T79" fmla="*/ 238 h 294"/>
              <a:gd name="T80" fmla="*/ 350 w 726"/>
              <a:gd name="T81" fmla="*/ 239 h 294"/>
              <a:gd name="T82" fmla="*/ 373 w 726"/>
              <a:gd name="T83" fmla="*/ 240 h 294"/>
              <a:gd name="T84" fmla="*/ 378 w 726"/>
              <a:gd name="T85" fmla="*/ 246 h 294"/>
              <a:gd name="T86" fmla="*/ 223 w 726"/>
              <a:gd name="T87" fmla="*/ 247 h 294"/>
              <a:gd name="T88" fmla="*/ 30 w 726"/>
              <a:gd name="T89" fmla="*/ 251 h 294"/>
              <a:gd name="T90" fmla="*/ 30 w 726"/>
              <a:gd name="T91" fmla="*/ 253 h 294"/>
              <a:gd name="T92" fmla="*/ 223 w 726"/>
              <a:gd name="T93" fmla="*/ 257 h 294"/>
              <a:gd name="T94" fmla="*/ 482 w 726"/>
              <a:gd name="T95" fmla="*/ 257 h 294"/>
              <a:gd name="T96" fmla="*/ 675 w 726"/>
              <a:gd name="T97" fmla="*/ 253 h 294"/>
              <a:gd name="T98" fmla="*/ 675 w 726"/>
              <a:gd name="T99" fmla="*/ 251 h 294"/>
              <a:gd name="T100" fmla="*/ 364 w 726"/>
              <a:gd name="T101" fmla="*/ 0 h 294"/>
              <a:gd name="T102" fmla="*/ 364 w 726"/>
              <a:gd name="T103" fmla="*/ 14 h 294"/>
              <a:gd name="T104" fmla="*/ 637 w 726"/>
              <a:gd name="T105" fmla="*/ 37 h 294"/>
              <a:gd name="T106" fmla="*/ 637 w 726"/>
              <a:gd name="T107" fmla="*/ 51 h 294"/>
              <a:gd name="T108" fmla="*/ 482 w 726"/>
              <a:gd name="T109" fmla="*/ 294 h 294"/>
              <a:gd name="T110" fmla="*/ 90 w 726"/>
              <a:gd name="T111" fmla="*/ 287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26" h="294">
                <a:moveTo>
                  <a:pt x="726" y="183"/>
                </a:moveTo>
                <a:cubicBezTo>
                  <a:pt x="726" y="191"/>
                  <a:pt x="717" y="201"/>
                  <a:pt x="689" y="210"/>
                </a:cubicBezTo>
                <a:cubicBezTo>
                  <a:pt x="680" y="209"/>
                  <a:pt x="671" y="209"/>
                  <a:pt x="662" y="209"/>
                </a:cubicBezTo>
                <a:cubicBezTo>
                  <a:pt x="620" y="209"/>
                  <a:pt x="572" y="208"/>
                  <a:pt x="520" y="207"/>
                </a:cubicBezTo>
                <a:cubicBezTo>
                  <a:pt x="468" y="207"/>
                  <a:pt x="413" y="207"/>
                  <a:pt x="357" y="207"/>
                </a:cubicBezTo>
                <a:cubicBezTo>
                  <a:pt x="354" y="207"/>
                  <a:pt x="351" y="207"/>
                  <a:pt x="348" y="207"/>
                </a:cubicBezTo>
                <a:cubicBezTo>
                  <a:pt x="351" y="201"/>
                  <a:pt x="353" y="195"/>
                  <a:pt x="356" y="188"/>
                </a:cubicBezTo>
                <a:cubicBezTo>
                  <a:pt x="367" y="142"/>
                  <a:pt x="363" y="100"/>
                  <a:pt x="337" y="58"/>
                </a:cubicBezTo>
                <a:cubicBezTo>
                  <a:pt x="334" y="53"/>
                  <a:pt x="330" y="49"/>
                  <a:pt x="327" y="45"/>
                </a:cubicBezTo>
                <a:cubicBezTo>
                  <a:pt x="327" y="45"/>
                  <a:pt x="327" y="44"/>
                  <a:pt x="326" y="44"/>
                </a:cubicBezTo>
                <a:lnTo>
                  <a:pt x="350" y="44"/>
                </a:lnTo>
                <a:cubicBezTo>
                  <a:pt x="359" y="44"/>
                  <a:pt x="377" y="47"/>
                  <a:pt x="400" y="51"/>
                </a:cubicBezTo>
                <a:cubicBezTo>
                  <a:pt x="395" y="57"/>
                  <a:pt x="391" y="64"/>
                  <a:pt x="391" y="71"/>
                </a:cubicBezTo>
                <a:cubicBezTo>
                  <a:pt x="391" y="95"/>
                  <a:pt x="426" y="114"/>
                  <a:pt x="469" y="114"/>
                </a:cubicBezTo>
                <a:cubicBezTo>
                  <a:pt x="501" y="114"/>
                  <a:pt x="528" y="103"/>
                  <a:pt x="540" y="88"/>
                </a:cubicBezTo>
                <a:cubicBezTo>
                  <a:pt x="546" y="90"/>
                  <a:pt x="552" y="92"/>
                  <a:pt x="559" y="94"/>
                </a:cubicBezTo>
                <a:cubicBezTo>
                  <a:pt x="665" y="128"/>
                  <a:pt x="726" y="161"/>
                  <a:pt x="726" y="183"/>
                </a:cubicBezTo>
                <a:close/>
                <a:moveTo>
                  <a:pt x="24" y="210"/>
                </a:moveTo>
                <a:cubicBezTo>
                  <a:pt x="17" y="192"/>
                  <a:pt x="17" y="168"/>
                  <a:pt x="17" y="141"/>
                </a:cubicBezTo>
                <a:cubicBezTo>
                  <a:pt x="17" y="89"/>
                  <a:pt x="17" y="44"/>
                  <a:pt x="71" y="44"/>
                </a:cubicBezTo>
                <a:lnTo>
                  <a:pt x="321" y="44"/>
                </a:lnTo>
                <a:cubicBezTo>
                  <a:pt x="322" y="45"/>
                  <a:pt x="323" y="46"/>
                  <a:pt x="324" y="48"/>
                </a:cubicBezTo>
                <a:cubicBezTo>
                  <a:pt x="326" y="52"/>
                  <a:pt x="329" y="56"/>
                  <a:pt x="331" y="61"/>
                </a:cubicBezTo>
                <a:cubicBezTo>
                  <a:pt x="333" y="64"/>
                  <a:pt x="334" y="67"/>
                  <a:pt x="335" y="69"/>
                </a:cubicBezTo>
                <a:cubicBezTo>
                  <a:pt x="351" y="100"/>
                  <a:pt x="371" y="181"/>
                  <a:pt x="335" y="204"/>
                </a:cubicBezTo>
                <a:cubicBezTo>
                  <a:pt x="318" y="215"/>
                  <a:pt x="284" y="206"/>
                  <a:pt x="264" y="206"/>
                </a:cubicBezTo>
                <a:cubicBezTo>
                  <a:pt x="241" y="206"/>
                  <a:pt x="218" y="207"/>
                  <a:pt x="194" y="207"/>
                </a:cubicBezTo>
                <a:cubicBezTo>
                  <a:pt x="142" y="208"/>
                  <a:pt x="94" y="209"/>
                  <a:pt x="52" y="209"/>
                </a:cubicBezTo>
                <a:cubicBezTo>
                  <a:pt x="43" y="209"/>
                  <a:pt x="33" y="210"/>
                  <a:pt x="24" y="210"/>
                </a:cubicBezTo>
                <a:close/>
                <a:moveTo>
                  <a:pt x="256" y="114"/>
                </a:moveTo>
                <a:cubicBezTo>
                  <a:pt x="256" y="127"/>
                  <a:pt x="267" y="137"/>
                  <a:pt x="280" y="137"/>
                </a:cubicBezTo>
                <a:lnTo>
                  <a:pt x="287" y="137"/>
                </a:lnTo>
                <a:cubicBezTo>
                  <a:pt x="300" y="137"/>
                  <a:pt x="310" y="127"/>
                  <a:pt x="310" y="114"/>
                </a:cubicBezTo>
                <a:cubicBezTo>
                  <a:pt x="310" y="101"/>
                  <a:pt x="300" y="90"/>
                  <a:pt x="287" y="90"/>
                </a:cubicBezTo>
                <a:lnTo>
                  <a:pt x="280" y="90"/>
                </a:lnTo>
                <a:cubicBezTo>
                  <a:pt x="267" y="90"/>
                  <a:pt x="256" y="101"/>
                  <a:pt x="256" y="114"/>
                </a:cubicBezTo>
                <a:close/>
                <a:moveTo>
                  <a:pt x="190" y="114"/>
                </a:moveTo>
                <a:cubicBezTo>
                  <a:pt x="190" y="127"/>
                  <a:pt x="200" y="137"/>
                  <a:pt x="213" y="137"/>
                </a:cubicBezTo>
                <a:lnTo>
                  <a:pt x="220" y="137"/>
                </a:lnTo>
                <a:cubicBezTo>
                  <a:pt x="233" y="137"/>
                  <a:pt x="244" y="127"/>
                  <a:pt x="244" y="114"/>
                </a:cubicBezTo>
                <a:cubicBezTo>
                  <a:pt x="244" y="101"/>
                  <a:pt x="233" y="90"/>
                  <a:pt x="220" y="90"/>
                </a:cubicBezTo>
                <a:lnTo>
                  <a:pt x="213" y="90"/>
                </a:lnTo>
                <a:cubicBezTo>
                  <a:pt x="200" y="90"/>
                  <a:pt x="190" y="101"/>
                  <a:pt x="190" y="114"/>
                </a:cubicBezTo>
                <a:close/>
                <a:moveTo>
                  <a:pt x="123" y="114"/>
                </a:moveTo>
                <a:cubicBezTo>
                  <a:pt x="123" y="127"/>
                  <a:pt x="134" y="137"/>
                  <a:pt x="147" y="137"/>
                </a:cubicBezTo>
                <a:lnTo>
                  <a:pt x="154" y="137"/>
                </a:lnTo>
                <a:cubicBezTo>
                  <a:pt x="167" y="137"/>
                  <a:pt x="178" y="127"/>
                  <a:pt x="178" y="114"/>
                </a:cubicBezTo>
                <a:cubicBezTo>
                  <a:pt x="178" y="101"/>
                  <a:pt x="167" y="90"/>
                  <a:pt x="154" y="90"/>
                </a:cubicBezTo>
                <a:lnTo>
                  <a:pt x="147" y="90"/>
                </a:lnTo>
                <a:cubicBezTo>
                  <a:pt x="134" y="90"/>
                  <a:pt x="123" y="101"/>
                  <a:pt x="123" y="114"/>
                </a:cubicBezTo>
                <a:close/>
                <a:moveTo>
                  <a:pt x="57" y="114"/>
                </a:moveTo>
                <a:cubicBezTo>
                  <a:pt x="57" y="127"/>
                  <a:pt x="68" y="137"/>
                  <a:pt x="81" y="137"/>
                </a:cubicBezTo>
                <a:lnTo>
                  <a:pt x="88" y="137"/>
                </a:lnTo>
                <a:cubicBezTo>
                  <a:pt x="101" y="137"/>
                  <a:pt x="111" y="127"/>
                  <a:pt x="111" y="114"/>
                </a:cubicBezTo>
                <a:cubicBezTo>
                  <a:pt x="111" y="101"/>
                  <a:pt x="101" y="90"/>
                  <a:pt x="88" y="90"/>
                </a:cubicBezTo>
                <a:lnTo>
                  <a:pt x="81" y="90"/>
                </a:lnTo>
                <a:cubicBezTo>
                  <a:pt x="68" y="90"/>
                  <a:pt x="57" y="101"/>
                  <a:pt x="57" y="114"/>
                </a:cubicBezTo>
                <a:close/>
                <a:moveTo>
                  <a:pt x="27" y="215"/>
                </a:moveTo>
                <a:cubicBezTo>
                  <a:pt x="34" y="230"/>
                  <a:pt x="47" y="239"/>
                  <a:pt x="71" y="239"/>
                </a:cubicBezTo>
                <a:lnTo>
                  <a:pt x="321" y="239"/>
                </a:lnTo>
                <a:cubicBezTo>
                  <a:pt x="322" y="238"/>
                  <a:pt x="323" y="236"/>
                  <a:pt x="324" y="235"/>
                </a:cubicBezTo>
                <a:cubicBezTo>
                  <a:pt x="326" y="231"/>
                  <a:pt x="329" y="227"/>
                  <a:pt x="331" y="221"/>
                </a:cubicBezTo>
                <a:cubicBezTo>
                  <a:pt x="332" y="220"/>
                  <a:pt x="332" y="219"/>
                  <a:pt x="333" y="218"/>
                </a:cubicBezTo>
                <a:cubicBezTo>
                  <a:pt x="286" y="218"/>
                  <a:pt x="239" y="218"/>
                  <a:pt x="194" y="218"/>
                </a:cubicBezTo>
                <a:cubicBezTo>
                  <a:pt x="142" y="217"/>
                  <a:pt x="94" y="216"/>
                  <a:pt x="52" y="216"/>
                </a:cubicBezTo>
                <a:cubicBezTo>
                  <a:pt x="43" y="216"/>
                  <a:pt x="35" y="216"/>
                  <a:pt x="27" y="215"/>
                </a:cubicBezTo>
                <a:close/>
                <a:moveTo>
                  <a:pt x="607" y="249"/>
                </a:moveTo>
                <a:cubicBezTo>
                  <a:pt x="613" y="245"/>
                  <a:pt x="617" y="239"/>
                  <a:pt x="617" y="232"/>
                </a:cubicBezTo>
                <a:cubicBezTo>
                  <a:pt x="617" y="231"/>
                  <a:pt x="616" y="229"/>
                  <a:pt x="616" y="227"/>
                </a:cubicBezTo>
                <a:cubicBezTo>
                  <a:pt x="616" y="227"/>
                  <a:pt x="616" y="226"/>
                  <a:pt x="615" y="226"/>
                </a:cubicBezTo>
                <a:cubicBezTo>
                  <a:pt x="615" y="225"/>
                  <a:pt x="615" y="225"/>
                  <a:pt x="615" y="224"/>
                </a:cubicBezTo>
                <a:cubicBezTo>
                  <a:pt x="635" y="222"/>
                  <a:pt x="652" y="219"/>
                  <a:pt x="665" y="216"/>
                </a:cubicBezTo>
                <a:cubicBezTo>
                  <a:pt x="664" y="216"/>
                  <a:pt x="663" y="216"/>
                  <a:pt x="662" y="216"/>
                </a:cubicBezTo>
                <a:cubicBezTo>
                  <a:pt x="645" y="216"/>
                  <a:pt x="627" y="216"/>
                  <a:pt x="609" y="217"/>
                </a:cubicBezTo>
                <a:cubicBezTo>
                  <a:pt x="581" y="217"/>
                  <a:pt x="551" y="218"/>
                  <a:pt x="520" y="218"/>
                </a:cubicBezTo>
                <a:cubicBezTo>
                  <a:pt x="474" y="218"/>
                  <a:pt x="426" y="218"/>
                  <a:pt x="377" y="218"/>
                </a:cubicBezTo>
                <a:cubicBezTo>
                  <a:pt x="370" y="218"/>
                  <a:pt x="364" y="219"/>
                  <a:pt x="357" y="219"/>
                </a:cubicBezTo>
                <a:cubicBezTo>
                  <a:pt x="352" y="219"/>
                  <a:pt x="347" y="218"/>
                  <a:pt x="342" y="218"/>
                </a:cubicBezTo>
                <a:cubicBezTo>
                  <a:pt x="340" y="221"/>
                  <a:pt x="339" y="223"/>
                  <a:pt x="337" y="225"/>
                </a:cubicBezTo>
                <a:cubicBezTo>
                  <a:pt x="334" y="230"/>
                  <a:pt x="330" y="234"/>
                  <a:pt x="327" y="238"/>
                </a:cubicBezTo>
                <a:cubicBezTo>
                  <a:pt x="327" y="238"/>
                  <a:pt x="326" y="238"/>
                  <a:pt x="326" y="239"/>
                </a:cubicBezTo>
                <a:lnTo>
                  <a:pt x="350" y="239"/>
                </a:lnTo>
                <a:cubicBezTo>
                  <a:pt x="354" y="239"/>
                  <a:pt x="362" y="239"/>
                  <a:pt x="373" y="239"/>
                </a:cubicBezTo>
                <a:cubicBezTo>
                  <a:pt x="373" y="239"/>
                  <a:pt x="373" y="240"/>
                  <a:pt x="373" y="240"/>
                </a:cubicBezTo>
                <a:cubicBezTo>
                  <a:pt x="373" y="241"/>
                  <a:pt x="374" y="241"/>
                  <a:pt x="374" y="242"/>
                </a:cubicBezTo>
                <a:cubicBezTo>
                  <a:pt x="375" y="243"/>
                  <a:pt x="376" y="245"/>
                  <a:pt x="378" y="246"/>
                </a:cubicBezTo>
                <a:cubicBezTo>
                  <a:pt x="369" y="246"/>
                  <a:pt x="361" y="246"/>
                  <a:pt x="353" y="246"/>
                </a:cubicBezTo>
                <a:cubicBezTo>
                  <a:pt x="309" y="246"/>
                  <a:pt x="265" y="247"/>
                  <a:pt x="223" y="247"/>
                </a:cubicBezTo>
                <a:cubicBezTo>
                  <a:pt x="182" y="247"/>
                  <a:pt x="143" y="248"/>
                  <a:pt x="110" y="249"/>
                </a:cubicBezTo>
                <a:cubicBezTo>
                  <a:pt x="77" y="249"/>
                  <a:pt x="50" y="250"/>
                  <a:pt x="30" y="251"/>
                </a:cubicBezTo>
                <a:cubicBezTo>
                  <a:pt x="11" y="252"/>
                  <a:pt x="0" y="252"/>
                  <a:pt x="0" y="252"/>
                </a:cubicBezTo>
                <a:cubicBezTo>
                  <a:pt x="0" y="252"/>
                  <a:pt x="11" y="252"/>
                  <a:pt x="30" y="253"/>
                </a:cubicBezTo>
                <a:cubicBezTo>
                  <a:pt x="50" y="254"/>
                  <a:pt x="77" y="255"/>
                  <a:pt x="110" y="255"/>
                </a:cubicBezTo>
                <a:cubicBezTo>
                  <a:pt x="143" y="256"/>
                  <a:pt x="182" y="257"/>
                  <a:pt x="223" y="257"/>
                </a:cubicBezTo>
                <a:cubicBezTo>
                  <a:pt x="265" y="257"/>
                  <a:pt x="309" y="258"/>
                  <a:pt x="353" y="258"/>
                </a:cubicBezTo>
                <a:cubicBezTo>
                  <a:pt x="397" y="258"/>
                  <a:pt x="441" y="257"/>
                  <a:pt x="482" y="257"/>
                </a:cubicBezTo>
                <a:cubicBezTo>
                  <a:pt x="524" y="257"/>
                  <a:pt x="562" y="256"/>
                  <a:pt x="595" y="255"/>
                </a:cubicBezTo>
                <a:cubicBezTo>
                  <a:pt x="628" y="255"/>
                  <a:pt x="656" y="254"/>
                  <a:pt x="675" y="253"/>
                </a:cubicBezTo>
                <a:cubicBezTo>
                  <a:pt x="694" y="252"/>
                  <a:pt x="705" y="252"/>
                  <a:pt x="705" y="252"/>
                </a:cubicBezTo>
                <a:cubicBezTo>
                  <a:pt x="705" y="252"/>
                  <a:pt x="694" y="252"/>
                  <a:pt x="675" y="251"/>
                </a:cubicBezTo>
                <a:cubicBezTo>
                  <a:pt x="658" y="250"/>
                  <a:pt x="635" y="250"/>
                  <a:pt x="607" y="249"/>
                </a:cubicBezTo>
                <a:close/>
                <a:moveTo>
                  <a:pt x="364" y="0"/>
                </a:moveTo>
                <a:lnTo>
                  <a:pt x="17" y="7"/>
                </a:lnTo>
                <a:lnTo>
                  <a:pt x="364" y="14"/>
                </a:lnTo>
                <a:lnTo>
                  <a:pt x="364" y="0"/>
                </a:lnTo>
                <a:close/>
                <a:moveTo>
                  <a:pt x="637" y="37"/>
                </a:moveTo>
                <a:lnTo>
                  <a:pt x="515" y="44"/>
                </a:lnTo>
                <a:lnTo>
                  <a:pt x="637" y="51"/>
                </a:lnTo>
                <a:lnTo>
                  <a:pt x="637" y="37"/>
                </a:lnTo>
                <a:close/>
                <a:moveTo>
                  <a:pt x="482" y="294"/>
                </a:moveTo>
                <a:lnTo>
                  <a:pt x="482" y="280"/>
                </a:lnTo>
                <a:lnTo>
                  <a:pt x="90" y="287"/>
                </a:lnTo>
                <a:lnTo>
                  <a:pt x="482" y="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0298031"/>
      </p:ext>
    </p:extLst>
  </p:cSld>
  <p:clrMapOvr>
    <a:masterClrMapping/>
  </p:clrMapOvr>
  <p:transition advTm="29843">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îSľîḍè"/>
          <p:cNvSpPr/>
          <p:nvPr/>
        </p:nvSpPr>
        <p:spPr>
          <a:xfrm>
            <a:off x="2339752" y="2451668"/>
            <a:ext cx="576040" cy="550316"/>
          </a:xfrm>
          <a:prstGeom prst="diamond">
            <a:avLst/>
          </a:prstGeom>
          <a:solidFill>
            <a:schemeClr val="bg1">
              <a:lumMod val="75000"/>
            </a:schemeClr>
          </a:solidFill>
          <a:ln>
            <a:noFill/>
          </a:ln>
        </p:spPr>
        <p:style>
          <a:lnRef idx="2">
            <a:schemeClr val="accent5"/>
          </a:lnRef>
          <a:fillRef idx="1">
            <a:schemeClr val="lt1"/>
          </a:fillRef>
          <a:effectRef idx="0">
            <a:schemeClr val="accent5"/>
          </a:effectRef>
          <a:fontRef idx="minor">
            <a:schemeClr val="dk1"/>
          </a:fontRef>
        </p:style>
        <p:txBody>
          <a:bodyPr wrap="none" lIns="0" tIns="0" rIns="0" bIns="0" anchor="ctr">
            <a:normAutofit/>
          </a:bodyPr>
          <a:lstStyle/>
          <a:p>
            <a:pPr algn="ctr">
              <a:defRPr/>
            </a:pPr>
            <a:r>
              <a:rPr lang="en-US" altLang="zh-CN" b="1" dirty="0">
                <a:solidFill>
                  <a:schemeClr val="accent1">
                    <a:lumMod val="50000"/>
                  </a:schemeClr>
                </a:solidFill>
                <a:latin typeface="Times New Roman" panose="02020603050405020304" pitchFamily="18" charset="0"/>
                <a:cs typeface="Times New Roman" panose="02020603050405020304" pitchFamily="18" charset="0"/>
                <a:sym typeface="+mn-lt"/>
              </a:rPr>
              <a:t>06</a:t>
            </a:r>
          </a:p>
        </p:txBody>
      </p:sp>
      <p:sp>
        <p:nvSpPr>
          <p:cNvPr id="13" name="ïṣlïḋe"/>
          <p:cNvSpPr txBox="1"/>
          <p:nvPr/>
        </p:nvSpPr>
        <p:spPr>
          <a:xfrm>
            <a:off x="2771800" y="2506163"/>
            <a:ext cx="3456384" cy="441325"/>
          </a:xfrm>
          <a:prstGeom prst="rect">
            <a:avLst/>
          </a:prstGeom>
          <a:noFill/>
        </p:spPr>
        <p:txBody>
          <a:bodyPr wrap="none" lIns="360000" tIns="0" rIns="0" bIns="0" anchor="ctr"/>
          <a:lstStyle/>
          <a:p>
            <a:pPr>
              <a:defRPr/>
            </a:pPr>
            <a:r>
              <a:rPr lang="zh-CN" altLang="en-US" sz="3200" b="1" dirty="0">
                <a:solidFill>
                  <a:schemeClr val="bg1"/>
                </a:solidFill>
                <a:latin typeface="微软雅黑" panose="020B0503020204020204" pitchFamily="34" charset="-122"/>
                <a:ea typeface="微软雅黑" panose="020B0503020204020204" pitchFamily="34" charset="-122"/>
                <a:cs typeface="+mn-ea"/>
                <a:sym typeface="+mn-lt"/>
              </a:rPr>
              <a:t>预期成果及进度安排</a:t>
            </a:r>
          </a:p>
        </p:txBody>
      </p:sp>
    </p:spTree>
    <p:extLst>
      <p:ext uri="{BB962C8B-B14F-4D97-AF65-F5344CB8AC3E}">
        <p14:creationId xmlns:p14="http://schemas.microsoft.com/office/powerpoint/2010/main" val="4172903448"/>
      </p:ext>
    </p:extLst>
  </p:cSld>
  <p:clrMapOvr>
    <a:masterClrMapping/>
  </p:clrMapOvr>
  <mc:AlternateContent xmlns:mc="http://schemas.openxmlformats.org/markup-compatibility/2006" xmlns:p14="http://schemas.microsoft.com/office/powerpoint/2010/main">
    <mc:Choice Requires="p14">
      <p:transition p14:dur="10" advTm="181"/>
    </mc:Choice>
    <mc:Fallback xmlns="">
      <p:transition advTm="18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7584" y="195486"/>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已取得成果和预计成果</a:t>
            </a:r>
          </a:p>
        </p:txBody>
      </p:sp>
      <p:sp>
        <p:nvSpPr>
          <p:cNvPr id="3" name="TextBox 12">
            <a:extLst>
              <a:ext uri="{FF2B5EF4-FFF2-40B4-BE49-F238E27FC236}">
                <a16:creationId xmlns:a16="http://schemas.microsoft.com/office/drawing/2014/main" id="{2214CCB4-025E-433C-9D36-05F7692011B6}"/>
              </a:ext>
            </a:extLst>
          </p:cNvPr>
          <p:cNvSpPr txBox="1">
            <a:spLocks noChangeArrowheads="1"/>
          </p:cNvSpPr>
          <p:nvPr/>
        </p:nvSpPr>
        <p:spPr bwMode="auto">
          <a:xfrm>
            <a:off x="5697693" y="2842442"/>
            <a:ext cx="29823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dirty="0">
                <a:latin typeface="Times New Roman" panose="02020603050405020304" pitchFamily="18" charset="0"/>
              </a:rPr>
              <a:t>公开发表一篇中文核心。</a:t>
            </a:r>
          </a:p>
        </p:txBody>
      </p:sp>
      <p:sp>
        <p:nvSpPr>
          <p:cNvPr id="4" name="TextBox 13">
            <a:extLst>
              <a:ext uri="{FF2B5EF4-FFF2-40B4-BE49-F238E27FC236}">
                <a16:creationId xmlns:a16="http://schemas.microsoft.com/office/drawing/2014/main" id="{A5E06084-ECD5-F477-75F1-6E7BC7C784AB}"/>
              </a:ext>
            </a:extLst>
          </p:cNvPr>
          <p:cNvSpPr txBox="1">
            <a:spLocks noChangeArrowheads="1"/>
          </p:cNvSpPr>
          <p:nvPr/>
        </p:nvSpPr>
        <p:spPr bwMode="auto">
          <a:xfrm>
            <a:off x="5594360" y="3631605"/>
            <a:ext cx="174646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dirty="0">
                <a:latin typeface="Times New Roman" panose="02020603050405020304" pitchFamily="18" charset="0"/>
              </a:rPr>
              <a:t>申请专利</a:t>
            </a:r>
            <a:r>
              <a:rPr lang="en-US" altLang="zh-CN" sz="2000" dirty="0">
                <a:latin typeface="Times New Roman" panose="02020603050405020304" pitchFamily="18" charset="0"/>
              </a:rPr>
              <a:t>1</a:t>
            </a:r>
            <a:r>
              <a:rPr lang="zh-CN" altLang="en-US" sz="2000" dirty="0">
                <a:latin typeface="Times New Roman" panose="02020603050405020304" pitchFamily="18" charset="0"/>
              </a:rPr>
              <a:t>项</a:t>
            </a:r>
          </a:p>
        </p:txBody>
      </p:sp>
      <p:pic>
        <p:nvPicPr>
          <p:cNvPr id="5" name="图形 4">
            <a:extLst>
              <a:ext uri="{FF2B5EF4-FFF2-40B4-BE49-F238E27FC236}">
                <a16:creationId xmlns:a16="http://schemas.microsoft.com/office/drawing/2014/main" id="{0515D069-0421-DEDF-CE69-9A461C3006F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12651" y="2790469"/>
            <a:ext cx="504056" cy="504056"/>
          </a:xfrm>
          <a:prstGeom prst="rect">
            <a:avLst/>
          </a:prstGeom>
        </p:spPr>
      </p:pic>
      <p:pic>
        <p:nvPicPr>
          <p:cNvPr id="6" name="图形 5">
            <a:extLst>
              <a:ext uri="{FF2B5EF4-FFF2-40B4-BE49-F238E27FC236}">
                <a16:creationId xmlns:a16="http://schemas.microsoft.com/office/drawing/2014/main" id="{50C80A95-2639-CC61-0CA0-F463CC525A7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93565" y="3579602"/>
            <a:ext cx="504056" cy="504056"/>
          </a:xfrm>
          <a:prstGeom prst="rect">
            <a:avLst/>
          </a:prstGeom>
        </p:spPr>
      </p:pic>
      <p:sp>
        <p:nvSpPr>
          <p:cNvPr id="7"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12</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9" name="任意多边形: 形状 8">
            <a:extLst>
              <a:ext uri="{FF2B5EF4-FFF2-40B4-BE49-F238E27FC236}">
                <a16:creationId xmlns:a16="http://schemas.microsoft.com/office/drawing/2014/main" id="{14CF0A0E-8180-678D-F6F5-E54F7E417A3F}"/>
              </a:ext>
            </a:extLst>
          </p:cNvPr>
          <p:cNvSpPr/>
          <p:nvPr/>
        </p:nvSpPr>
        <p:spPr>
          <a:xfrm>
            <a:off x="3732056" y="2253311"/>
            <a:ext cx="1380595" cy="2202205"/>
          </a:xfrm>
          <a:custGeom>
            <a:avLst/>
            <a:gdLst>
              <a:gd name="T0" fmla="*/ 64 w 378"/>
              <a:gd name="T1" fmla="*/ 142 h 396"/>
              <a:gd name="T2" fmla="*/ 57 w 378"/>
              <a:gd name="T3" fmla="*/ 123 h 396"/>
              <a:gd name="T4" fmla="*/ 51 w 378"/>
              <a:gd name="T5" fmla="*/ 118 h 396"/>
              <a:gd name="T6" fmla="*/ 331 w 378"/>
              <a:gd name="T7" fmla="*/ 126 h 396"/>
              <a:gd name="T8" fmla="*/ 334 w 378"/>
              <a:gd name="T9" fmla="*/ 181 h 396"/>
              <a:gd name="T10" fmla="*/ 202 w 378"/>
              <a:gd name="T11" fmla="*/ 206 h 396"/>
              <a:gd name="T12" fmla="*/ 268 w 378"/>
              <a:gd name="T13" fmla="*/ 239 h 396"/>
              <a:gd name="T14" fmla="*/ 297 w 378"/>
              <a:gd name="T15" fmla="*/ 227 h 396"/>
              <a:gd name="T16" fmla="*/ 313 w 378"/>
              <a:gd name="T17" fmla="*/ 283 h 396"/>
              <a:gd name="T18" fmla="*/ 260 w 378"/>
              <a:gd name="T19" fmla="*/ 256 h 396"/>
              <a:gd name="T20" fmla="*/ 290 w 378"/>
              <a:gd name="T21" fmla="*/ 369 h 396"/>
              <a:gd name="T22" fmla="*/ 176 w 378"/>
              <a:gd name="T23" fmla="*/ 369 h 396"/>
              <a:gd name="T24" fmla="*/ 102 w 378"/>
              <a:gd name="T25" fmla="*/ 126 h 396"/>
              <a:gd name="T26" fmla="*/ 24 w 378"/>
              <a:gd name="T27" fmla="*/ 96 h 396"/>
              <a:gd name="T28" fmla="*/ 72 w 378"/>
              <a:gd name="T29" fmla="*/ 86 h 396"/>
              <a:gd name="T30" fmla="*/ 202 w 378"/>
              <a:gd name="T31" fmla="*/ 146 h 396"/>
              <a:gd name="T32" fmla="*/ 197 w 378"/>
              <a:gd name="T33" fmla="*/ 31 h 396"/>
              <a:gd name="T34" fmla="*/ 258 w 378"/>
              <a:gd name="T35" fmla="*/ 48 h 396"/>
              <a:gd name="T36" fmla="*/ 345 w 378"/>
              <a:gd name="T37" fmla="*/ 59 h 396"/>
              <a:gd name="T38" fmla="*/ 347 w 378"/>
              <a:gd name="T39" fmla="*/ 72 h 396"/>
              <a:gd name="T40" fmla="*/ 375 w 378"/>
              <a:gd name="T41" fmla="*/ 140 h 396"/>
              <a:gd name="T42" fmla="*/ 64 w 378"/>
              <a:gd name="T43" fmla="*/ 124 h 396"/>
              <a:gd name="T44" fmla="*/ 71 w 378"/>
              <a:gd name="T45" fmla="*/ 118 h 396"/>
              <a:gd name="T46" fmla="*/ 64 w 378"/>
              <a:gd name="T47" fmla="*/ 106 h 396"/>
              <a:gd name="T48" fmla="*/ 46 w 378"/>
              <a:gd name="T49" fmla="*/ 108 h 396"/>
              <a:gd name="T50" fmla="*/ 59 w 378"/>
              <a:gd name="T51" fmla="*/ 142 h 396"/>
              <a:gd name="T52" fmla="*/ 50 w 378"/>
              <a:gd name="T53" fmla="*/ 135 h 396"/>
              <a:gd name="T54" fmla="*/ 57 w 378"/>
              <a:gd name="T55" fmla="*/ 148 h 396"/>
              <a:gd name="T56" fmla="*/ 64 w 378"/>
              <a:gd name="T57" fmla="*/ 149 h 396"/>
              <a:gd name="T58" fmla="*/ 277 w 378"/>
              <a:gd name="T59" fmla="*/ 266 h 396"/>
              <a:gd name="T60" fmla="*/ 277 w 378"/>
              <a:gd name="T61" fmla="*/ 286 h 396"/>
              <a:gd name="T62" fmla="*/ 271 w 378"/>
              <a:gd name="T63" fmla="*/ 291 h 396"/>
              <a:gd name="T64" fmla="*/ 267 w 378"/>
              <a:gd name="T65" fmla="*/ 299 h 396"/>
              <a:gd name="T66" fmla="*/ 282 w 378"/>
              <a:gd name="T67" fmla="*/ 305 h 396"/>
              <a:gd name="T68" fmla="*/ 295 w 378"/>
              <a:gd name="T69" fmla="*/ 291 h 396"/>
              <a:gd name="T70" fmla="*/ 282 w 378"/>
              <a:gd name="T71" fmla="*/ 272 h 396"/>
              <a:gd name="T72" fmla="*/ 294 w 378"/>
              <a:gd name="T73" fmla="*/ 277 h 396"/>
              <a:gd name="T74" fmla="*/ 282 w 378"/>
              <a:gd name="T75" fmla="*/ 263 h 396"/>
              <a:gd name="T76" fmla="*/ 277 w 378"/>
              <a:gd name="T77" fmla="*/ 266 h 396"/>
              <a:gd name="T78" fmla="*/ 336 w 378"/>
              <a:gd name="T79" fmla="*/ 137 h 396"/>
              <a:gd name="T80" fmla="*/ 344 w 378"/>
              <a:gd name="T81" fmla="*/ 132 h 396"/>
              <a:gd name="T82" fmla="*/ 336 w 378"/>
              <a:gd name="T83" fmla="*/ 119 h 396"/>
              <a:gd name="T84" fmla="*/ 319 w 378"/>
              <a:gd name="T85" fmla="*/ 122 h 396"/>
              <a:gd name="T86" fmla="*/ 331 w 378"/>
              <a:gd name="T87" fmla="*/ 156 h 396"/>
              <a:gd name="T88" fmla="*/ 323 w 378"/>
              <a:gd name="T89" fmla="*/ 148 h 396"/>
              <a:gd name="T90" fmla="*/ 330 w 378"/>
              <a:gd name="T91" fmla="*/ 162 h 396"/>
              <a:gd name="T92" fmla="*/ 336 w 378"/>
              <a:gd name="T93" fmla="*/ 162 h 396"/>
              <a:gd name="T94" fmla="*/ 336 w 378"/>
              <a:gd name="T95" fmla="*/ 144 h 396"/>
              <a:gd name="T96" fmla="*/ 343 w 378"/>
              <a:gd name="T97" fmla="*/ 145 h 396"/>
              <a:gd name="T98" fmla="*/ 277 w 378"/>
              <a:gd name="T99" fmla="*/ 272 h 396"/>
              <a:gd name="T100" fmla="*/ 288 w 378"/>
              <a:gd name="T101" fmla="*/ 291 h 396"/>
              <a:gd name="T102" fmla="*/ 282 w 378"/>
              <a:gd name="T103" fmla="*/ 29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8" h="396">
                <a:moveTo>
                  <a:pt x="70" y="131"/>
                </a:moveTo>
                <a:cubicBezTo>
                  <a:pt x="72" y="132"/>
                  <a:pt x="72" y="134"/>
                  <a:pt x="72" y="136"/>
                </a:cubicBezTo>
                <a:cubicBezTo>
                  <a:pt x="72" y="140"/>
                  <a:pt x="70" y="142"/>
                  <a:pt x="65" y="142"/>
                </a:cubicBezTo>
                <a:lnTo>
                  <a:pt x="64" y="142"/>
                </a:lnTo>
                <a:lnTo>
                  <a:pt x="64" y="130"/>
                </a:lnTo>
                <a:cubicBezTo>
                  <a:pt x="67" y="130"/>
                  <a:pt x="69" y="131"/>
                  <a:pt x="70" y="131"/>
                </a:cubicBezTo>
                <a:close/>
                <a:moveTo>
                  <a:pt x="51" y="118"/>
                </a:moveTo>
                <a:cubicBezTo>
                  <a:pt x="51" y="121"/>
                  <a:pt x="53" y="123"/>
                  <a:pt x="57" y="123"/>
                </a:cubicBezTo>
                <a:cubicBezTo>
                  <a:pt x="57" y="123"/>
                  <a:pt x="58" y="123"/>
                  <a:pt x="59" y="123"/>
                </a:cubicBezTo>
                <a:lnTo>
                  <a:pt x="59" y="112"/>
                </a:lnTo>
                <a:lnTo>
                  <a:pt x="57" y="112"/>
                </a:lnTo>
                <a:cubicBezTo>
                  <a:pt x="53" y="112"/>
                  <a:pt x="51" y="114"/>
                  <a:pt x="51" y="118"/>
                </a:cubicBezTo>
                <a:close/>
                <a:moveTo>
                  <a:pt x="323" y="131"/>
                </a:moveTo>
                <a:cubicBezTo>
                  <a:pt x="323" y="135"/>
                  <a:pt x="326" y="137"/>
                  <a:pt x="330" y="137"/>
                </a:cubicBezTo>
                <a:cubicBezTo>
                  <a:pt x="330" y="137"/>
                  <a:pt x="331" y="137"/>
                  <a:pt x="331" y="137"/>
                </a:cubicBezTo>
                <a:lnTo>
                  <a:pt x="331" y="126"/>
                </a:lnTo>
                <a:lnTo>
                  <a:pt x="330" y="126"/>
                </a:lnTo>
                <a:cubicBezTo>
                  <a:pt x="326" y="126"/>
                  <a:pt x="323" y="128"/>
                  <a:pt x="323" y="131"/>
                </a:cubicBezTo>
                <a:close/>
                <a:moveTo>
                  <a:pt x="375" y="140"/>
                </a:moveTo>
                <a:cubicBezTo>
                  <a:pt x="375" y="162"/>
                  <a:pt x="357" y="181"/>
                  <a:pt x="334" y="181"/>
                </a:cubicBezTo>
                <a:cubicBezTo>
                  <a:pt x="311" y="181"/>
                  <a:pt x="293" y="162"/>
                  <a:pt x="293" y="140"/>
                </a:cubicBezTo>
                <a:cubicBezTo>
                  <a:pt x="293" y="124"/>
                  <a:pt x="301" y="111"/>
                  <a:pt x="313" y="104"/>
                </a:cubicBezTo>
                <a:lnTo>
                  <a:pt x="308" y="97"/>
                </a:lnTo>
                <a:lnTo>
                  <a:pt x="202" y="206"/>
                </a:lnTo>
                <a:lnTo>
                  <a:pt x="202" y="249"/>
                </a:lnTo>
                <a:lnTo>
                  <a:pt x="272" y="205"/>
                </a:lnTo>
                <a:lnTo>
                  <a:pt x="286" y="228"/>
                </a:lnTo>
                <a:lnTo>
                  <a:pt x="268" y="239"/>
                </a:lnTo>
                <a:lnTo>
                  <a:pt x="272" y="250"/>
                </a:lnTo>
                <a:cubicBezTo>
                  <a:pt x="274" y="250"/>
                  <a:pt x="277" y="249"/>
                  <a:pt x="280" y="249"/>
                </a:cubicBezTo>
                <a:cubicBezTo>
                  <a:pt x="281" y="249"/>
                  <a:pt x="282" y="250"/>
                  <a:pt x="283" y="250"/>
                </a:cubicBezTo>
                <a:cubicBezTo>
                  <a:pt x="285" y="244"/>
                  <a:pt x="288" y="232"/>
                  <a:pt x="297" y="227"/>
                </a:cubicBezTo>
                <a:cubicBezTo>
                  <a:pt x="309" y="220"/>
                  <a:pt x="327" y="227"/>
                  <a:pt x="327" y="227"/>
                </a:cubicBezTo>
                <a:cubicBezTo>
                  <a:pt x="327" y="227"/>
                  <a:pt x="325" y="246"/>
                  <a:pt x="313" y="253"/>
                </a:cubicBezTo>
                <a:cubicBezTo>
                  <a:pt x="309" y="256"/>
                  <a:pt x="304" y="256"/>
                  <a:pt x="300" y="257"/>
                </a:cubicBezTo>
                <a:cubicBezTo>
                  <a:pt x="308" y="263"/>
                  <a:pt x="313" y="272"/>
                  <a:pt x="313" y="283"/>
                </a:cubicBezTo>
                <a:cubicBezTo>
                  <a:pt x="313" y="301"/>
                  <a:pt x="298" y="316"/>
                  <a:pt x="280" y="316"/>
                </a:cubicBezTo>
                <a:cubicBezTo>
                  <a:pt x="261" y="316"/>
                  <a:pt x="246" y="301"/>
                  <a:pt x="246" y="283"/>
                </a:cubicBezTo>
                <a:cubicBezTo>
                  <a:pt x="246" y="272"/>
                  <a:pt x="252" y="262"/>
                  <a:pt x="260" y="256"/>
                </a:cubicBezTo>
                <a:lnTo>
                  <a:pt x="260" y="256"/>
                </a:lnTo>
                <a:lnTo>
                  <a:pt x="256" y="247"/>
                </a:lnTo>
                <a:lnTo>
                  <a:pt x="202" y="281"/>
                </a:lnTo>
                <a:lnTo>
                  <a:pt x="202" y="369"/>
                </a:lnTo>
                <a:lnTo>
                  <a:pt x="290" y="369"/>
                </a:lnTo>
                <a:lnTo>
                  <a:pt x="290" y="396"/>
                </a:lnTo>
                <a:lnTo>
                  <a:pt x="84" y="396"/>
                </a:lnTo>
                <a:lnTo>
                  <a:pt x="84" y="369"/>
                </a:lnTo>
                <a:lnTo>
                  <a:pt x="176" y="369"/>
                </a:lnTo>
                <a:lnTo>
                  <a:pt x="176" y="158"/>
                </a:lnTo>
                <a:lnTo>
                  <a:pt x="94" y="80"/>
                </a:lnTo>
                <a:lnTo>
                  <a:pt x="84" y="92"/>
                </a:lnTo>
                <a:cubicBezTo>
                  <a:pt x="95" y="99"/>
                  <a:pt x="102" y="112"/>
                  <a:pt x="102" y="126"/>
                </a:cubicBezTo>
                <a:cubicBezTo>
                  <a:pt x="102" y="149"/>
                  <a:pt x="84" y="167"/>
                  <a:pt x="61" y="167"/>
                </a:cubicBezTo>
                <a:cubicBezTo>
                  <a:pt x="38" y="167"/>
                  <a:pt x="20" y="149"/>
                  <a:pt x="20" y="126"/>
                </a:cubicBezTo>
                <a:cubicBezTo>
                  <a:pt x="20" y="115"/>
                  <a:pt x="24" y="105"/>
                  <a:pt x="32" y="97"/>
                </a:cubicBezTo>
                <a:cubicBezTo>
                  <a:pt x="29" y="97"/>
                  <a:pt x="26" y="97"/>
                  <a:pt x="24" y="96"/>
                </a:cubicBezTo>
                <a:cubicBezTo>
                  <a:pt x="7" y="88"/>
                  <a:pt x="0" y="64"/>
                  <a:pt x="0" y="64"/>
                </a:cubicBezTo>
                <a:cubicBezTo>
                  <a:pt x="0" y="64"/>
                  <a:pt x="22" y="51"/>
                  <a:pt x="40" y="59"/>
                </a:cubicBezTo>
                <a:cubicBezTo>
                  <a:pt x="52" y="64"/>
                  <a:pt x="58" y="77"/>
                  <a:pt x="61" y="85"/>
                </a:cubicBezTo>
                <a:cubicBezTo>
                  <a:pt x="65" y="85"/>
                  <a:pt x="68" y="85"/>
                  <a:pt x="72" y="86"/>
                </a:cubicBezTo>
                <a:lnTo>
                  <a:pt x="84" y="71"/>
                </a:lnTo>
                <a:lnTo>
                  <a:pt x="42" y="32"/>
                </a:lnTo>
                <a:lnTo>
                  <a:pt x="61" y="13"/>
                </a:lnTo>
                <a:lnTo>
                  <a:pt x="202" y="146"/>
                </a:lnTo>
                <a:lnTo>
                  <a:pt x="202" y="168"/>
                </a:lnTo>
                <a:lnTo>
                  <a:pt x="257" y="111"/>
                </a:lnTo>
                <a:lnTo>
                  <a:pt x="181" y="52"/>
                </a:lnTo>
                <a:lnTo>
                  <a:pt x="197" y="31"/>
                </a:lnTo>
                <a:lnTo>
                  <a:pt x="212" y="43"/>
                </a:lnTo>
                <a:cubicBezTo>
                  <a:pt x="217" y="34"/>
                  <a:pt x="224" y="21"/>
                  <a:pt x="237" y="13"/>
                </a:cubicBezTo>
                <a:cubicBezTo>
                  <a:pt x="259" y="0"/>
                  <a:pt x="287" y="7"/>
                  <a:pt x="287" y="7"/>
                </a:cubicBezTo>
                <a:cubicBezTo>
                  <a:pt x="287" y="7"/>
                  <a:pt x="280" y="35"/>
                  <a:pt x="258" y="48"/>
                </a:cubicBezTo>
                <a:cubicBezTo>
                  <a:pt x="248" y="53"/>
                  <a:pt x="238" y="55"/>
                  <a:pt x="229" y="55"/>
                </a:cubicBezTo>
                <a:lnTo>
                  <a:pt x="276" y="92"/>
                </a:lnTo>
                <a:lnTo>
                  <a:pt x="326" y="40"/>
                </a:lnTo>
                <a:lnTo>
                  <a:pt x="345" y="59"/>
                </a:lnTo>
                <a:lnTo>
                  <a:pt x="317" y="88"/>
                </a:lnTo>
                <a:lnTo>
                  <a:pt x="327" y="99"/>
                </a:lnTo>
                <a:cubicBezTo>
                  <a:pt x="328" y="99"/>
                  <a:pt x="330" y="99"/>
                  <a:pt x="332" y="99"/>
                </a:cubicBezTo>
                <a:cubicBezTo>
                  <a:pt x="332" y="94"/>
                  <a:pt x="336" y="79"/>
                  <a:pt x="347" y="72"/>
                </a:cubicBezTo>
                <a:cubicBezTo>
                  <a:pt x="360" y="64"/>
                  <a:pt x="378" y="72"/>
                  <a:pt x="378" y="72"/>
                </a:cubicBezTo>
                <a:cubicBezTo>
                  <a:pt x="378" y="72"/>
                  <a:pt x="376" y="92"/>
                  <a:pt x="363" y="100"/>
                </a:cubicBezTo>
                <a:cubicBezTo>
                  <a:pt x="360" y="102"/>
                  <a:pt x="356" y="103"/>
                  <a:pt x="352" y="103"/>
                </a:cubicBezTo>
                <a:cubicBezTo>
                  <a:pt x="366" y="110"/>
                  <a:pt x="375" y="123"/>
                  <a:pt x="375" y="140"/>
                </a:cubicBezTo>
                <a:close/>
                <a:moveTo>
                  <a:pt x="80" y="136"/>
                </a:moveTo>
                <a:cubicBezTo>
                  <a:pt x="80" y="131"/>
                  <a:pt x="79" y="128"/>
                  <a:pt x="77" y="127"/>
                </a:cubicBezTo>
                <a:cubicBezTo>
                  <a:pt x="75" y="125"/>
                  <a:pt x="71" y="124"/>
                  <a:pt x="65" y="124"/>
                </a:cubicBezTo>
                <a:lnTo>
                  <a:pt x="64" y="124"/>
                </a:lnTo>
                <a:lnTo>
                  <a:pt x="64" y="112"/>
                </a:lnTo>
                <a:lnTo>
                  <a:pt x="65" y="112"/>
                </a:lnTo>
                <a:cubicBezTo>
                  <a:pt x="69" y="112"/>
                  <a:pt x="71" y="114"/>
                  <a:pt x="71" y="117"/>
                </a:cubicBezTo>
                <a:lnTo>
                  <a:pt x="71" y="118"/>
                </a:lnTo>
                <a:lnTo>
                  <a:pt x="78" y="118"/>
                </a:lnTo>
                <a:lnTo>
                  <a:pt x="78" y="117"/>
                </a:lnTo>
                <a:cubicBezTo>
                  <a:pt x="78" y="113"/>
                  <a:pt x="77" y="110"/>
                  <a:pt x="75" y="108"/>
                </a:cubicBezTo>
                <a:cubicBezTo>
                  <a:pt x="73" y="106"/>
                  <a:pt x="69" y="106"/>
                  <a:pt x="64" y="106"/>
                </a:cubicBezTo>
                <a:lnTo>
                  <a:pt x="64" y="101"/>
                </a:lnTo>
                <a:lnTo>
                  <a:pt x="59" y="101"/>
                </a:lnTo>
                <a:lnTo>
                  <a:pt x="59" y="106"/>
                </a:lnTo>
                <a:cubicBezTo>
                  <a:pt x="53" y="106"/>
                  <a:pt x="49" y="106"/>
                  <a:pt x="46" y="108"/>
                </a:cubicBezTo>
                <a:cubicBezTo>
                  <a:pt x="44" y="110"/>
                  <a:pt x="43" y="113"/>
                  <a:pt x="43" y="118"/>
                </a:cubicBezTo>
                <a:cubicBezTo>
                  <a:pt x="43" y="122"/>
                  <a:pt x="44" y="126"/>
                  <a:pt x="46" y="127"/>
                </a:cubicBezTo>
                <a:cubicBezTo>
                  <a:pt x="49" y="129"/>
                  <a:pt x="53" y="130"/>
                  <a:pt x="59" y="130"/>
                </a:cubicBezTo>
                <a:lnTo>
                  <a:pt x="59" y="142"/>
                </a:lnTo>
                <a:lnTo>
                  <a:pt x="57" y="142"/>
                </a:lnTo>
                <a:cubicBezTo>
                  <a:pt x="54" y="142"/>
                  <a:pt x="52" y="142"/>
                  <a:pt x="52" y="141"/>
                </a:cubicBezTo>
                <a:cubicBezTo>
                  <a:pt x="51" y="140"/>
                  <a:pt x="50" y="138"/>
                  <a:pt x="50" y="135"/>
                </a:cubicBezTo>
                <a:lnTo>
                  <a:pt x="50" y="135"/>
                </a:lnTo>
                <a:lnTo>
                  <a:pt x="43" y="135"/>
                </a:lnTo>
                <a:lnTo>
                  <a:pt x="43" y="136"/>
                </a:lnTo>
                <a:cubicBezTo>
                  <a:pt x="43" y="141"/>
                  <a:pt x="44" y="144"/>
                  <a:pt x="46" y="146"/>
                </a:cubicBezTo>
                <a:cubicBezTo>
                  <a:pt x="48" y="148"/>
                  <a:pt x="52" y="148"/>
                  <a:pt x="57" y="148"/>
                </a:cubicBezTo>
                <a:lnTo>
                  <a:pt x="59" y="149"/>
                </a:lnTo>
                <a:lnTo>
                  <a:pt x="59" y="154"/>
                </a:lnTo>
                <a:lnTo>
                  <a:pt x="64" y="154"/>
                </a:lnTo>
                <a:lnTo>
                  <a:pt x="64" y="149"/>
                </a:lnTo>
                <a:lnTo>
                  <a:pt x="65" y="149"/>
                </a:lnTo>
                <a:cubicBezTo>
                  <a:pt x="71" y="149"/>
                  <a:pt x="74" y="148"/>
                  <a:pt x="77" y="146"/>
                </a:cubicBezTo>
                <a:cubicBezTo>
                  <a:pt x="79" y="144"/>
                  <a:pt x="80" y="140"/>
                  <a:pt x="80" y="136"/>
                </a:cubicBezTo>
                <a:close/>
                <a:moveTo>
                  <a:pt x="277" y="266"/>
                </a:moveTo>
                <a:cubicBezTo>
                  <a:pt x="273" y="266"/>
                  <a:pt x="269" y="267"/>
                  <a:pt x="268" y="268"/>
                </a:cubicBezTo>
                <a:cubicBezTo>
                  <a:pt x="266" y="270"/>
                  <a:pt x="265" y="272"/>
                  <a:pt x="265" y="276"/>
                </a:cubicBezTo>
                <a:cubicBezTo>
                  <a:pt x="265" y="280"/>
                  <a:pt x="266" y="283"/>
                  <a:pt x="267" y="284"/>
                </a:cubicBezTo>
                <a:cubicBezTo>
                  <a:pt x="269" y="285"/>
                  <a:pt x="273" y="286"/>
                  <a:pt x="277" y="286"/>
                </a:cubicBezTo>
                <a:lnTo>
                  <a:pt x="277" y="296"/>
                </a:lnTo>
                <a:lnTo>
                  <a:pt x="277" y="296"/>
                </a:lnTo>
                <a:cubicBezTo>
                  <a:pt x="274" y="296"/>
                  <a:pt x="272" y="296"/>
                  <a:pt x="272" y="295"/>
                </a:cubicBezTo>
                <a:cubicBezTo>
                  <a:pt x="271" y="294"/>
                  <a:pt x="271" y="293"/>
                  <a:pt x="271" y="291"/>
                </a:cubicBezTo>
                <a:lnTo>
                  <a:pt x="271" y="290"/>
                </a:lnTo>
                <a:lnTo>
                  <a:pt x="265" y="290"/>
                </a:lnTo>
                <a:lnTo>
                  <a:pt x="264" y="291"/>
                </a:lnTo>
                <a:cubicBezTo>
                  <a:pt x="264" y="295"/>
                  <a:pt x="265" y="298"/>
                  <a:pt x="267" y="299"/>
                </a:cubicBezTo>
                <a:cubicBezTo>
                  <a:pt x="269" y="300"/>
                  <a:pt x="272" y="301"/>
                  <a:pt x="276" y="301"/>
                </a:cubicBezTo>
                <a:lnTo>
                  <a:pt x="277" y="301"/>
                </a:lnTo>
                <a:lnTo>
                  <a:pt x="277" y="305"/>
                </a:lnTo>
                <a:lnTo>
                  <a:pt x="282" y="305"/>
                </a:lnTo>
                <a:lnTo>
                  <a:pt x="282" y="301"/>
                </a:lnTo>
                <a:lnTo>
                  <a:pt x="283" y="301"/>
                </a:lnTo>
                <a:cubicBezTo>
                  <a:pt x="287" y="301"/>
                  <a:pt x="290" y="300"/>
                  <a:pt x="292" y="299"/>
                </a:cubicBezTo>
                <a:cubicBezTo>
                  <a:pt x="294" y="297"/>
                  <a:pt x="295" y="295"/>
                  <a:pt x="295" y="291"/>
                </a:cubicBezTo>
                <a:cubicBezTo>
                  <a:pt x="295" y="287"/>
                  <a:pt x="294" y="285"/>
                  <a:pt x="292" y="283"/>
                </a:cubicBezTo>
                <a:cubicBezTo>
                  <a:pt x="291" y="282"/>
                  <a:pt x="288" y="281"/>
                  <a:pt x="283" y="281"/>
                </a:cubicBezTo>
                <a:lnTo>
                  <a:pt x="282" y="281"/>
                </a:lnTo>
                <a:lnTo>
                  <a:pt x="282" y="272"/>
                </a:lnTo>
                <a:lnTo>
                  <a:pt x="283" y="272"/>
                </a:lnTo>
                <a:cubicBezTo>
                  <a:pt x="286" y="272"/>
                  <a:pt x="288" y="273"/>
                  <a:pt x="288" y="276"/>
                </a:cubicBezTo>
                <a:lnTo>
                  <a:pt x="288" y="277"/>
                </a:lnTo>
                <a:lnTo>
                  <a:pt x="294" y="277"/>
                </a:lnTo>
                <a:lnTo>
                  <a:pt x="294" y="276"/>
                </a:lnTo>
                <a:cubicBezTo>
                  <a:pt x="294" y="272"/>
                  <a:pt x="293" y="270"/>
                  <a:pt x="291" y="268"/>
                </a:cubicBezTo>
                <a:cubicBezTo>
                  <a:pt x="289" y="267"/>
                  <a:pt x="286" y="266"/>
                  <a:pt x="282" y="266"/>
                </a:cubicBezTo>
                <a:lnTo>
                  <a:pt x="282" y="263"/>
                </a:lnTo>
                <a:lnTo>
                  <a:pt x="277" y="263"/>
                </a:lnTo>
                <a:lnTo>
                  <a:pt x="277" y="266"/>
                </a:lnTo>
                <a:lnTo>
                  <a:pt x="277" y="266"/>
                </a:lnTo>
                <a:lnTo>
                  <a:pt x="277" y="266"/>
                </a:lnTo>
                <a:close/>
                <a:moveTo>
                  <a:pt x="352" y="149"/>
                </a:moveTo>
                <a:cubicBezTo>
                  <a:pt x="352" y="145"/>
                  <a:pt x="351" y="142"/>
                  <a:pt x="349" y="140"/>
                </a:cubicBezTo>
                <a:cubicBezTo>
                  <a:pt x="347" y="139"/>
                  <a:pt x="344" y="138"/>
                  <a:pt x="338" y="137"/>
                </a:cubicBezTo>
                <a:lnTo>
                  <a:pt x="336" y="137"/>
                </a:lnTo>
                <a:lnTo>
                  <a:pt x="336" y="126"/>
                </a:lnTo>
                <a:lnTo>
                  <a:pt x="338" y="126"/>
                </a:lnTo>
                <a:cubicBezTo>
                  <a:pt x="342" y="126"/>
                  <a:pt x="344" y="128"/>
                  <a:pt x="344" y="131"/>
                </a:cubicBezTo>
                <a:lnTo>
                  <a:pt x="344" y="132"/>
                </a:lnTo>
                <a:lnTo>
                  <a:pt x="351" y="132"/>
                </a:lnTo>
                <a:lnTo>
                  <a:pt x="351" y="131"/>
                </a:lnTo>
                <a:cubicBezTo>
                  <a:pt x="351" y="126"/>
                  <a:pt x="350" y="123"/>
                  <a:pt x="348" y="122"/>
                </a:cubicBezTo>
                <a:cubicBezTo>
                  <a:pt x="346" y="120"/>
                  <a:pt x="342" y="119"/>
                  <a:pt x="336" y="119"/>
                </a:cubicBezTo>
                <a:lnTo>
                  <a:pt x="336" y="115"/>
                </a:lnTo>
                <a:lnTo>
                  <a:pt x="331" y="115"/>
                </a:lnTo>
                <a:lnTo>
                  <a:pt x="331" y="119"/>
                </a:lnTo>
                <a:cubicBezTo>
                  <a:pt x="325" y="119"/>
                  <a:pt x="321" y="120"/>
                  <a:pt x="319" y="122"/>
                </a:cubicBezTo>
                <a:cubicBezTo>
                  <a:pt x="317" y="123"/>
                  <a:pt x="316" y="127"/>
                  <a:pt x="316" y="131"/>
                </a:cubicBezTo>
                <a:cubicBezTo>
                  <a:pt x="316" y="136"/>
                  <a:pt x="317" y="139"/>
                  <a:pt x="319" y="141"/>
                </a:cubicBezTo>
                <a:cubicBezTo>
                  <a:pt x="321" y="143"/>
                  <a:pt x="325" y="143"/>
                  <a:pt x="331" y="143"/>
                </a:cubicBezTo>
                <a:lnTo>
                  <a:pt x="331" y="156"/>
                </a:lnTo>
                <a:lnTo>
                  <a:pt x="330" y="156"/>
                </a:lnTo>
                <a:cubicBezTo>
                  <a:pt x="327" y="156"/>
                  <a:pt x="325" y="155"/>
                  <a:pt x="324" y="154"/>
                </a:cubicBezTo>
                <a:cubicBezTo>
                  <a:pt x="323" y="154"/>
                  <a:pt x="323" y="152"/>
                  <a:pt x="323" y="149"/>
                </a:cubicBezTo>
                <a:lnTo>
                  <a:pt x="323" y="148"/>
                </a:lnTo>
                <a:lnTo>
                  <a:pt x="315" y="148"/>
                </a:lnTo>
                <a:lnTo>
                  <a:pt x="315" y="150"/>
                </a:lnTo>
                <a:cubicBezTo>
                  <a:pt x="315" y="154"/>
                  <a:pt x="316" y="158"/>
                  <a:pt x="319" y="159"/>
                </a:cubicBezTo>
                <a:cubicBezTo>
                  <a:pt x="321" y="161"/>
                  <a:pt x="325" y="162"/>
                  <a:pt x="330" y="162"/>
                </a:cubicBezTo>
                <a:lnTo>
                  <a:pt x="331" y="162"/>
                </a:lnTo>
                <a:lnTo>
                  <a:pt x="331" y="167"/>
                </a:lnTo>
                <a:lnTo>
                  <a:pt x="336" y="167"/>
                </a:lnTo>
                <a:lnTo>
                  <a:pt x="336" y="162"/>
                </a:lnTo>
                <a:lnTo>
                  <a:pt x="338" y="162"/>
                </a:lnTo>
                <a:cubicBezTo>
                  <a:pt x="343" y="162"/>
                  <a:pt x="347" y="161"/>
                  <a:pt x="349" y="159"/>
                </a:cubicBezTo>
                <a:cubicBezTo>
                  <a:pt x="351" y="157"/>
                  <a:pt x="352" y="154"/>
                  <a:pt x="352" y="149"/>
                </a:cubicBezTo>
                <a:close/>
                <a:moveTo>
                  <a:pt x="336" y="144"/>
                </a:moveTo>
                <a:lnTo>
                  <a:pt x="336" y="156"/>
                </a:lnTo>
                <a:lnTo>
                  <a:pt x="337" y="156"/>
                </a:lnTo>
                <a:cubicBezTo>
                  <a:pt x="342" y="156"/>
                  <a:pt x="345" y="154"/>
                  <a:pt x="345" y="149"/>
                </a:cubicBezTo>
                <a:cubicBezTo>
                  <a:pt x="345" y="147"/>
                  <a:pt x="344" y="146"/>
                  <a:pt x="343" y="145"/>
                </a:cubicBezTo>
                <a:cubicBezTo>
                  <a:pt x="342" y="144"/>
                  <a:pt x="340" y="144"/>
                  <a:pt x="336" y="144"/>
                </a:cubicBezTo>
                <a:close/>
                <a:moveTo>
                  <a:pt x="277" y="281"/>
                </a:moveTo>
                <a:cubicBezTo>
                  <a:pt x="277" y="281"/>
                  <a:pt x="277" y="281"/>
                  <a:pt x="277" y="281"/>
                </a:cubicBezTo>
                <a:lnTo>
                  <a:pt x="277" y="272"/>
                </a:lnTo>
                <a:lnTo>
                  <a:pt x="277" y="272"/>
                </a:lnTo>
                <a:cubicBezTo>
                  <a:pt x="273" y="272"/>
                  <a:pt x="271" y="273"/>
                  <a:pt x="271" y="276"/>
                </a:cubicBezTo>
                <a:cubicBezTo>
                  <a:pt x="271" y="279"/>
                  <a:pt x="273" y="281"/>
                  <a:pt x="277" y="281"/>
                </a:cubicBezTo>
                <a:close/>
                <a:moveTo>
                  <a:pt x="288" y="291"/>
                </a:moveTo>
                <a:cubicBezTo>
                  <a:pt x="288" y="289"/>
                  <a:pt x="288" y="288"/>
                  <a:pt x="287" y="287"/>
                </a:cubicBezTo>
                <a:cubicBezTo>
                  <a:pt x="286" y="287"/>
                  <a:pt x="284" y="286"/>
                  <a:pt x="282" y="286"/>
                </a:cubicBezTo>
                <a:lnTo>
                  <a:pt x="282" y="296"/>
                </a:lnTo>
                <a:lnTo>
                  <a:pt x="282" y="296"/>
                </a:lnTo>
                <a:cubicBezTo>
                  <a:pt x="286" y="296"/>
                  <a:pt x="288" y="294"/>
                  <a:pt x="288" y="29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12">
            <a:extLst>
              <a:ext uri="{FF2B5EF4-FFF2-40B4-BE49-F238E27FC236}">
                <a16:creationId xmlns:a16="http://schemas.microsoft.com/office/drawing/2014/main" id="{1158B941-5E1A-6FBB-8867-EEBEE6288C8F}"/>
              </a:ext>
            </a:extLst>
          </p:cNvPr>
          <p:cNvSpPr txBox="1">
            <a:spLocks noChangeArrowheads="1"/>
          </p:cNvSpPr>
          <p:nvPr/>
        </p:nvSpPr>
        <p:spPr bwMode="auto">
          <a:xfrm>
            <a:off x="442614" y="2790439"/>
            <a:ext cx="29044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dirty="0">
                <a:latin typeface="Times New Roman" panose="02020603050405020304" pitchFamily="18" charset="0"/>
              </a:rPr>
              <a:t>公开发表一篇</a:t>
            </a:r>
            <a:r>
              <a:rPr lang="en-US" altLang="zh-CN" sz="2000" dirty="0">
                <a:latin typeface="Times New Roman" panose="02020603050405020304" pitchFamily="18" charset="0"/>
              </a:rPr>
              <a:t>SCI</a:t>
            </a:r>
            <a:r>
              <a:rPr lang="zh-CN" altLang="en-US" sz="2000" dirty="0">
                <a:latin typeface="Times New Roman" panose="02020603050405020304" pitchFamily="18" charset="0"/>
              </a:rPr>
              <a:t>论文。</a:t>
            </a:r>
          </a:p>
        </p:txBody>
      </p:sp>
      <p:pic>
        <p:nvPicPr>
          <p:cNvPr id="11" name="图形 10">
            <a:extLst>
              <a:ext uri="{FF2B5EF4-FFF2-40B4-BE49-F238E27FC236}">
                <a16:creationId xmlns:a16="http://schemas.microsoft.com/office/drawing/2014/main" id="{252DBDE9-1C67-FDCB-37CF-31EB8B0DCF7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50347" y="2738466"/>
            <a:ext cx="504056" cy="504056"/>
          </a:xfrm>
          <a:prstGeom prst="rect">
            <a:avLst/>
          </a:prstGeom>
        </p:spPr>
      </p:pic>
      <p:sp>
        <p:nvSpPr>
          <p:cNvPr id="8" name="矩形 7">
            <a:extLst>
              <a:ext uri="{FF2B5EF4-FFF2-40B4-BE49-F238E27FC236}">
                <a16:creationId xmlns:a16="http://schemas.microsoft.com/office/drawing/2014/main" id="{2B406485-D453-9B4F-1A77-C0A346F44A3C}"/>
              </a:ext>
            </a:extLst>
          </p:cNvPr>
          <p:cNvSpPr/>
          <p:nvPr/>
        </p:nvSpPr>
        <p:spPr>
          <a:xfrm>
            <a:off x="520475" y="817837"/>
            <a:ext cx="8159598" cy="1266934"/>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800"/>
              </a:spcAft>
            </a:pPr>
            <a:r>
              <a:rPr lang="en-US" altLang="zh-CN" sz="1400" b="0" i="0" dirty="0">
                <a:solidFill>
                  <a:srgbClr val="222222"/>
                </a:solidFill>
                <a:effectLst/>
                <a:latin typeface="Times New Roman" panose="02020603050405020304" pitchFamily="18" charset="0"/>
                <a:cs typeface="Times New Roman" panose="02020603050405020304" pitchFamily="18" charset="0"/>
              </a:rPr>
              <a:t>[1]</a:t>
            </a:r>
            <a:r>
              <a:rPr lang="en-US" altLang="zh-CN" sz="1400" b="0" i="0" dirty="0" err="1">
                <a:solidFill>
                  <a:srgbClr val="222222"/>
                </a:solidFill>
                <a:effectLst/>
                <a:latin typeface="Times New Roman" panose="02020603050405020304" pitchFamily="18" charset="0"/>
                <a:cs typeface="Times New Roman" panose="02020603050405020304" pitchFamily="18" charset="0"/>
              </a:rPr>
              <a:t>Hangjun</a:t>
            </a:r>
            <a:r>
              <a:rPr lang="en-US" altLang="zh-CN" sz="1400" b="0" i="0" dirty="0">
                <a:solidFill>
                  <a:srgbClr val="222222"/>
                </a:solidFill>
                <a:effectLst/>
                <a:latin typeface="Times New Roman" panose="02020603050405020304" pitchFamily="18" charset="0"/>
                <a:cs typeface="Times New Roman" panose="02020603050405020304" pitchFamily="18" charset="0"/>
              </a:rPr>
              <a:t> W, Zhao L, Zhang N, et al. TI-Former: End-to-End Useful Life Prediction Model Based on Transformer-Informer[C]//2024 IEEE 13th Data Driven Control and Learning Systems Conference (DDCLS). IEEE, 2024: 2170-2175.</a:t>
            </a:r>
          </a:p>
        </p:txBody>
      </p:sp>
    </p:spTree>
    <p:extLst>
      <p:ext uri="{BB962C8B-B14F-4D97-AF65-F5344CB8AC3E}">
        <p14:creationId xmlns:p14="http://schemas.microsoft.com/office/powerpoint/2010/main" val="3954297917"/>
      </p:ext>
    </p:extLst>
  </p:cSld>
  <p:clrMapOvr>
    <a:masterClrMapping/>
  </p:clrMapOvr>
  <mc:AlternateContent xmlns:mc="http://schemas.openxmlformats.org/markup-compatibility/2006" xmlns:p14="http://schemas.microsoft.com/office/powerpoint/2010/main">
    <mc:Choice Requires="p14">
      <p:transition p14:dur="10" advTm="183"/>
    </mc:Choice>
    <mc:Fallback xmlns="">
      <p:transition advTm="18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3">
            <a:extLst>
              <a:ext uri="{FF2B5EF4-FFF2-40B4-BE49-F238E27FC236}">
                <a16:creationId xmlns:a16="http://schemas.microsoft.com/office/drawing/2014/main" id="{4593F7B0-4F3B-FBFC-2F7F-AC9DF84859C7}"/>
              </a:ext>
            </a:extLst>
          </p:cNvPr>
          <p:cNvGraphicFramePr>
            <a:graphicFrameLocks noGrp="1"/>
          </p:cNvGraphicFramePr>
          <p:nvPr>
            <p:extLst>
              <p:ext uri="{D42A27DB-BD31-4B8C-83A1-F6EECF244321}">
                <p14:modId xmlns:p14="http://schemas.microsoft.com/office/powerpoint/2010/main" val="985914984"/>
              </p:ext>
            </p:extLst>
          </p:nvPr>
        </p:nvGraphicFramePr>
        <p:xfrm>
          <a:off x="251520" y="852834"/>
          <a:ext cx="8354924" cy="3633296"/>
        </p:xfrm>
        <a:graphic>
          <a:graphicData uri="http://schemas.openxmlformats.org/drawingml/2006/table">
            <a:tbl>
              <a:tblPr firstRow="1" bandRow="1">
                <a:tableStyleId>{5C22544A-7EE6-4342-B048-85BDC9FD1C3A}</a:tableStyleId>
              </a:tblPr>
              <a:tblGrid>
                <a:gridCol w="2384451">
                  <a:extLst>
                    <a:ext uri="{9D8B030D-6E8A-4147-A177-3AD203B41FA5}">
                      <a16:colId xmlns:a16="http://schemas.microsoft.com/office/drawing/2014/main" val="1634696981"/>
                    </a:ext>
                  </a:extLst>
                </a:gridCol>
                <a:gridCol w="5970473">
                  <a:extLst>
                    <a:ext uri="{9D8B030D-6E8A-4147-A177-3AD203B41FA5}">
                      <a16:colId xmlns:a16="http://schemas.microsoft.com/office/drawing/2014/main" val="1701945183"/>
                    </a:ext>
                  </a:extLst>
                </a:gridCol>
              </a:tblGrid>
              <a:tr h="357739">
                <a:tc>
                  <a:txBody>
                    <a:bodyPr/>
                    <a:lstStyle/>
                    <a:p>
                      <a:pPr algn="ctr"/>
                      <a:r>
                        <a:rPr lang="zh-CN" altLang="en-US" dirty="0"/>
                        <a:t>任务起止时间</a:t>
                      </a:r>
                    </a:p>
                  </a:txBody>
                  <a:tcPr>
                    <a:solidFill>
                      <a:schemeClr val="tx2"/>
                    </a:solidFill>
                  </a:tcPr>
                </a:tc>
                <a:tc>
                  <a:txBody>
                    <a:bodyPr/>
                    <a:lstStyle/>
                    <a:p>
                      <a:pPr algn="ctr"/>
                      <a:r>
                        <a:rPr lang="zh-CN" altLang="en-US" dirty="0"/>
                        <a:t>任务内容</a:t>
                      </a:r>
                    </a:p>
                  </a:txBody>
                  <a:tcPr>
                    <a:solidFill>
                      <a:schemeClr val="tx2"/>
                    </a:solidFill>
                  </a:tcPr>
                </a:tc>
                <a:extLst>
                  <a:ext uri="{0D108BD9-81ED-4DB2-BD59-A6C34878D82A}">
                    <a16:rowId xmlns:a16="http://schemas.microsoft.com/office/drawing/2014/main" val="3565801784"/>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2025.11</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-2025.12</a:t>
                      </a:r>
                      <a:endParaRPr 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defTabSz="914400" rtl="0" eaLnBrk="1" fontAlgn="ctr" latinLnBrk="0" hangingPunct="1">
                        <a:lnSpc>
                          <a:spcPct val="100000"/>
                        </a:lnSpc>
                      </a:pPr>
                      <a:r>
                        <a:rPr lang="zh-CN" altLang="en-US" sz="1200" b="1" i="0" kern="1200" baseline="0" dirty="0">
                          <a:solidFill>
                            <a:schemeClr val="tx2">
                              <a:lumMod val="50000"/>
                            </a:schemeClr>
                          </a:solidFill>
                          <a:latin typeface="Times New Roman" panose="02020603050405020304" pitchFamily="18" charset="0"/>
                          <a:ea typeface="+mn-ea"/>
                          <a:cs typeface="+mn-cs"/>
                        </a:rPr>
                        <a:t>与导师商议确定论文选题和主要研究内容</a:t>
                      </a:r>
                      <a:endParaRPr lang="zh-CN" sz="1200" b="1" i="0" u="none" strike="noStrike" kern="1200" baseline="0" dirty="0">
                        <a:solidFill>
                          <a:schemeClr val="tx2">
                            <a:lumMod val="50000"/>
                          </a:schemeClr>
                        </a:solidFill>
                        <a:effectLst/>
                        <a:latin typeface="Times New Roman" panose="02020603050405020304" pitchFamily="18" charset="0"/>
                        <a:ea typeface="宋体" panose="02010600030101010101" pitchFamily="2" charset="-122"/>
                        <a:cs typeface="+mn-cs"/>
                      </a:endParaRPr>
                    </a:p>
                  </a:txBody>
                  <a:tcPr marL="9525" marR="9525" marT="9529" marB="0" anchor="ctr"/>
                </a:tc>
                <a:extLst>
                  <a:ext uri="{0D108BD9-81ED-4DB2-BD59-A6C34878D82A}">
                    <a16:rowId xmlns:a16="http://schemas.microsoft.com/office/drawing/2014/main" val="1830457139"/>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2026.01</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a:t>
                      </a: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2026.02</a:t>
                      </a:r>
                      <a:endParaRPr 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marR="0" lvl="0" indent="0" algn="just" defTabSz="914400" rtl="0" eaLnBrk="1" fontAlgn="ctr" latinLnBrk="0" hangingPunct="1">
                        <a:lnSpc>
                          <a:spcPct val="100000"/>
                        </a:lnSpc>
                        <a:spcBef>
                          <a:spcPts val="0"/>
                        </a:spcBef>
                        <a:spcAft>
                          <a:spcPts val="0"/>
                        </a:spcAft>
                        <a:buClrTx/>
                        <a:buSzTx/>
                        <a:buFontTx/>
                        <a:buNone/>
                        <a:tabLst/>
                        <a:defRPr/>
                      </a:pPr>
                      <a:r>
                        <a:rPr lang="zh-CN" altLang="en-US" sz="1200" b="1" i="0" u="none" strike="noStrike" kern="1200" baseline="0" dirty="0">
                          <a:solidFill>
                            <a:schemeClr val="tx2">
                              <a:lumMod val="50000"/>
                            </a:schemeClr>
                          </a:solidFill>
                          <a:effectLst/>
                          <a:latin typeface="Times New Roman" panose="02020603050405020304" pitchFamily="18" charset="0"/>
                          <a:ea typeface="+mn-ea"/>
                          <a:cs typeface="+mn-cs"/>
                        </a:rPr>
                        <a:t>针对因果推断方法与域泛化故障诊断相结合的文献资料进行进一步分析和整理</a:t>
                      </a:r>
                    </a:p>
                  </a:txBody>
                  <a:tcPr marL="9525" marR="9525" marT="9529" marB="0" anchor="ctr"/>
                </a:tc>
                <a:extLst>
                  <a:ext uri="{0D108BD9-81ED-4DB2-BD59-A6C34878D82A}">
                    <a16:rowId xmlns:a16="http://schemas.microsoft.com/office/drawing/2014/main" val="1306696710"/>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2026.03</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a:t>
                      </a: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2026.04</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marR="0" lvl="0" indent="0" algn="just" defTabSz="914400" rtl="0" eaLnBrk="1" fontAlgn="ctr" latinLnBrk="0" hangingPunct="1">
                        <a:lnSpc>
                          <a:spcPct val="100000"/>
                        </a:lnSpc>
                        <a:spcBef>
                          <a:spcPts val="0"/>
                        </a:spcBef>
                        <a:spcAft>
                          <a:spcPts val="0"/>
                        </a:spcAft>
                        <a:buClrTx/>
                        <a:buSzTx/>
                        <a:buFontTx/>
                        <a:buNone/>
                        <a:tabLst/>
                        <a:defRPr/>
                      </a:pPr>
                      <a:r>
                        <a:rPr lang="zh-CN" altLang="en-US" sz="1200" b="1" i="0" u="none" strike="noStrike" kern="1200" baseline="0" dirty="0">
                          <a:solidFill>
                            <a:schemeClr val="tx2">
                              <a:lumMod val="50000"/>
                            </a:schemeClr>
                          </a:solidFill>
                          <a:effectLst/>
                          <a:latin typeface="Times New Roman" panose="02020603050405020304" pitchFamily="18" charset="0"/>
                          <a:ea typeface="+mn-ea"/>
                          <a:cs typeface="+mn-cs"/>
                        </a:rPr>
                        <a:t>对一些因果推断方法与域泛化故障诊断方法相关文献进行分析总结</a:t>
                      </a:r>
                    </a:p>
                  </a:txBody>
                  <a:tcPr marL="9525" marR="9525" marT="9529" marB="0" anchor="ctr"/>
                </a:tc>
                <a:extLst>
                  <a:ext uri="{0D108BD9-81ED-4DB2-BD59-A6C34878D82A}">
                    <a16:rowId xmlns:a16="http://schemas.microsoft.com/office/drawing/2014/main" val="3875440781"/>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2026.05-2026.07</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marR="0" lvl="0" indent="0" algn="just" defTabSz="914400" rtl="0" eaLnBrk="1" fontAlgn="ctr" latinLnBrk="0" hangingPunct="1">
                        <a:lnSpc>
                          <a:spcPct val="100000"/>
                        </a:lnSpc>
                        <a:spcBef>
                          <a:spcPts val="0"/>
                        </a:spcBef>
                        <a:spcAft>
                          <a:spcPts val="0"/>
                        </a:spcAft>
                        <a:buClrTx/>
                        <a:buSzTx/>
                        <a:buFontTx/>
                        <a:buNone/>
                        <a:tabLst/>
                        <a:defRPr/>
                      </a:pPr>
                      <a:r>
                        <a:rPr lang="zh-CN" altLang="en-US" sz="1200" b="1" i="0" u="none" strike="noStrike" kern="1200" baseline="0" dirty="0">
                          <a:solidFill>
                            <a:schemeClr val="tx2">
                              <a:lumMod val="50000"/>
                            </a:schemeClr>
                          </a:solidFill>
                          <a:effectLst/>
                          <a:latin typeface="Times New Roman" panose="02020603050405020304" pitchFamily="18" charset="0"/>
                          <a:ea typeface="+mn-ea"/>
                          <a:cs typeface="+mn-cs"/>
                        </a:rPr>
                        <a:t>齿轮箱结构因果建模以及搭建深度因果解耦域泛化网络，并将建模结果结构化、代码化</a:t>
                      </a:r>
                    </a:p>
                  </a:txBody>
                  <a:tcPr marL="9525" marR="9525" marT="9529" marB="0" anchor="ctr"/>
                </a:tc>
                <a:extLst>
                  <a:ext uri="{0D108BD9-81ED-4DB2-BD59-A6C34878D82A}">
                    <a16:rowId xmlns:a16="http://schemas.microsoft.com/office/drawing/2014/main" val="3256934129"/>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2026.08-2026.10</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defTabSz="914400" rtl="0" eaLnBrk="1" fontAlgn="ctr" latinLnBrk="0" hangingPunct="1">
                        <a:lnSpc>
                          <a:spcPct val="100000"/>
                        </a:lnSpc>
                      </a:pPr>
                      <a:r>
                        <a:rPr lang="zh-CN" altLang="en-US" sz="1200" b="1" i="0" u="none" strike="noStrike" kern="1200" baseline="0" dirty="0">
                          <a:solidFill>
                            <a:schemeClr val="tx2">
                              <a:lumMod val="50000"/>
                            </a:schemeClr>
                          </a:solidFill>
                          <a:effectLst/>
                          <a:latin typeface="Times New Roman" panose="02020603050405020304" pitchFamily="18" charset="0"/>
                          <a:ea typeface="+mn-ea"/>
                          <a:cs typeface="+mn-cs"/>
                        </a:rPr>
                        <a:t>在建立模型的基础上，使用实验室采集的振动信号数据集进行实验并分析实验结果，对研究工作进行整理并总结，撰写论文</a:t>
                      </a:r>
                      <a:endParaRPr lang="zh-CN" sz="1200" b="1" i="0" u="none" strike="noStrike" kern="1200" baseline="0" dirty="0">
                        <a:solidFill>
                          <a:schemeClr val="tx2">
                            <a:lumMod val="50000"/>
                          </a:schemeClr>
                        </a:solidFill>
                        <a:effectLst/>
                        <a:latin typeface="Times New Roman" panose="02020603050405020304" pitchFamily="18" charset="0"/>
                        <a:ea typeface="宋体" panose="02010600030101010101" pitchFamily="2" charset="-122"/>
                        <a:cs typeface="+mn-cs"/>
                      </a:endParaRPr>
                    </a:p>
                  </a:txBody>
                  <a:tcPr marL="9525" marR="9525" marT="9529" marB="0" anchor="ctr"/>
                </a:tc>
                <a:extLst>
                  <a:ext uri="{0D108BD9-81ED-4DB2-BD59-A6C34878D82A}">
                    <a16:rowId xmlns:a16="http://schemas.microsoft.com/office/drawing/2014/main" val="2264808592"/>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2026.11</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a:t>
                      </a: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2027.02</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defTabSz="914400" rtl="0" eaLnBrk="1" fontAlgn="ctr" latinLnBrk="0" hangingPunct="1">
                        <a:lnSpc>
                          <a:spcPct val="100000"/>
                        </a:lnSpc>
                      </a:pPr>
                      <a:r>
                        <a:rPr lang="zh-CN" altLang="en-US" sz="1200" b="1" i="0" kern="1200" baseline="0" dirty="0">
                          <a:solidFill>
                            <a:schemeClr val="tx2">
                              <a:lumMod val="50000"/>
                            </a:schemeClr>
                          </a:solidFill>
                          <a:latin typeface="Times New Roman" panose="02020603050405020304" pitchFamily="18" charset="0"/>
                          <a:ea typeface="+mn-ea"/>
                          <a:cs typeface="+mn-cs"/>
                        </a:rPr>
                        <a:t>提交论文导师审核</a:t>
                      </a:r>
                      <a:endParaRPr lang="zh-CN" sz="1200" b="1" i="0" u="none" strike="noStrike" kern="1200" baseline="0" dirty="0">
                        <a:solidFill>
                          <a:schemeClr val="tx2">
                            <a:lumMod val="50000"/>
                          </a:schemeClr>
                        </a:solidFill>
                        <a:effectLst/>
                        <a:latin typeface="Times New Roman" panose="02020603050405020304" pitchFamily="18" charset="0"/>
                        <a:ea typeface="宋体" panose="02010600030101010101" pitchFamily="2" charset="-122"/>
                        <a:cs typeface="+mn-cs"/>
                      </a:endParaRPr>
                    </a:p>
                  </a:txBody>
                  <a:tcPr marL="9525" marR="9525" marT="9529" marB="0" anchor="ctr"/>
                </a:tc>
                <a:extLst>
                  <a:ext uri="{0D108BD9-81ED-4DB2-BD59-A6C34878D82A}">
                    <a16:rowId xmlns:a16="http://schemas.microsoft.com/office/drawing/2014/main" val="1025371204"/>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2027.03</a:t>
                      </a:r>
                      <a:r>
                        <a:rPr lang="en-US" alt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a:t>
                      </a: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2027.04</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defTabSz="914400" rtl="0" eaLnBrk="1" fontAlgn="ctr" latinLnBrk="0" hangingPunct="1">
                        <a:lnSpc>
                          <a:spcPct val="100000"/>
                        </a:lnSpc>
                      </a:pPr>
                      <a:r>
                        <a:rPr lang="zh-CN" altLang="en-US" sz="1200" b="1" i="0" kern="1200" baseline="0" dirty="0">
                          <a:solidFill>
                            <a:schemeClr val="tx2">
                              <a:lumMod val="50000"/>
                            </a:schemeClr>
                          </a:solidFill>
                          <a:latin typeface="Times New Roman" panose="02020603050405020304" pitchFamily="18" charset="0"/>
                          <a:ea typeface="+mn-ea"/>
                          <a:cs typeface="+mn-cs"/>
                        </a:rPr>
                        <a:t>完成论文写作并提交论文</a:t>
                      </a:r>
                      <a:endParaRPr lang="zh-CN" sz="1200" b="1" i="0" u="none" strike="noStrike" kern="1200" baseline="0" dirty="0">
                        <a:solidFill>
                          <a:schemeClr val="tx2">
                            <a:lumMod val="50000"/>
                          </a:schemeClr>
                        </a:solidFill>
                        <a:effectLst/>
                        <a:latin typeface="Times New Roman" panose="02020603050405020304" pitchFamily="18" charset="0"/>
                        <a:ea typeface="宋体" panose="02010600030101010101" pitchFamily="2" charset="-122"/>
                        <a:cs typeface="+mn-cs"/>
                      </a:endParaRPr>
                    </a:p>
                  </a:txBody>
                  <a:tcPr marL="9525" marR="9525" marT="9529" marB="0" anchor="ctr"/>
                </a:tc>
                <a:extLst>
                  <a:ext uri="{0D108BD9-81ED-4DB2-BD59-A6C34878D82A}">
                    <a16:rowId xmlns:a16="http://schemas.microsoft.com/office/drawing/2014/main" val="1676219541"/>
                  </a:ext>
                </a:extLst>
              </a:tr>
              <a:tr h="40844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fontAlgn="ctr">
                        <a:lnSpc>
                          <a:spcPct val="100000"/>
                        </a:lnSpc>
                      </a:pPr>
                      <a:r>
                        <a:rPr 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2027.05-2027.06</a:t>
                      </a:r>
                      <a:endParaRPr lang="zh-CN" altLang="en-US"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endParaRPr>
                    </a:p>
                  </a:txBody>
                  <a:tcPr marL="9525" marR="9525" marT="9529" marB="0" anchor="ct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71755" algn="just" fontAlgn="ctr">
                        <a:lnSpc>
                          <a:spcPct val="100000"/>
                        </a:lnSpc>
                      </a:pPr>
                      <a:r>
                        <a:rPr lang="zh-CN" sz="1200" b="1" i="0" u="none" strike="noStrike" baseline="0" dirty="0">
                          <a:solidFill>
                            <a:schemeClr val="tx2">
                              <a:lumMod val="50000"/>
                            </a:schemeClr>
                          </a:solidFill>
                          <a:effectLst/>
                          <a:latin typeface="Times New Roman" panose="02020603050405020304" pitchFamily="18" charset="0"/>
                          <a:ea typeface="宋体" panose="02010600030101010101" pitchFamily="2" charset="-122"/>
                        </a:rPr>
                        <a:t>论文答辩</a:t>
                      </a:r>
                    </a:p>
                  </a:txBody>
                  <a:tcPr marL="9525" marR="9525" marT="9529" marB="0" anchor="ctr"/>
                </a:tc>
                <a:extLst>
                  <a:ext uri="{0D108BD9-81ED-4DB2-BD59-A6C34878D82A}">
                    <a16:rowId xmlns:a16="http://schemas.microsoft.com/office/drawing/2014/main" val="1213857751"/>
                  </a:ext>
                </a:extLst>
              </a:tr>
            </a:tbl>
          </a:graphicData>
        </a:graphic>
      </p:graphicFrame>
      <p:sp>
        <p:nvSpPr>
          <p:cNvPr id="2" name="文本框 1"/>
          <p:cNvSpPr txBox="1"/>
          <p:nvPr/>
        </p:nvSpPr>
        <p:spPr>
          <a:xfrm>
            <a:off x="827584" y="195486"/>
            <a:ext cx="2904472" cy="400110"/>
          </a:xfrm>
          <a:prstGeom prst="rect">
            <a:avLst/>
          </a:prstGeom>
          <a:noFill/>
        </p:spPr>
        <p:txBody>
          <a:bodyPr wrap="square" anchor="ctr">
            <a:spAutoFit/>
          </a:bodyPr>
          <a:lstStyle>
            <a:defPPr>
              <a:defRPr lang="zh-CN"/>
            </a:defPPr>
            <a:lvl1pPr eaLnBrk="1" fontAlgn="auto" hangingPunct="1">
              <a:spcBef>
                <a:spcPts val="0"/>
              </a:spcBef>
              <a:spcAft>
                <a:spcPts val="0"/>
              </a:spcAft>
              <a:defRPr sz="2000" b="1">
                <a:solidFill>
                  <a:schemeClr val="tx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defRPr>
            </a:lvl1pPr>
          </a:lstStyle>
          <a:p>
            <a:r>
              <a:rPr lang="zh-CN" altLang="en-US" dirty="0"/>
              <a:t>进度安排</a:t>
            </a:r>
          </a:p>
        </p:txBody>
      </p:sp>
      <p:sp>
        <p:nvSpPr>
          <p:cNvPr id="4" name="ïṣlïḋe"/>
          <p:cNvSpPr txBox="1"/>
          <p:nvPr/>
        </p:nvSpPr>
        <p:spPr>
          <a:xfrm>
            <a:off x="8316416" y="411510"/>
            <a:ext cx="648072" cy="441325"/>
          </a:xfrm>
          <a:prstGeom prst="rect">
            <a:avLst/>
          </a:prstGeom>
          <a:noFill/>
        </p:spPr>
        <p:txBody>
          <a:bodyPr wrap="none" lIns="360000" tIns="0" rIns="0" bIns="0" anchor="ctr"/>
          <a:lstStyle/>
          <a:p>
            <a:pPr>
              <a:defRPr/>
            </a:pP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13</a:t>
            </a:r>
            <a:endParaRPr lang="zh-CN" altLang="en-US" b="1" dirty="0">
              <a:solidFill>
                <a:schemeClr val="bg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940607769"/>
      </p:ext>
    </p:extLst>
  </p:cSld>
  <p:clrMapOvr>
    <a:masterClrMapping/>
  </p:clrMapOvr>
  <mc:AlternateContent xmlns:mc="http://schemas.openxmlformats.org/markup-compatibility/2006" xmlns:p14="http://schemas.microsoft.com/office/powerpoint/2010/main">
    <mc:Choice Requires="p14">
      <p:transition p14:dur="10" advTm="183"/>
    </mc:Choice>
    <mc:Fallback xmlns="">
      <p:transition advTm="18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70edc880-9bb3-41c5-b557-cdad87dde124"/>
  <p:tag name="COMMONDATA" val="eyJoZGlkIjoiMTc4MTAzNjY0OGVjYjQ4MzE0Yzg1YWZmY2Q3NzdmO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5B4D5"/>
        </a:solidFill>
        <a:ln>
          <a:noFill/>
        </a:ln>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3475</TotalTime>
  <Words>1816</Words>
  <Application>Microsoft Office PowerPoint</Application>
  <PresentationFormat>全屏显示(16:9)</PresentationFormat>
  <Paragraphs>151</Paragraphs>
  <Slides>22</Slides>
  <Notes>21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0" baseType="lpstr">
      <vt:lpstr>微软雅黑</vt:lpstr>
      <vt:lpstr>Agency FB</vt:lpstr>
      <vt:lpstr>Arial</vt:lpstr>
      <vt:lpstr>Calibri</vt:lpstr>
      <vt:lpstr>Cambria Math</vt:lpstr>
      <vt:lpstr>Times New Roman</vt:lpstr>
      <vt:lpstr>Office 主题</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yzy</dc:creator>
  <cp:lastModifiedBy>admin skx</cp:lastModifiedBy>
  <cp:revision>1485</cp:revision>
  <dcterms:created xsi:type="dcterms:W3CDTF">2014-11-27T12:33:00Z</dcterms:created>
  <dcterms:modified xsi:type="dcterms:W3CDTF">2025-12-06T13:52:36Z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2052-11.1.0.13012</vt:lpwstr>
  </property>
  <property fmtid="{D5CDD505-2E9C-101B-9397-08002B2CF9AE}" pid="3" name="ICV">
    <vt:lpwstr>AD124EBECA0C4373831F0BE3AF56005E</vt:lpwstr>
  </property>
</Properties>
</file>